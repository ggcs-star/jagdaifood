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Lst>
  <p:notesMasterIdLst>
    <p:notesMasterId r:id="rId63"/>
  </p:notesMasterIdLst>
  <p:sldIdLst>
    <p:sldId id="256" r:id="rId3"/>
    <p:sldId id="257" r:id="rId4"/>
    <p:sldId id="261" r:id="rId5"/>
    <p:sldId id="328" r:id="rId6"/>
    <p:sldId id="327" r:id="rId7"/>
    <p:sldId id="326" r:id="rId8"/>
    <p:sldId id="322" r:id="rId9"/>
    <p:sldId id="311" r:id="rId10"/>
    <p:sldId id="275" r:id="rId11"/>
    <p:sldId id="314" r:id="rId12"/>
    <p:sldId id="312" r:id="rId13"/>
    <p:sldId id="292" r:id="rId14"/>
    <p:sldId id="302" r:id="rId15"/>
    <p:sldId id="262" r:id="rId16"/>
    <p:sldId id="333" r:id="rId17"/>
    <p:sldId id="263" r:id="rId18"/>
    <p:sldId id="334" r:id="rId19"/>
    <p:sldId id="264" r:id="rId20"/>
    <p:sldId id="335" r:id="rId21"/>
    <p:sldId id="265" r:id="rId22"/>
    <p:sldId id="336" r:id="rId23"/>
    <p:sldId id="266" r:id="rId24"/>
    <p:sldId id="337" r:id="rId25"/>
    <p:sldId id="269" r:id="rId26"/>
    <p:sldId id="338" r:id="rId27"/>
    <p:sldId id="270" r:id="rId28"/>
    <p:sldId id="339" r:id="rId29"/>
    <p:sldId id="267" r:id="rId30"/>
    <p:sldId id="340" r:id="rId31"/>
    <p:sldId id="268" r:id="rId32"/>
    <p:sldId id="341" r:id="rId33"/>
    <p:sldId id="272" r:id="rId34"/>
    <p:sldId id="342" r:id="rId35"/>
    <p:sldId id="273" r:id="rId36"/>
    <p:sldId id="343" r:id="rId37"/>
    <p:sldId id="274" r:id="rId38"/>
    <p:sldId id="344" r:id="rId39"/>
    <p:sldId id="271" r:id="rId40"/>
    <p:sldId id="345" r:id="rId41"/>
    <p:sldId id="317" r:id="rId42"/>
    <p:sldId id="346" r:id="rId43"/>
    <p:sldId id="347" r:id="rId44"/>
    <p:sldId id="348" r:id="rId45"/>
    <p:sldId id="331" r:id="rId46"/>
    <p:sldId id="332" r:id="rId47"/>
    <p:sldId id="297" r:id="rId48"/>
    <p:sldId id="316" r:id="rId49"/>
    <p:sldId id="323" r:id="rId50"/>
    <p:sldId id="324" r:id="rId51"/>
    <p:sldId id="321" r:id="rId52"/>
    <p:sldId id="325" r:id="rId53"/>
    <p:sldId id="284" r:id="rId54"/>
    <p:sldId id="293" r:id="rId55"/>
    <p:sldId id="313" r:id="rId56"/>
    <p:sldId id="303" r:id="rId57"/>
    <p:sldId id="304" r:id="rId58"/>
    <p:sldId id="330" r:id="rId59"/>
    <p:sldId id="329" r:id="rId60"/>
    <p:sldId id="276" r:id="rId61"/>
    <p:sldId id="28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FF00"/>
    <a:srgbClr val="16DB65"/>
    <a:srgbClr val="F95050"/>
    <a:srgbClr val="060607"/>
    <a:srgbClr val="FD3802"/>
    <a:srgbClr val="FCE6BF"/>
    <a:srgbClr val="2C7361"/>
    <a:srgbClr val="FB9473"/>
    <a:srgbClr val="FD9B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81" autoAdjust="0"/>
    <p:restoredTop sz="94660"/>
  </p:normalViewPr>
  <p:slideViewPr>
    <p:cSldViewPr snapToGrid="0">
      <p:cViewPr varScale="1">
        <p:scale>
          <a:sx n="120" d="100"/>
          <a:sy n="120" d="100"/>
        </p:scale>
        <p:origin x="208" y="37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84B0DA-67D3-4503-90D1-79C5D4727D4F}" type="datetimeFigureOut">
              <a:rPr lang="en-US" smtClean="0"/>
              <a:t>3/23/26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FB17ED-3E30-414B-966B-639D43184938}" type="slidenum">
              <a:rPr lang="en-US" smtClean="0"/>
              <a:t>‹#›</a:t>
            </a:fld>
            <a:endParaRPr lang="en-US"/>
          </a:p>
        </p:txBody>
      </p:sp>
    </p:spTree>
    <p:extLst>
      <p:ext uri="{BB962C8B-B14F-4D97-AF65-F5344CB8AC3E}">
        <p14:creationId xmlns:p14="http://schemas.microsoft.com/office/powerpoint/2010/main" val="4050459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F5183D5-031A-4CD1-B7F5-9A7ECF55A067}"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1443586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183D5-031A-4CD1-B7F5-9A7ECF55A067}"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3148787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5183D5-031A-4CD1-B7F5-9A7ECF55A067}"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2253636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5183D5-031A-4CD1-B7F5-9A7ECF55A067}" type="datetimeFigureOut">
              <a:rPr lang="en-US" smtClean="0"/>
              <a:t>3/23/26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435270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5183D5-031A-4CD1-B7F5-9A7ECF55A067}" type="datetimeFigureOut">
              <a:rPr lang="en-US" smtClean="0"/>
              <a:t>3/23/26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3837799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5183D5-031A-4CD1-B7F5-9A7ECF55A067}" type="datetimeFigureOut">
              <a:rPr lang="en-US" smtClean="0"/>
              <a:t>3/23/26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2101605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5183D5-031A-4CD1-B7F5-9A7ECF55A067}" type="datetimeFigureOut">
              <a:rPr lang="en-US" smtClean="0"/>
              <a:t>3/23/26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3089851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F5183D5-031A-4CD1-B7F5-9A7ECF55A067}" type="datetimeFigureOut">
              <a:rPr lang="en-US" smtClean="0"/>
              <a:t>3/23/26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205601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F5183D5-031A-4CD1-B7F5-9A7ECF55A067}" type="datetimeFigureOut">
              <a:rPr lang="en-US" smtClean="0"/>
              <a:t>3/23/26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26810205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183D5-031A-4CD1-B7F5-9A7ECF55A067}"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4099958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183D5-031A-4CD1-B7F5-9A7ECF55A067}"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37918752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ABBC48-9C76-C027-67E8-746BE29138D6}"/>
              </a:ext>
            </a:extLst>
          </p:cNvPr>
          <p:cNvSpPr/>
          <p:nvPr userDrawn="1"/>
        </p:nvSpPr>
        <p:spPr>
          <a:xfrm>
            <a:off x="6724780" y="1181604"/>
            <a:ext cx="4457438" cy="48127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099AB13B-56B1-9722-A9BF-CD8B8D1E5771}"/>
              </a:ext>
            </a:extLst>
          </p:cNvPr>
          <p:cNvSpPr>
            <a:spLocks noGrp="1"/>
          </p:cNvSpPr>
          <p:nvPr>
            <p:ph type="pic" sz="quarter" idx="10"/>
          </p:nvPr>
        </p:nvSpPr>
        <p:spPr>
          <a:xfrm>
            <a:off x="6766016" y="1226127"/>
            <a:ext cx="4374967" cy="4703618"/>
          </a:xfrm>
          <a:custGeom>
            <a:avLst/>
            <a:gdLst>
              <a:gd name="connsiteX0" fmla="*/ 0 w 4374967"/>
              <a:gd name="connsiteY0" fmla="*/ 0 h 4703618"/>
              <a:gd name="connsiteX1" fmla="*/ 4374967 w 4374967"/>
              <a:gd name="connsiteY1" fmla="*/ 0 h 4703618"/>
              <a:gd name="connsiteX2" fmla="*/ 4374967 w 4374967"/>
              <a:gd name="connsiteY2" fmla="*/ 4703618 h 4703618"/>
              <a:gd name="connsiteX3" fmla="*/ 0 w 4374967"/>
              <a:gd name="connsiteY3" fmla="*/ 4703618 h 4703618"/>
            </a:gdLst>
            <a:ahLst/>
            <a:cxnLst>
              <a:cxn ang="0">
                <a:pos x="connsiteX0" y="connsiteY0"/>
              </a:cxn>
              <a:cxn ang="0">
                <a:pos x="connsiteX1" y="connsiteY1"/>
              </a:cxn>
              <a:cxn ang="0">
                <a:pos x="connsiteX2" y="connsiteY2"/>
              </a:cxn>
              <a:cxn ang="0">
                <a:pos x="connsiteX3" y="connsiteY3"/>
              </a:cxn>
            </a:cxnLst>
            <a:rect l="l" t="t" r="r" b="b"/>
            <a:pathLst>
              <a:path w="4374967" h="4703618">
                <a:moveTo>
                  <a:pt x="0" y="0"/>
                </a:moveTo>
                <a:lnTo>
                  <a:pt x="4374967" y="0"/>
                </a:lnTo>
                <a:lnTo>
                  <a:pt x="4374967" y="4703618"/>
                </a:lnTo>
                <a:lnTo>
                  <a:pt x="0" y="4703618"/>
                </a:ln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10276098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1106830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5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42236507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6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33951490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18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4867552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19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1154637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4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2F9D18C-97B8-D98F-F7E8-E68CC6482AC1}"/>
              </a:ext>
            </a:extLst>
          </p:cNvPr>
          <p:cNvSpPr>
            <a:spLocks noGrp="1"/>
          </p:cNvSpPr>
          <p:nvPr>
            <p:ph type="pic" sz="quarter" idx="10"/>
          </p:nvPr>
        </p:nvSpPr>
        <p:spPr>
          <a:xfrm>
            <a:off x="0" y="1"/>
            <a:ext cx="12192000" cy="6858000"/>
          </a:xfrm>
          <a:custGeom>
            <a:avLst/>
            <a:gdLst>
              <a:gd name="connsiteX0" fmla="*/ 0 w 11214340"/>
              <a:gd name="connsiteY0" fmla="*/ 0 h 6858000"/>
              <a:gd name="connsiteX1" fmla="*/ 11214340 w 11214340"/>
              <a:gd name="connsiteY1" fmla="*/ 0 h 6858000"/>
              <a:gd name="connsiteX2" fmla="*/ 11214340 w 11214340"/>
              <a:gd name="connsiteY2" fmla="*/ 6858000 h 6858000"/>
              <a:gd name="connsiteX3" fmla="*/ 0 w 112143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14340" h="6858000">
                <a:moveTo>
                  <a:pt x="0" y="0"/>
                </a:moveTo>
                <a:lnTo>
                  <a:pt x="11214340" y="0"/>
                </a:lnTo>
                <a:lnTo>
                  <a:pt x="11214340" y="6858000"/>
                </a:lnTo>
                <a:lnTo>
                  <a:pt x="0" y="6858000"/>
                </a:lnTo>
                <a:close/>
              </a:path>
            </a:pathLst>
          </a:custGeom>
          <a:solidFill>
            <a:schemeClr val="bg2"/>
          </a:solidFill>
        </p:spPr>
        <p:txBody>
          <a:bodyPr wrap="square">
            <a:noAutofit/>
          </a:bodyPr>
          <a:lstStyle/>
          <a:p>
            <a:endParaRPr lang="en-US"/>
          </a:p>
        </p:txBody>
      </p:sp>
      <p:sp>
        <p:nvSpPr>
          <p:cNvPr id="7" name="Picture Placeholder 6">
            <a:extLst>
              <a:ext uri="{FF2B5EF4-FFF2-40B4-BE49-F238E27FC236}">
                <a16:creationId xmlns:a16="http://schemas.microsoft.com/office/drawing/2014/main" id="{42FDD032-5539-9435-B808-9423F7E0A04E}"/>
              </a:ext>
            </a:extLst>
          </p:cNvPr>
          <p:cNvSpPr>
            <a:spLocks noGrp="1"/>
          </p:cNvSpPr>
          <p:nvPr>
            <p:ph type="pic" sz="quarter" idx="11"/>
          </p:nvPr>
        </p:nvSpPr>
        <p:spPr>
          <a:xfrm flipH="1">
            <a:off x="0" y="431321"/>
            <a:ext cx="3985404" cy="5934973"/>
          </a:xfrm>
          <a:custGeom>
            <a:avLst/>
            <a:gdLst>
              <a:gd name="connsiteX0" fmla="*/ 0 w 3985404"/>
              <a:gd name="connsiteY0" fmla="*/ 0 h 5934973"/>
              <a:gd name="connsiteX1" fmla="*/ 3985404 w 3985404"/>
              <a:gd name="connsiteY1" fmla="*/ 0 h 5934973"/>
              <a:gd name="connsiteX2" fmla="*/ 3985404 w 3985404"/>
              <a:gd name="connsiteY2" fmla="*/ 5934973 h 5934973"/>
              <a:gd name="connsiteX3" fmla="*/ 0 w 3985404"/>
              <a:gd name="connsiteY3" fmla="*/ 5934973 h 5934973"/>
            </a:gdLst>
            <a:ahLst/>
            <a:cxnLst>
              <a:cxn ang="0">
                <a:pos x="connsiteX0" y="connsiteY0"/>
              </a:cxn>
              <a:cxn ang="0">
                <a:pos x="connsiteX1" y="connsiteY1"/>
              </a:cxn>
              <a:cxn ang="0">
                <a:pos x="connsiteX2" y="connsiteY2"/>
              </a:cxn>
              <a:cxn ang="0">
                <a:pos x="connsiteX3" y="connsiteY3"/>
              </a:cxn>
            </a:cxnLst>
            <a:rect l="l" t="t" r="r" b="b"/>
            <a:pathLst>
              <a:path w="3985404" h="5934973">
                <a:moveTo>
                  <a:pt x="0" y="0"/>
                </a:moveTo>
                <a:lnTo>
                  <a:pt x="3985404" y="0"/>
                </a:lnTo>
                <a:lnTo>
                  <a:pt x="3985404" y="5934973"/>
                </a:lnTo>
                <a:lnTo>
                  <a:pt x="0" y="5934973"/>
                </a:lnTo>
                <a:close/>
              </a:path>
            </a:pathLst>
          </a:custGeom>
        </p:spPr>
        <p:txBody>
          <a:bodyPr wrap="square">
            <a:noAutofit/>
          </a:bodyPr>
          <a:lstStyle/>
          <a:p>
            <a:endParaRPr lang="en-US"/>
          </a:p>
        </p:txBody>
      </p:sp>
    </p:spTree>
    <p:extLst>
      <p:ext uri="{BB962C8B-B14F-4D97-AF65-F5344CB8AC3E}">
        <p14:creationId xmlns:p14="http://schemas.microsoft.com/office/powerpoint/2010/main" val="2167072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F5183D5-031A-4CD1-B7F5-9A7ECF55A067}"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3168855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183D5-031A-4CD1-B7F5-9A7ECF55A067}"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37951553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5183D5-031A-4CD1-B7F5-9A7ECF55A067}"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4118056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5183D5-031A-4CD1-B7F5-9A7ECF55A067}" type="datetimeFigureOut">
              <a:rPr lang="en-US" smtClean="0"/>
              <a:t>3/23/26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29710009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5183D5-031A-4CD1-B7F5-9A7ECF55A067}" type="datetimeFigureOut">
              <a:rPr lang="en-US" smtClean="0"/>
              <a:t>3/23/26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1010398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5183D5-031A-4CD1-B7F5-9A7ECF55A067}" type="datetimeFigureOut">
              <a:rPr lang="en-US" smtClean="0"/>
              <a:t>3/23/26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28264273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5183D5-031A-4CD1-B7F5-9A7ECF55A067}" type="datetimeFigureOut">
              <a:rPr lang="en-US" smtClean="0"/>
              <a:t>3/23/26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10238224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F5183D5-031A-4CD1-B7F5-9A7ECF55A067}" type="datetimeFigureOut">
              <a:rPr lang="en-US" smtClean="0"/>
              <a:t>3/23/26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1634242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F5183D5-031A-4CD1-B7F5-9A7ECF55A067}" type="datetimeFigureOut">
              <a:rPr lang="en-US" smtClean="0"/>
              <a:t>3/23/26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4252724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183D5-031A-4CD1-B7F5-9A7ECF55A067}"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78528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183D5-031A-4CD1-B7F5-9A7ECF55A067}"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6B2EA-306C-4331-A868-AE3C472FECBC}" type="slidenum">
              <a:rPr lang="en-US" smtClean="0"/>
              <a:t>‹#›</a:t>
            </a:fld>
            <a:endParaRPr lang="en-US"/>
          </a:p>
        </p:txBody>
      </p:sp>
    </p:spTree>
    <p:extLst>
      <p:ext uri="{BB962C8B-B14F-4D97-AF65-F5344CB8AC3E}">
        <p14:creationId xmlns:p14="http://schemas.microsoft.com/office/powerpoint/2010/main" val="3983193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ABBC48-9C76-C027-67E8-746BE29138D6}"/>
              </a:ext>
            </a:extLst>
          </p:cNvPr>
          <p:cNvSpPr/>
          <p:nvPr userDrawn="1"/>
        </p:nvSpPr>
        <p:spPr>
          <a:xfrm>
            <a:off x="6724780" y="1181604"/>
            <a:ext cx="4457438" cy="48127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099AB13B-56B1-9722-A9BF-CD8B8D1E5771}"/>
              </a:ext>
            </a:extLst>
          </p:cNvPr>
          <p:cNvSpPr>
            <a:spLocks noGrp="1"/>
          </p:cNvSpPr>
          <p:nvPr>
            <p:ph type="pic" sz="quarter" idx="10"/>
          </p:nvPr>
        </p:nvSpPr>
        <p:spPr>
          <a:xfrm>
            <a:off x="6766016" y="1226127"/>
            <a:ext cx="4374967" cy="4703618"/>
          </a:xfrm>
          <a:custGeom>
            <a:avLst/>
            <a:gdLst>
              <a:gd name="connsiteX0" fmla="*/ 0 w 4374967"/>
              <a:gd name="connsiteY0" fmla="*/ 0 h 4703618"/>
              <a:gd name="connsiteX1" fmla="*/ 4374967 w 4374967"/>
              <a:gd name="connsiteY1" fmla="*/ 0 h 4703618"/>
              <a:gd name="connsiteX2" fmla="*/ 4374967 w 4374967"/>
              <a:gd name="connsiteY2" fmla="*/ 4703618 h 4703618"/>
              <a:gd name="connsiteX3" fmla="*/ 0 w 4374967"/>
              <a:gd name="connsiteY3" fmla="*/ 4703618 h 4703618"/>
            </a:gdLst>
            <a:ahLst/>
            <a:cxnLst>
              <a:cxn ang="0">
                <a:pos x="connsiteX0" y="connsiteY0"/>
              </a:cxn>
              <a:cxn ang="0">
                <a:pos x="connsiteX1" y="connsiteY1"/>
              </a:cxn>
              <a:cxn ang="0">
                <a:pos x="connsiteX2" y="connsiteY2"/>
              </a:cxn>
              <a:cxn ang="0">
                <a:pos x="connsiteX3" y="connsiteY3"/>
              </a:cxn>
            </a:cxnLst>
            <a:rect l="l" t="t" r="r" b="b"/>
            <a:pathLst>
              <a:path w="4374967" h="4703618">
                <a:moveTo>
                  <a:pt x="0" y="0"/>
                </a:moveTo>
                <a:lnTo>
                  <a:pt x="4374967" y="0"/>
                </a:lnTo>
                <a:lnTo>
                  <a:pt x="4374967" y="4703618"/>
                </a:lnTo>
                <a:lnTo>
                  <a:pt x="0" y="4703618"/>
                </a:ln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1267863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1_Section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08EA11-A6FD-4AEE-BBF8-1C01D0B6D267}"/>
              </a:ext>
            </a:extLst>
          </p:cNvPr>
          <p:cNvSpPr/>
          <p:nvPr userDrawn="1"/>
        </p:nvSpPr>
        <p:spPr>
          <a:xfrm>
            <a:off x="735479" y="4727958"/>
            <a:ext cx="1992487" cy="154449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20F6726D-32ED-9877-C5D1-5F6403C008E1}"/>
              </a:ext>
            </a:extLst>
          </p:cNvPr>
          <p:cNvSpPr/>
          <p:nvPr userDrawn="1"/>
        </p:nvSpPr>
        <p:spPr>
          <a:xfrm>
            <a:off x="9470260" y="1191284"/>
            <a:ext cx="1983553" cy="152116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5">
            <a:extLst>
              <a:ext uri="{FF2B5EF4-FFF2-40B4-BE49-F238E27FC236}">
                <a16:creationId xmlns:a16="http://schemas.microsoft.com/office/drawing/2014/main" id="{F58DFA1B-F6DC-06BF-2223-011127CE5336}"/>
              </a:ext>
            </a:extLst>
          </p:cNvPr>
          <p:cNvSpPr>
            <a:spLocks noGrp="1"/>
          </p:cNvSpPr>
          <p:nvPr>
            <p:ph type="pic" sz="quarter" idx="10"/>
          </p:nvPr>
        </p:nvSpPr>
        <p:spPr>
          <a:xfrm>
            <a:off x="6698673" y="1289106"/>
            <a:ext cx="4655127" cy="2313707"/>
          </a:xfrm>
          <a:custGeom>
            <a:avLst/>
            <a:gdLst>
              <a:gd name="connsiteX0" fmla="*/ 0 w 4655127"/>
              <a:gd name="connsiteY0" fmla="*/ 0 h 2313707"/>
              <a:gd name="connsiteX1" fmla="*/ 4655127 w 4655127"/>
              <a:gd name="connsiteY1" fmla="*/ 0 h 2313707"/>
              <a:gd name="connsiteX2" fmla="*/ 4655127 w 4655127"/>
              <a:gd name="connsiteY2" fmla="*/ 2313707 h 2313707"/>
              <a:gd name="connsiteX3" fmla="*/ 0 w 4655127"/>
              <a:gd name="connsiteY3" fmla="*/ 2313707 h 2313707"/>
            </a:gdLst>
            <a:ahLst/>
            <a:cxnLst>
              <a:cxn ang="0">
                <a:pos x="connsiteX0" y="connsiteY0"/>
              </a:cxn>
              <a:cxn ang="0">
                <a:pos x="connsiteX1" y="connsiteY1"/>
              </a:cxn>
              <a:cxn ang="0">
                <a:pos x="connsiteX2" y="connsiteY2"/>
              </a:cxn>
              <a:cxn ang="0">
                <a:pos x="connsiteX3" y="connsiteY3"/>
              </a:cxn>
            </a:cxnLst>
            <a:rect l="l" t="t" r="r" b="b"/>
            <a:pathLst>
              <a:path w="4655127" h="2313707">
                <a:moveTo>
                  <a:pt x="0" y="0"/>
                </a:moveTo>
                <a:lnTo>
                  <a:pt x="4655127" y="0"/>
                </a:lnTo>
                <a:lnTo>
                  <a:pt x="4655127" y="2313707"/>
                </a:lnTo>
                <a:lnTo>
                  <a:pt x="0" y="2313707"/>
                </a:lnTo>
                <a:close/>
              </a:path>
            </a:pathLst>
          </a:custGeom>
          <a:solidFill>
            <a:schemeClr val="bg2"/>
          </a:solidFill>
        </p:spPr>
        <p:txBody>
          <a:bodyPr wrap="square">
            <a:noAutofit/>
          </a:bodyPr>
          <a:lstStyle/>
          <a:p>
            <a:endParaRPr lang="en-US"/>
          </a:p>
        </p:txBody>
      </p:sp>
      <p:sp>
        <p:nvSpPr>
          <p:cNvPr id="9" name="Picture Placeholder 8">
            <a:extLst>
              <a:ext uri="{FF2B5EF4-FFF2-40B4-BE49-F238E27FC236}">
                <a16:creationId xmlns:a16="http://schemas.microsoft.com/office/drawing/2014/main" id="{6D63941D-C901-1680-1525-50FAD4C414EE}"/>
              </a:ext>
            </a:extLst>
          </p:cNvPr>
          <p:cNvSpPr>
            <a:spLocks noGrp="1"/>
          </p:cNvSpPr>
          <p:nvPr>
            <p:ph type="pic" sz="quarter" idx="11"/>
          </p:nvPr>
        </p:nvSpPr>
        <p:spPr>
          <a:xfrm>
            <a:off x="838200" y="3858493"/>
            <a:ext cx="5860474" cy="2313707"/>
          </a:xfrm>
          <a:custGeom>
            <a:avLst/>
            <a:gdLst>
              <a:gd name="connsiteX0" fmla="*/ 0 w 5860474"/>
              <a:gd name="connsiteY0" fmla="*/ 0 h 2313707"/>
              <a:gd name="connsiteX1" fmla="*/ 5860474 w 5860474"/>
              <a:gd name="connsiteY1" fmla="*/ 0 h 2313707"/>
              <a:gd name="connsiteX2" fmla="*/ 5860474 w 5860474"/>
              <a:gd name="connsiteY2" fmla="*/ 2313707 h 2313707"/>
              <a:gd name="connsiteX3" fmla="*/ 0 w 5860474"/>
              <a:gd name="connsiteY3" fmla="*/ 2313707 h 2313707"/>
            </a:gdLst>
            <a:ahLst/>
            <a:cxnLst>
              <a:cxn ang="0">
                <a:pos x="connsiteX0" y="connsiteY0"/>
              </a:cxn>
              <a:cxn ang="0">
                <a:pos x="connsiteX1" y="connsiteY1"/>
              </a:cxn>
              <a:cxn ang="0">
                <a:pos x="connsiteX2" y="connsiteY2"/>
              </a:cxn>
              <a:cxn ang="0">
                <a:pos x="connsiteX3" y="connsiteY3"/>
              </a:cxn>
            </a:cxnLst>
            <a:rect l="l" t="t" r="r" b="b"/>
            <a:pathLst>
              <a:path w="5860474" h="2313707">
                <a:moveTo>
                  <a:pt x="0" y="0"/>
                </a:moveTo>
                <a:lnTo>
                  <a:pt x="5860474" y="0"/>
                </a:lnTo>
                <a:lnTo>
                  <a:pt x="5860474" y="2313707"/>
                </a:lnTo>
                <a:lnTo>
                  <a:pt x="0" y="2313707"/>
                </a:ln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1500891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1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2623689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2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5349083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3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15272317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4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1684277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5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9052366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6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228063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7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28009436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8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4170610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9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4174379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10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3151120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11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3500209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12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2586475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13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1099987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14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2345447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15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4898982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16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3252890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17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27867379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18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1036268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userDrawn="1">
  <p:cSld name="19_Vertical Title and Text">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49752872-698C-8F39-9CD7-0BF424D0D17A}"/>
              </a:ext>
            </a:extLst>
          </p:cNvPr>
          <p:cNvSpPr/>
          <p:nvPr userDrawn="1"/>
        </p:nvSpPr>
        <p:spPr>
          <a:xfrm>
            <a:off x="0" y="2743200"/>
            <a:ext cx="5717683" cy="4114800"/>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452EDF2D-64B2-A23F-7FD4-64FDAB4B77AD}"/>
              </a:ext>
            </a:extLst>
          </p:cNvPr>
          <p:cNvSpPr>
            <a:spLocks noGrp="1"/>
          </p:cNvSpPr>
          <p:nvPr>
            <p:ph type="pic" sz="quarter" idx="10"/>
          </p:nvPr>
        </p:nvSpPr>
        <p:spPr>
          <a:xfrm>
            <a:off x="102720" y="448574"/>
            <a:ext cx="6410609" cy="6409426"/>
          </a:xfrm>
          <a:custGeom>
            <a:avLst/>
            <a:gdLst>
              <a:gd name="connsiteX0" fmla="*/ 0 w 6410609"/>
              <a:gd name="connsiteY0" fmla="*/ 0 h 6409426"/>
              <a:gd name="connsiteX1" fmla="*/ 6410609 w 6410609"/>
              <a:gd name="connsiteY1" fmla="*/ 0 h 6409426"/>
              <a:gd name="connsiteX2" fmla="*/ 6410609 w 6410609"/>
              <a:gd name="connsiteY2" fmla="*/ 6409426 h 6409426"/>
              <a:gd name="connsiteX3" fmla="*/ 0 w 6410609"/>
              <a:gd name="connsiteY3" fmla="*/ 6409426 h 6409426"/>
            </a:gdLst>
            <a:ahLst/>
            <a:cxnLst>
              <a:cxn ang="0">
                <a:pos x="connsiteX0" y="connsiteY0"/>
              </a:cxn>
              <a:cxn ang="0">
                <a:pos x="connsiteX1" y="connsiteY1"/>
              </a:cxn>
              <a:cxn ang="0">
                <a:pos x="connsiteX2" y="connsiteY2"/>
              </a:cxn>
              <a:cxn ang="0">
                <a:pos x="connsiteX3" y="connsiteY3"/>
              </a:cxn>
            </a:cxnLst>
            <a:rect l="l" t="t" r="r" b="b"/>
            <a:pathLst>
              <a:path w="6410609" h="6409426">
                <a:moveTo>
                  <a:pt x="0" y="0"/>
                </a:moveTo>
                <a:lnTo>
                  <a:pt x="6410609" y="0"/>
                </a:lnTo>
                <a:lnTo>
                  <a:pt x="6410609" y="6409426"/>
                </a:lnTo>
                <a:lnTo>
                  <a:pt x="0" y="6409426"/>
                </a:lnTo>
                <a:close/>
              </a:path>
            </a:pathLst>
          </a:custGeom>
        </p:spPr>
        <p:txBody>
          <a:bodyPr wrap="square">
            <a:noAutofit/>
          </a:bodyPr>
          <a:lstStyle/>
          <a:p>
            <a:endParaRPr lang="en-US"/>
          </a:p>
        </p:txBody>
      </p:sp>
    </p:spTree>
    <p:extLst>
      <p:ext uri="{BB962C8B-B14F-4D97-AF65-F5344CB8AC3E}">
        <p14:creationId xmlns:p14="http://schemas.microsoft.com/office/powerpoint/2010/main" val="41569572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4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2F9D18C-97B8-D98F-F7E8-E68CC6482AC1}"/>
              </a:ext>
            </a:extLst>
          </p:cNvPr>
          <p:cNvSpPr>
            <a:spLocks noGrp="1"/>
          </p:cNvSpPr>
          <p:nvPr>
            <p:ph type="pic" sz="quarter" idx="10"/>
          </p:nvPr>
        </p:nvSpPr>
        <p:spPr>
          <a:xfrm>
            <a:off x="0" y="1"/>
            <a:ext cx="12192000" cy="6858000"/>
          </a:xfrm>
          <a:custGeom>
            <a:avLst/>
            <a:gdLst>
              <a:gd name="connsiteX0" fmla="*/ 0 w 11214340"/>
              <a:gd name="connsiteY0" fmla="*/ 0 h 6858000"/>
              <a:gd name="connsiteX1" fmla="*/ 11214340 w 11214340"/>
              <a:gd name="connsiteY1" fmla="*/ 0 h 6858000"/>
              <a:gd name="connsiteX2" fmla="*/ 11214340 w 11214340"/>
              <a:gd name="connsiteY2" fmla="*/ 6858000 h 6858000"/>
              <a:gd name="connsiteX3" fmla="*/ 0 w 112143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14340" h="6858000">
                <a:moveTo>
                  <a:pt x="0" y="0"/>
                </a:moveTo>
                <a:lnTo>
                  <a:pt x="11214340" y="0"/>
                </a:lnTo>
                <a:lnTo>
                  <a:pt x="11214340" y="6858000"/>
                </a:lnTo>
                <a:lnTo>
                  <a:pt x="0" y="6858000"/>
                </a:lnTo>
                <a:close/>
              </a:path>
            </a:pathLst>
          </a:custGeom>
          <a:solidFill>
            <a:schemeClr val="bg2"/>
          </a:solidFill>
        </p:spPr>
        <p:txBody>
          <a:bodyPr wrap="square">
            <a:noAutofit/>
          </a:bodyPr>
          <a:lstStyle/>
          <a:p>
            <a:endParaRPr lang="en-US"/>
          </a:p>
        </p:txBody>
      </p:sp>
      <p:sp>
        <p:nvSpPr>
          <p:cNvPr id="7" name="Picture Placeholder 6">
            <a:extLst>
              <a:ext uri="{FF2B5EF4-FFF2-40B4-BE49-F238E27FC236}">
                <a16:creationId xmlns:a16="http://schemas.microsoft.com/office/drawing/2014/main" id="{42FDD032-5539-9435-B808-9423F7E0A04E}"/>
              </a:ext>
            </a:extLst>
          </p:cNvPr>
          <p:cNvSpPr>
            <a:spLocks noGrp="1"/>
          </p:cNvSpPr>
          <p:nvPr>
            <p:ph type="pic" sz="quarter" idx="11"/>
          </p:nvPr>
        </p:nvSpPr>
        <p:spPr>
          <a:xfrm flipH="1">
            <a:off x="0" y="431321"/>
            <a:ext cx="3985404" cy="5934973"/>
          </a:xfrm>
          <a:custGeom>
            <a:avLst/>
            <a:gdLst>
              <a:gd name="connsiteX0" fmla="*/ 0 w 3985404"/>
              <a:gd name="connsiteY0" fmla="*/ 0 h 5934973"/>
              <a:gd name="connsiteX1" fmla="*/ 3985404 w 3985404"/>
              <a:gd name="connsiteY1" fmla="*/ 0 h 5934973"/>
              <a:gd name="connsiteX2" fmla="*/ 3985404 w 3985404"/>
              <a:gd name="connsiteY2" fmla="*/ 5934973 h 5934973"/>
              <a:gd name="connsiteX3" fmla="*/ 0 w 3985404"/>
              <a:gd name="connsiteY3" fmla="*/ 5934973 h 5934973"/>
            </a:gdLst>
            <a:ahLst/>
            <a:cxnLst>
              <a:cxn ang="0">
                <a:pos x="connsiteX0" y="connsiteY0"/>
              </a:cxn>
              <a:cxn ang="0">
                <a:pos x="connsiteX1" y="connsiteY1"/>
              </a:cxn>
              <a:cxn ang="0">
                <a:pos x="connsiteX2" y="connsiteY2"/>
              </a:cxn>
              <a:cxn ang="0">
                <a:pos x="connsiteX3" y="connsiteY3"/>
              </a:cxn>
            </a:cxnLst>
            <a:rect l="l" t="t" r="r" b="b"/>
            <a:pathLst>
              <a:path w="3985404" h="5934973">
                <a:moveTo>
                  <a:pt x="0" y="0"/>
                </a:moveTo>
                <a:lnTo>
                  <a:pt x="3985404" y="0"/>
                </a:lnTo>
                <a:lnTo>
                  <a:pt x="3985404" y="5934973"/>
                </a:lnTo>
                <a:lnTo>
                  <a:pt x="0" y="5934973"/>
                </a:lnTo>
                <a:close/>
              </a:path>
            </a:pathLst>
          </a:custGeom>
        </p:spPr>
        <p:txBody>
          <a:bodyPr wrap="square">
            <a:noAutofit/>
          </a:bodyPr>
          <a:lstStyle/>
          <a:p>
            <a:endParaRPr lang="en-US"/>
          </a:p>
        </p:txBody>
      </p:sp>
    </p:spTree>
    <p:extLst>
      <p:ext uri="{BB962C8B-B14F-4D97-AF65-F5344CB8AC3E}">
        <p14:creationId xmlns:p14="http://schemas.microsoft.com/office/powerpoint/2010/main" val="1559557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 Type="http://schemas.openxmlformats.org/officeDocument/2006/relationships/slideLayout" Target="../slideLayouts/slideLayout21.xml"/><Relationship Id="rId21" Type="http://schemas.openxmlformats.org/officeDocument/2006/relationships/slideLayout" Target="../slideLayouts/slideLayout39.xml"/><Relationship Id="rId34" Type="http://schemas.openxmlformats.org/officeDocument/2006/relationships/theme" Target="../theme/theme2.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33" Type="http://schemas.openxmlformats.org/officeDocument/2006/relationships/slideLayout" Target="../slideLayouts/slideLayout51.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29" Type="http://schemas.openxmlformats.org/officeDocument/2006/relationships/slideLayout" Target="../slideLayouts/slideLayout47.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32" Type="http://schemas.openxmlformats.org/officeDocument/2006/relationships/slideLayout" Target="../slideLayouts/slideLayout50.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slideLayout" Target="../slideLayouts/slideLayout46.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31" Type="http://schemas.openxmlformats.org/officeDocument/2006/relationships/slideLayout" Target="../slideLayouts/slideLayout49.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 Id="rId30" Type="http://schemas.openxmlformats.org/officeDocument/2006/relationships/slideLayout" Target="../slideLayouts/slideLayout48.xml"/><Relationship Id="rId35" Type="http://schemas.openxmlformats.org/officeDocument/2006/relationships/image" Target="../media/image1.png"/><Relationship Id="rId8"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5183D5-031A-4CD1-B7F5-9A7ECF55A067}" type="datetimeFigureOut">
              <a:rPr lang="en-US" smtClean="0"/>
              <a:t>3/23/26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D6B2EA-306C-4331-A868-AE3C472FECBC}" type="slidenum">
              <a:rPr lang="en-US" smtClean="0"/>
              <a:t>‹#›</a:t>
            </a:fld>
            <a:endParaRPr lang="en-US"/>
          </a:p>
        </p:txBody>
      </p:sp>
    </p:spTree>
    <p:extLst>
      <p:ext uri="{BB962C8B-B14F-4D97-AF65-F5344CB8AC3E}">
        <p14:creationId xmlns:p14="http://schemas.microsoft.com/office/powerpoint/2010/main" val="2263305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4" r:id="rId13"/>
    <p:sldLayoutId id="2147483678" r:id="rId14"/>
    <p:sldLayoutId id="2147483679" r:id="rId15"/>
    <p:sldLayoutId id="2147483681" r:id="rId16"/>
    <p:sldLayoutId id="2147483682" r:id="rId17"/>
    <p:sldLayoutId id="2147483683" r:id="rId18"/>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3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5183D5-031A-4CD1-B7F5-9A7ECF55A067}" type="datetimeFigureOut">
              <a:rPr lang="en-US" smtClean="0"/>
              <a:t>3/23/26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D6B2EA-306C-4331-A868-AE3C472FECBC}" type="slidenum">
              <a:rPr lang="en-US" smtClean="0"/>
              <a:t>‹#›</a:t>
            </a:fld>
            <a:endParaRPr lang="en-US"/>
          </a:p>
        </p:txBody>
      </p:sp>
    </p:spTree>
    <p:extLst>
      <p:ext uri="{BB962C8B-B14F-4D97-AF65-F5344CB8AC3E}">
        <p14:creationId xmlns:p14="http://schemas.microsoft.com/office/powerpoint/2010/main" val="334424706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image" Target="../media/image21.jpeg"/><Relationship Id="rId26" Type="http://schemas.openxmlformats.org/officeDocument/2006/relationships/image" Target="../media/image29.jpeg"/><Relationship Id="rId39" Type="http://schemas.openxmlformats.org/officeDocument/2006/relationships/image" Target="../media/image42.jpeg"/><Relationship Id="rId21" Type="http://schemas.openxmlformats.org/officeDocument/2006/relationships/image" Target="../media/image24.jpeg"/><Relationship Id="rId34" Type="http://schemas.openxmlformats.org/officeDocument/2006/relationships/image" Target="../media/image37.jpeg"/><Relationship Id="rId42" Type="http://schemas.openxmlformats.org/officeDocument/2006/relationships/image" Target="../media/image45.jpeg"/><Relationship Id="rId47" Type="http://schemas.openxmlformats.org/officeDocument/2006/relationships/image" Target="../media/image50.png"/><Relationship Id="rId7" Type="http://schemas.openxmlformats.org/officeDocument/2006/relationships/image" Target="../media/image10.jpeg"/><Relationship Id="rId2" Type="http://schemas.openxmlformats.org/officeDocument/2006/relationships/image" Target="../media/image5.png"/><Relationship Id="rId16" Type="http://schemas.openxmlformats.org/officeDocument/2006/relationships/image" Target="../media/image19.png"/><Relationship Id="rId29" Type="http://schemas.openxmlformats.org/officeDocument/2006/relationships/image" Target="../media/image32.jpeg"/><Relationship Id="rId1" Type="http://schemas.openxmlformats.org/officeDocument/2006/relationships/slideLayout" Target="../slideLayouts/slideLayout13.xml"/><Relationship Id="rId6" Type="http://schemas.openxmlformats.org/officeDocument/2006/relationships/image" Target="../media/image9.jpeg"/><Relationship Id="rId11" Type="http://schemas.openxmlformats.org/officeDocument/2006/relationships/image" Target="../media/image14.jpeg"/><Relationship Id="rId24" Type="http://schemas.openxmlformats.org/officeDocument/2006/relationships/image" Target="../media/image27.png"/><Relationship Id="rId32" Type="http://schemas.openxmlformats.org/officeDocument/2006/relationships/image" Target="../media/image35.jpeg"/><Relationship Id="rId37" Type="http://schemas.openxmlformats.org/officeDocument/2006/relationships/image" Target="../media/image40.jpeg"/><Relationship Id="rId40" Type="http://schemas.openxmlformats.org/officeDocument/2006/relationships/image" Target="../media/image43.jpeg"/><Relationship Id="rId45" Type="http://schemas.openxmlformats.org/officeDocument/2006/relationships/image" Target="../media/image48.png"/><Relationship Id="rId5" Type="http://schemas.openxmlformats.org/officeDocument/2006/relationships/image" Target="../media/image8.png"/><Relationship Id="rId15" Type="http://schemas.openxmlformats.org/officeDocument/2006/relationships/image" Target="../media/image18.jpeg"/><Relationship Id="rId23" Type="http://schemas.openxmlformats.org/officeDocument/2006/relationships/image" Target="../media/image26.png"/><Relationship Id="rId28" Type="http://schemas.openxmlformats.org/officeDocument/2006/relationships/image" Target="../media/image31.jpeg"/><Relationship Id="rId36" Type="http://schemas.openxmlformats.org/officeDocument/2006/relationships/image" Target="../media/image39.jpeg"/><Relationship Id="rId10" Type="http://schemas.openxmlformats.org/officeDocument/2006/relationships/image" Target="../media/image13.jpeg"/><Relationship Id="rId19" Type="http://schemas.openxmlformats.org/officeDocument/2006/relationships/image" Target="../media/image22.png"/><Relationship Id="rId31" Type="http://schemas.openxmlformats.org/officeDocument/2006/relationships/image" Target="../media/image34.jpeg"/><Relationship Id="rId44" Type="http://schemas.openxmlformats.org/officeDocument/2006/relationships/image" Target="../media/image47.jpeg"/><Relationship Id="rId4" Type="http://schemas.openxmlformats.org/officeDocument/2006/relationships/image" Target="../media/image7.jpe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jpeg"/><Relationship Id="rId30" Type="http://schemas.openxmlformats.org/officeDocument/2006/relationships/image" Target="../media/image33.jpeg"/><Relationship Id="rId35" Type="http://schemas.openxmlformats.org/officeDocument/2006/relationships/image" Target="../media/image38.jpeg"/><Relationship Id="rId43" Type="http://schemas.openxmlformats.org/officeDocument/2006/relationships/image" Target="../media/image46.jpeg"/><Relationship Id="rId8" Type="http://schemas.openxmlformats.org/officeDocument/2006/relationships/image" Target="../media/image11.jpeg"/><Relationship Id="rId3" Type="http://schemas.openxmlformats.org/officeDocument/2006/relationships/image" Target="../media/image6.png"/><Relationship Id="rId12" Type="http://schemas.openxmlformats.org/officeDocument/2006/relationships/image" Target="../media/image15.jpeg"/><Relationship Id="rId17" Type="http://schemas.openxmlformats.org/officeDocument/2006/relationships/image" Target="../media/image20.jpeg"/><Relationship Id="rId25" Type="http://schemas.openxmlformats.org/officeDocument/2006/relationships/image" Target="../media/image28.png"/><Relationship Id="rId33" Type="http://schemas.openxmlformats.org/officeDocument/2006/relationships/image" Target="../media/image36.png"/><Relationship Id="rId38" Type="http://schemas.openxmlformats.org/officeDocument/2006/relationships/image" Target="../media/image41.jpeg"/><Relationship Id="rId46" Type="http://schemas.openxmlformats.org/officeDocument/2006/relationships/image" Target="../media/image49.png"/><Relationship Id="rId20" Type="http://schemas.openxmlformats.org/officeDocument/2006/relationships/image" Target="../media/image23.png"/><Relationship Id="rId41" Type="http://schemas.openxmlformats.org/officeDocument/2006/relationships/image" Target="../media/image44.jpeg"/></Relationships>
</file>

<file path=ppt/slides/_rels/slide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13.xml"/><Relationship Id="rId6" Type="http://schemas.openxmlformats.org/officeDocument/2006/relationships/image" Target="../media/image55.jpeg"/><Relationship Id="rId5" Type="http://schemas.openxmlformats.org/officeDocument/2006/relationships/image" Target="../media/image54.jpeg"/><Relationship Id="rId4" Type="http://schemas.openxmlformats.org/officeDocument/2006/relationships/image" Target="../media/image5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6.png"/><Relationship Id="rId1" Type="http://schemas.openxmlformats.org/officeDocument/2006/relationships/slideLayout" Target="../slideLayouts/slideLayout14.xml"/><Relationship Id="rId4" Type="http://schemas.openxmlformats.org/officeDocument/2006/relationships/image" Target="../media/image5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63.jpeg"/><Relationship Id="rId13" Type="http://schemas.openxmlformats.org/officeDocument/2006/relationships/image" Target="../media/image67.png"/><Relationship Id="rId3" Type="http://schemas.openxmlformats.org/officeDocument/2006/relationships/image" Target="../media/image58.png"/><Relationship Id="rId7" Type="http://schemas.openxmlformats.org/officeDocument/2006/relationships/image" Target="../media/image62.jpeg"/><Relationship Id="rId12" Type="http://schemas.openxmlformats.org/officeDocument/2006/relationships/image" Target="../media/image66.jpeg"/><Relationship Id="rId2" Type="http://schemas.openxmlformats.org/officeDocument/2006/relationships/image" Target="../media/image5.png"/><Relationship Id="rId16" Type="http://schemas.openxmlformats.org/officeDocument/2006/relationships/image" Target="../media/image69.png"/><Relationship Id="rId1" Type="http://schemas.openxmlformats.org/officeDocument/2006/relationships/slideLayout" Target="../slideLayouts/slideLayout13.xml"/><Relationship Id="rId6" Type="http://schemas.openxmlformats.org/officeDocument/2006/relationships/image" Target="../media/image61.jpeg"/><Relationship Id="rId11" Type="http://schemas.openxmlformats.org/officeDocument/2006/relationships/image" Target="../media/image65.jpeg"/><Relationship Id="rId5" Type="http://schemas.openxmlformats.org/officeDocument/2006/relationships/image" Target="../media/image60.png"/><Relationship Id="rId15" Type="http://schemas.openxmlformats.org/officeDocument/2006/relationships/image" Target="../media/image68.jpeg"/><Relationship Id="rId10" Type="http://schemas.openxmlformats.org/officeDocument/2006/relationships/image" Target="../media/image64.jpeg"/><Relationship Id="rId4" Type="http://schemas.openxmlformats.org/officeDocument/2006/relationships/image" Target="../media/image59.jpeg"/><Relationship Id="rId9" Type="http://schemas.openxmlformats.org/officeDocument/2006/relationships/image" Target="../media/image12.png"/><Relationship Id="rId14"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1.jpeg"/><Relationship Id="rId7" Type="http://schemas.openxmlformats.org/officeDocument/2006/relationships/image" Target="../media/image74.jpeg"/><Relationship Id="rId2" Type="http://schemas.openxmlformats.org/officeDocument/2006/relationships/image" Target="../media/image70.png"/><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73.png"/><Relationship Id="rId10" Type="http://schemas.openxmlformats.org/officeDocument/2006/relationships/image" Target="../media/image77.png"/><Relationship Id="rId4" Type="http://schemas.openxmlformats.org/officeDocument/2006/relationships/image" Target="../media/image72.jpeg"/><Relationship Id="rId9" Type="http://schemas.openxmlformats.org/officeDocument/2006/relationships/image" Target="../media/image7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8.png"/><Relationship Id="rId1" Type="http://schemas.openxmlformats.org/officeDocument/2006/relationships/slideLayout" Target="../slideLayouts/slideLayout33.xml"/><Relationship Id="rId4" Type="http://schemas.openxmlformats.org/officeDocument/2006/relationships/image" Target="../media/image79.png"/></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0.jpeg"/><Relationship Id="rId1" Type="http://schemas.openxmlformats.org/officeDocument/2006/relationships/slideLayout" Target="../slideLayouts/slideLayout34.xml"/><Relationship Id="rId4" Type="http://schemas.openxmlformats.org/officeDocument/2006/relationships/image" Target="../media/image81.jpeg"/></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2.png"/><Relationship Id="rId1" Type="http://schemas.openxmlformats.org/officeDocument/2006/relationships/slideLayout" Target="../slideLayouts/slideLayout35.xml"/><Relationship Id="rId4" Type="http://schemas.openxmlformats.org/officeDocument/2006/relationships/image" Target="../media/image83.jpeg"/></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4.jpeg"/><Relationship Id="rId1" Type="http://schemas.openxmlformats.org/officeDocument/2006/relationships/slideLayout" Target="../slideLayouts/slideLayout36.xml"/><Relationship Id="rId5" Type="http://schemas.openxmlformats.org/officeDocument/2006/relationships/image" Target="../media/image86.jpeg"/><Relationship Id="rId4" Type="http://schemas.openxmlformats.org/officeDocument/2006/relationships/image" Target="../media/image85.jpeg"/></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7.jpeg"/><Relationship Id="rId1" Type="http://schemas.openxmlformats.org/officeDocument/2006/relationships/slideLayout" Target="../slideLayouts/slideLayout37.xml"/><Relationship Id="rId5" Type="http://schemas.openxmlformats.org/officeDocument/2006/relationships/image" Target="../media/image21.jpeg"/><Relationship Id="rId4" Type="http://schemas.openxmlformats.org/officeDocument/2006/relationships/image" Target="../media/image88.jpeg"/></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9.jpeg"/><Relationship Id="rId1" Type="http://schemas.openxmlformats.org/officeDocument/2006/relationships/slideLayout" Target="../slideLayouts/slideLayout40.xml"/><Relationship Id="rId4" Type="http://schemas.openxmlformats.org/officeDocument/2006/relationships/image" Target="../media/image90.png"/></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1.jpeg"/><Relationship Id="rId1" Type="http://schemas.openxmlformats.org/officeDocument/2006/relationships/slideLayout" Target="../slideLayouts/slideLayout41.xml"/><Relationship Id="rId4" Type="http://schemas.openxmlformats.org/officeDocument/2006/relationships/image" Target="../media/image92.jpeg"/></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3.jpeg"/><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39.xml"/><Relationship Id="rId5" Type="http://schemas.openxmlformats.org/officeDocument/2006/relationships/image" Target="../media/image46.jpeg"/><Relationship Id="rId4" Type="http://schemas.openxmlformats.org/officeDocument/2006/relationships/image" Target="../media/image94.jpeg"/></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5.jpeg"/><Relationship Id="rId1" Type="http://schemas.openxmlformats.org/officeDocument/2006/relationships/slideLayout" Target="../slideLayouts/slideLayout43.xml"/><Relationship Id="rId5" Type="http://schemas.openxmlformats.org/officeDocument/2006/relationships/image" Target="../media/image48.png"/><Relationship Id="rId4" Type="http://schemas.openxmlformats.org/officeDocument/2006/relationships/image" Target="../media/image96.jpeg"/></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7.png"/><Relationship Id="rId1" Type="http://schemas.openxmlformats.org/officeDocument/2006/relationships/slideLayout" Target="../slideLayouts/slideLayout44.xml"/><Relationship Id="rId4" Type="http://schemas.openxmlformats.org/officeDocument/2006/relationships/image" Target="../media/image98.jpeg"/></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png"/><Relationship Id="rId1" Type="http://schemas.openxmlformats.org/officeDocument/2006/relationships/slideLayout" Target="../slideLayouts/slideLayout45.xml"/><Relationship Id="rId5" Type="http://schemas.openxmlformats.org/officeDocument/2006/relationships/image" Target="../media/image100.png"/><Relationship Id="rId4" Type="http://schemas.openxmlformats.org/officeDocument/2006/relationships/image" Target="../media/image99.jpeg"/></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3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42.xml"/><Relationship Id="rId4" Type="http://schemas.openxmlformats.org/officeDocument/2006/relationships/image" Target="../media/image103.jpeg"/></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4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5.png"/><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4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5.png"/><Relationship Id="rId1" Type="http://schemas.openxmlformats.org/officeDocument/2006/relationships/slideLayout" Target="../slideLayouts/slideLayout33.xml"/><Relationship Id="rId4" Type="http://schemas.openxmlformats.org/officeDocument/2006/relationships/image" Target="../media/image106.png"/></Relationships>
</file>

<file path=ppt/slides/_rels/slide4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5.png"/><Relationship Id="rId1" Type="http://schemas.openxmlformats.org/officeDocument/2006/relationships/slideLayout" Target="../slideLayouts/slideLayout33.xml"/><Relationship Id="rId5" Type="http://schemas.openxmlformats.org/officeDocument/2006/relationships/image" Target="../media/image108.png"/><Relationship Id="rId4" Type="http://schemas.microsoft.com/office/2007/relationships/hdphoto" Target="../media/hdphoto2.wdp"/></Relationships>
</file>

<file path=ppt/slides/_rels/slide44.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70.png"/><Relationship Id="rId2" Type="http://schemas.openxmlformats.org/officeDocument/2006/relationships/image" Target="../media/image109.png"/><Relationship Id="rId1" Type="http://schemas.openxmlformats.org/officeDocument/2006/relationships/slideLayout" Target="../slideLayouts/slideLayout17.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45.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70.png"/><Relationship Id="rId2" Type="http://schemas.openxmlformats.org/officeDocument/2006/relationships/image" Target="../media/image109.png"/><Relationship Id="rId1" Type="http://schemas.openxmlformats.org/officeDocument/2006/relationships/slideLayout" Target="../slideLayouts/slideLayout17.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6.png"/><Relationship Id="rId1" Type="http://schemas.openxmlformats.org/officeDocument/2006/relationships/slideLayout" Target="../slideLayouts/slideLayout14.xml"/><Relationship Id="rId4" Type="http://schemas.openxmlformats.org/officeDocument/2006/relationships/image" Target="../media/image57.jpg"/></Relationships>
</file>

<file path=ppt/slides/_rels/slide50.xml.rels><?xml version="1.0" encoding="UTF-8" standalone="yes"?>
<Relationships xmlns="http://schemas.openxmlformats.org/package/2006/relationships"><Relationship Id="rId8" Type="http://schemas.openxmlformats.org/officeDocument/2006/relationships/image" Target="../media/image63.jpeg"/><Relationship Id="rId13" Type="http://schemas.openxmlformats.org/officeDocument/2006/relationships/image" Target="../media/image67.png"/><Relationship Id="rId3" Type="http://schemas.openxmlformats.org/officeDocument/2006/relationships/image" Target="../media/image58.png"/><Relationship Id="rId7" Type="http://schemas.openxmlformats.org/officeDocument/2006/relationships/image" Target="../media/image62.jpeg"/><Relationship Id="rId12" Type="http://schemas.openxmlformats.org/officeDocument/2006/relationships/image" Target="../media/image66.jpeg"/><Relationship Id="rId2" Type="http://schemas.openxmlformats.org/officeDocument/2006/relationships/image" Target="../media/image5.png"/><Relationship Id="rId16" Type="http://schemas.openxmlformats.org/officeDocument/2006/relationships/image" Target="../media/image69.png"/><Relationship Id="rId1" Type="http://schemas.openxmlformats.org/officeDocument/2006/relationships/slideLayout" Target="../slideLayouts/slideLayout13.xml"/><Relationship Id="rId6" Type="http://schemas.openxmlformats.org/officeDocument/2006/relationships/image" Target="../media/image61.jpeg"/><Relationship Id="rId11" Type="http://schemas.openxmlformats.org/officeDocument/2006/relationships/image" Target="../media/image65.jpeg"/><Relationship Id="rId5" Type="http://schemas.openxmlformats.org/officeDocument/2006/relationships/image" Target="../media/image60.png"/><Relationship Id="rId15" Type="http://schemas.openxmlformats.org/officeDocument/2006/relationships/image" Target="../media/image68.jpeg"/><Relationship Id="rId10" Type="http://schemas.openxmlformats.org/officeDocument/2006/relationships/image" Target="../media/image64.jpeg"/><Relationship Id="rId4" Type="http://schemas.openxmlformats.org/officeDocument/2006/relationships/image" Target="../media/image59.jpeg"/><Relationship Id="rId9" Type="http://schemas.openxmlformats.org/officeDocument/2006/relationships/image" Target="../media/image12.png"/><Relationship Id="rId14" Type="http://schemas.openxmlformats.org/officeDocument/2006/relationships/image" Target="../media/image17.png"/></Relationships>
</file>

<file path=ppt/slides/_rels/slide51.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1.jpeg"/><Relationship Id="rId7" Type="http://schemas.openxmlformats.org/officeDocument/2006/relationships/image" Target="../media/image74.jpeg"/><Relationship Id="rId2" Type="http://schemas.openxmlformats.org/officeDocument/2006/relationships/image" Target="../media/image70.png"/><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73.png"/><Relationship Id="rId10" Type="http://schemas.openxmlformats.org/officeDocument/2006/relationships/image" Target="../media/image77.png"/><Relationship Id="rId4" Type="http://schemas.openxmlformats.org/officeDocument/2006/relationships/image" Target="../media/image72.jpeg"/><Relationship Id="rId9" Type="http://schemas.openxmlformats.org/officeDocument/2006/relationships/image" Target="../media/image76.png"/></Relationships>
</file>

<file path=ppt/slides/_rels/slide5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7.xml"/><Relationship Id="rId5" Type="http://schemas.openxmlformats.org/officeDocument/2006/relationships/image" Target="../media/image118.png"/><Relationship Id="rId4" Type="http://schemas.openxmlformats.org/officeDocument/2006/relationships/image" Target="../media/image117.png"/></Relationships>
</file>

<file path=ppt/slides/_rels/slide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6.png"/><Relationship Id="rId1" Type="http://schemas.openxmlformats.org/officeDocument/2006/relationships/slideLayout" Target="../slideLayouts/slideLayout14.xml"/><Relationship Id="rId4" Type="http://schemas.openxmlformats.org/officeDocument/2006/relationships/image" Target="../media/image57.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8" Type="http://schemas.openxmlformats.org/officeDocument/2006/relationships/image" Target="../media/image94.jpeg"/><Relationship Id="rId13" Type="http://schemas.openxmlformats.org/officeDocument/2006/relationships/image" Target="../media/image96.jpeg"/><Relationship Id="rId3" Type="http://schemas.openxmlformats.org/officeDocument/2006/relationships/image" Target="../media/image79.png"/><Relationship Id="rId7" Type="http://schemas.openxmlformats.org/officeDocument/2006/relationships/image" Target="../media/image88.jpeg"/><Relationship Id="rId12" Type="http://schemas.openxmlformats.org/officeDocument/2006/relationships/image" Target="../media/image99.jpeg"/><Relationship Id="rId2" Type="http://schemas.openxmlformats.org/officeDocument/2006/relationships/image" Target="../media/image5.png"/><Relationship Id="rId16" Type="http://schemas.openxmlformats.org/officeDocument/2006/relationships/image" Target="../media/image121.jpeg"/><Relationship Id="rId1" Type="http://schemas.openxmlformats.org/officeDocument/2006/relationships/slideLayout" Target="../slideLayouts/slideLayout16.xml"/><Relationship Id="rId6" Type="http://schemas.openxmlformats.org/officeDocument/2006/relationships/image" Target="../media/image85.jpeg"/><Relationship Id="rId11" Type="http://schemas.openxmlformats.org/officeDocument/2006/relationships/image" Target="../media/image98.jpeg"/><Relationship Id="rId5" Type="http://schemas.openxmlformats.org/officeDocument/2006/relationships/image" Target="../media/image83.jpeg"/><Relationship Id="rId15" Type="http://schemas.openxmlformats.org/officeDocument/2006/relationships/image" Target="../media/image120.jpeg"/><Relationship Id="rId10" Type="http://schemas.openxmlformats.org/officeDocument/2006/relationships/image" Target="../media/image92.jpeg"/><Relationship Id="rId4" Type="http://schemas.openxmlformats.org/officeDocument/2006/relationships/image" Target="../media/image81.jpeg"/><Relationship Id="rId9" Type="http://schemas.openxmlformats.org/officeDocument/2006/relationships/image" Target="../media/image90.png"/><Relationship Id="rId14" Type="http://schemas.openxmlformats.org/officeDocument/2006/relationships/image" Target="../media/image119.jpeg"/></Relationships>
</file>

<file path=ppt/slides/_rels/slide56.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86.jpeg"/><Relationship Id="rId7" Type="http://schemas.openxmlformats.org/officeDocument/2006/relationships/image" Target="../media/image124.png"/><Relationship Id="rId2" Type="http://schemas.openxmlformats.org/officeDocument/2006/relationships/image" Target="../media/image70.png"/><Relationship Id="rId1" Type="http://schemas.openxmlformats.org/officeDocument/2006/relationships/slideLayout" Target="../slideLayouts/slideLayout16.xml"/><Relationship Id="rId6" Type="http://schemas.openxmlformats.org/officeDocument/2006/relationships/image" Target="../media/image103.jpeg"/><Relationship Id="rId5" Type="http://schemas.openxmlformats.org/officeDocument/2006/relationships/image" Target="../media/image123.jpeg"/><Relationship Id="rId4" Type="http://schemas.openxmlformats.org/officeDocument/2006/relationships/image" Target="../media/image122.jpeg"/><Relationship Id="rId9" Type="http://schemas.openxmlformats.org/officeDocument/2006/relationships/image" Target="../media/image10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6.png"/><Relationship Id="rId1" Type="http://schemas.openxmlformats.org/officeDocument/2006/relationships/slideLayout" Target="../slideLayouts/slideLayout14.xml"/><Relationship Id="rId5" Type="http://schemas.openxmlformats.org/officeDocument/2006/relationships/hyperlink" Target="https://docs.google.com/spreadsheets/d/1kqpEEzXt-vx38S-sGlSoyIZ9orrsz97i/edit?usp=sharing&amp;ouid=104598933576124029697&amp;rtpof=true&amp;sd=true" TargetMode="External"/><Relationship Id="rId4" Type="http://schemas.openxmlformats.org/officeDocument/2006/relationships/image" Target="../media/image57.jpg"/></Relationships>
</file>

<file path=ppt/slides/_rels/slide59.xml.rels><?xml version="1.0" encoding="UTF-8" standalone="yes"?>
<Relationships xmlns="http://schemas.openxmlformats.org/package/2006/relationships"><Relationship Id="rId3" Type="http://schemas.openxmlformats.org/officeDocument/2006/relationships/image" Target="../media/image127.png"/><Relationship Id="rId7" Type="http://schemas.openxmlformats.org/officeDocument/2006/relationships/image" Target="../media/image131.png"/><Relationship Id="rId2" Type="http://schemas.openxmlformats.org/officeDocument/2006/relationships/image" Target="../media/image126.png"/><Relationship Id="rId1" Type="http://schemas.openxmlformats.org/officeDocument/2006/relationships/slideLayout" Target="../slideLayouts/slideLayout15.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s>
</file>

<file path=ppt/slides/_rels/slide60.xml.rels><?xml version="1.0" encoding="UTF-8" standalone="yes"?>
<Relationships xmlns="http://schemas.openxmlformats.org/package/2006/relationships"><Relationship Id="rId3" Type="http://schemas.openxmlformats.org/officeDocument/2006/relationships/image" Target="../media/image133.svg"/><Relationship Id="rId2" Type="http://schemas.openxmlformats.org/officeDocument/2006/relationships/image" Target="../media/image132.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61254" y="915302"/>
            <a:ext cx="4069492" cy="4069492"/>
          </a:xfrm>
          <a:prstGeom prst="rect">
            <a:avLst/>
          </a:prstGeom>
        </p:spPr>
      </p:pic>
      <p:sp>
        <p:nvSpPr>
          <p:cNvPr id="7" name="TextBox 6">
            <a:extLst>
              <a:ext uri="{FF2B5EF4-FFF2-40B4-BE49-F238E27FC236}">
                <a16:creationId xmlns:a16="http://schemas.microsoft.com/office/drawing/2014/main" id="{088D8D9F-C55D-54C1-0528-C8F4F24EEEE2}"/>
              </a:ext>
            </a:extLst>
          </p:cNvPr>
          <p:cNvSpPr txBox="1"/>
          <p:nvPr/>
        </p:nvSpPr>
        <p:spPr>
          <a:xfrm>
            <a:off x="3130376" y="4772489"/>
            <a:ext cx="5955960" cy="461665"/>
          </a:xfrm>
          <a:prstGeom prst="rect">
            <a:avLst/>
          </a:prstGeom>
          <a:noFill/>
        </p:spPr>
        <p:txBody>
          <a:bodyPr wrap="square" rtlCol="0">
            <a:spAutoFit/>
          </a:bodyPr>
          <a:lstStyle/>
          <a:p>
            <a:pPr algn="ctr"/>
            <a:r>
              <a:rPr lang="en-US" sz="2400" b="1" i="1" dirty="0">
                <a:solidFill>
                  <a:srgbClr val="16DB65"/>
                </a:solidFill>
                <a:latin typeface="Bricolage Grotesque 14pt" panose="020B0605040402000204" pitchFamily="34" charset="0"/>
              </a:rPr>
              <a:t>More than an Art, Cooking is a responsibility</a:t>
            </a:r>
            <a:endParaRPr lang="en-US" sz="2400" i="1" dirty="0">
              <a:solidFill>
                <a:srgbClr val="16DB65"/>
              </a:solidFill>
              <a:latin typeface="Bricolage Grotesque 14pt" panose="020B0605040402000204" pitchFamily="34" charset="0"/>
            </a:endParaRPr>
          </a:p>
        </p:txBody>
      </p:sp>
    </p:spTree>
    <p:extLst>
      <p:ext uri="{BB962C8B-B14F-4D97-AF65-F5344CB8AC3E}">
        <p14:creationId xmlns:p14="http://schemas.microsoft.com/office/powerpoint/2010/main" val="1327186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3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4CD654-1A69-6C4C-76C5-45E214AC4825}"/>
              </a:ext>
            </a:extLst>
          </p:cNvPr>
          <p:cNvSpPr txBox="1"/>
          <p:nvPr/>
        </p:nvSpPr>
        <p:spPr>
          <a:xfrm>
            <a:off x="785908" y="576879"/>
            <a:ext cx="5168319" cy="769441"/>
          </a:xfrm>
          <a:prstGeom prst="rect">
            <a:avLst/>
          </a:prstGeom>
          <a:noFill/>
        </p:spPr>
        <p:txBody>
          <a:bodyPr wrap="square" rtlCol="0">
            <a:spAutoFit/>
          </a:bodyPr>
          <a:lstStyle/>
          <a:p>
            <a:r>
              <a:rPr lang="en-US" sz="4400" b="1" dirty="0">
                <a:solidFill>
                  <a:schemeClr val="bg1"/>
                </a:solidFill>
                <a:latin typeface="Bricolage Grotesque 14pt" panose="020B0605040402000204" pitchFamily="34" charset="0"/>
                <a:ea typeface="Open Sans" panose="020B0606030504020204" pitchFamily="34" charset="0"/>
                <a:cs typeface="Open Sans" panose="020B0606030504020204" pitchFamily="34" charset="0"/>
              </a:rPr>
              <a:t>Jagdai </a:t>
            </a:r>
            <a:r>
              <a:rPr lang="en-US" sz="4400" b="1" dirty="0">
                <a:solidFill>
                  <a:srgbClr val="16DB65"/>
                </a:solidFill>
                <a:latin typeface="Bricolage Grotesque 14pt" panose="020B0605040402000204" pitchFamily="34" charset="0"/>
                <a:ea typeface="Open Sans" panose="020B0606030504020204" pitchFamily="34" charset="0"/>
                <a:cs typeface="Open Sans" panose="020B0606030504020204" pitchFamily="34" charset="0"/>
              </a:rPr>
              <a:t>Foods</a:t>
            </a:r>
          </a:p>
        </p:txBody>
      </p:sp>
      <p:sp>
        <p:nvSpPr>
          <p:cNvPr id="9" name="TextBox 8"/>
          <p:cNvSpPr txBox="1"/>
          <p:nvPr/>
        </p:nvSpPr>
        <p:spPr>
          <a:xfrm>
            <a:off x="514059" y="1911178"/>
            <a:ext cx="6389661" cy="4247317"/>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solidFill>
                  <a:schemeClr val="bg1"/>
                </a:solidFill>
                <a:latin typeface="Bricolage Grotesque 14pt" panose="020B0605040402000204" pitchFamily="34" charset="0"/>
              </a:rPr>
              <a:t>One Kitchen which offers multiple </a:t>
            </a:r>
            <a:r>
              <a:rPr lang="en-US" b="1" dirty="0">
                <a:solidFill>
                  <a:srgbClr val="F95050"/>
                </a:solidFill>
                <a:latin typeface="Bricolage Grotesque 14pt" panose="020B0605040402000204" pitchFamily="34" charset="0"/>
              </a:rPr>
              <a:t>Quick Service Restaurant (QSR), Internet Restaurants (IR) &amp; Food Trolley (FT) </a:t>
            </a:r>
            <a:r>
              <a:rPr lang="en-US" dirty="0">
                <a:solidFill>
                  <a:schemeClr val="bg1"/>
                </a:solidFill>
                <a:latin typeface="Bricolage Grotesque 14pt" panose="020B0605040402000204" pitchFamily="34" charset="0"/>
              </a:rPr>
              <a:t>chains, where the luxury of five-star dining meets unbeatable convenience and satisfaction of a QSR, IR &amp; FT. Our QSR, IR &amp; FT offers culinary journey filled with flavor, convenience, and craftmanship for those seeking quality food on the go. </a:t>
            </a:r>
          </a:p>
          <a:p>
            <a:pPr marL="285750" indent="-285750" algn="just">
              <a:buFont typeface="Wingdings" panose="05000000000000000000" pitchFamily="2" charset="2"/>
              <a:buChar char="Ø"/>
            </a:pPr>
            <a:endParaRPr lang="en-US" dirty="0">
              <a:solidFill>
                <a:schemeClr val="bg1"/>
              </a:solidFill>
              <a:latin typeface="Bricolage Grotesque 14pt" panose="020B0605040402000204" pitchFamily="34" charset="0"/>
            </a:endParaRPr>
          </a:p>
          <a:p>
            <a:pPr marL="285750" indent="-285750" algn="just">
              <a:buFont typeface="Wingdings" panose="05000000000000000000" pitchFamily="2" charset="2"/>
              <a:buChar char="Ø"/>
            </a:pPr>
            <a:r>
              <a:rPr lang="en-US" dirty="0">
                <a:solidFill>
                  <a:schemeClr val="bg1"/>
                </a:solidFill>
                <a:latin typeface="Bricolage Grotesque 14pt" panose="020B0605040402000204" pitchFamily="34" charset="0"/>
              </a:rPr>
              <a:t>With a menu that reinvents classics with a modern twist, each bite promises satisfaction and rejuvenation. Whether it's a quick lunch break, a pre-work energy boost, or a leisurely meal with family and friends, our food ensures efficient service without compromising on excellence.</a:t>
            </a:r>
          </a:p>
          <a:p>
            <a:pPr marL="285750" indent="-285750" algn="just">
              <a:buFont typeface="Wingdings" panose="05000000000000000000" pitchFamily="2" charset="2"/>
              <a:buChar char="Ø"/>
            </a:pPr>
            <a:endParaRPr lang="en-US" dirty="0">
              <a:solidFill>
                <a:schemeClr val="bg1"/>
              </a:solidFill>
              <a:latin typeface="Bricolage Grotesque 14pt" panose="020B0605040402000204" pitchFamily="34" charset="0"/>
            </a:endParaRPr>
          </a:p>
          <a:p>
            <a:pPr marL="285750" indent="-285750" algn="just">
              <a:buFont typeface="Wingdings" panose="05000000000000000000" pitchFamily="2" charset="2"/>
              <a:buChar char="Ø"/>
            </a:pPr>
            <a:r>
              <a:rPr lang="en-US" dirty="0">
                <a:solidFill>
                  <a:schemeClr val="bg1"/>
                </a:solidFill>
                <a:latin typeface="Bricolage Grotesque 14pt" panose="020B0605040402000204" pitchFamily="34" charset="0"/>
              </a:rPr>
              <a:t>Join us at JAGDAI FOOD PVT LTD’s  for a fast, flavorful experience like no other and other franchise opportunities.</a:t>
            </a:r>
          </a:p>
        </p:txBody>
      </p:sp>
      <p:sp>
        <p:nvSpPr>
          <p:cNvPr id="7" name="TextBox 6">
            <a:extLst>
              <a:ext uri="{FF2B5EF4-FFF2-40B4-BE49-F238E27FC236}">
                <a16:creationId xmlns:a16="http://schemas.microsoft.com/office/drawing/2014/main" id="{527CD62B-CC26-05CE-0200-FF0813AC9CF3}"/>
              </a:ext>
            </a:extLst>
          </p:cNvPr>
          <p:cNvSpPr txBox="1"/>
          <p:nvPr/>
        </p:nvSpPr>
        <p:spPr>
          <a:xfrm>
            <a:off x="785908" y="1216776"/>
            <a:ext cx="4368837" cy="461665"/>
          </a:xfrm>
          <a:prstGeom prst="rect">
            <a:avLst/>
          </a:prstGeom>
          <a:noFill/>
        </p:spPr>
        <p:txBody>
          <a:bodyPr wrap="square" rtlCol="0">
            <a:spAutoFit/>
          </a:bodyPr>
          <a:lstStyle/>
          <a:p>
            <a:r>
              <a:rPr lang="en-US" sz="2400" b="1" dirty="0">
                <a:solidFill>
                  <a:srgbClr val="F95050"/>
                </a:solidFill>
              </a:rPr>
              <a:t>MULTI BRAND CLOUD KITCHEN</a:t>
            </a:r>
          </a:p>
        </p:txBody>
      </p:sp>
      <p:pic>
        <p:nvPicPr>
          <p:cNvPr id="8" name="Picture 7"/>
          <p:cNvPicPr>
            <a:picLocks noChangeAspect="1"/>
          </p:cNvPicPr>
          <p:nvPr/>
        </p:nvPicPr>
        <p:blipFill rotWithShape="1">
          <a:blip r:embed="rId2" cstate="print">
            <a:extLst>
              <a:ext uri="{28A0092B-C50C-407E-A947-70E740481C1C}">
                <a14:useLocalDpi xmlns:a14="http://schemas.microsoft.com/office/drawing/2010/main" val="0"/>
              </a:ext>
            </a:extLst>
          </a:blip>
          <a:srcRect l="16061" r="4546"/>
          <a:stretch/>
        </p:blipFill>
        <p:spPr>
          <a:xfrm>
            <a:off x="7167898" y="1911178"/>
            <a:ext cx="4365075" cy="4123497"/>
          </a:xfrm>
          <a:prstGeom prst="rect">
            <a:avLst/>
          </a:prstGeom>
          <a:ln w="19050">
            <a:solidFill>
              <a:srgbClr val="F95050"/>
            </a:solidFill>
          </a:ln>
        </p:spPr>
      </p:pic>
    </p:spTree>
    <p:extLst>
      <p:ext uri="{BB962C8B-B14F-4D97-AF65-F5344CB8AC3E}">
        <p14:creationId xmlns:p14="http://schemas.microsoft.com/office/powerpoint/2010/main" val="2021477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1+#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Rounded Rectangle 39">
            <a:extLst>
              <a:ext uri="{FF2B5EF4-FFF2-40B4-BE49-F238E27FC236}">
                <a16:creationId xmlns:a16="http://schemas.microsoft.com/office/drawing/2014/main" id="{AC4F57F2-A8C9-B125-1BC7-2C2470854D12}"/>
              </a:ext>
            </a:extLst>
          </p:cNvPr>
          <p:cNvSpPr/>
          <p:nvPr/>
        </p:nvSpPr>
        <p:spPr>
          <a:xfrm>
            <a:off x="3631296" y="1503862"/>
            <a:ext cx="2262446" cy="84136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7" name="Rounded Rectangle 39">
            <a:extLst>
              <a:ext uri="{FF2B5EF4-FFF2-40B4-BE49-F238E27FC236}">
                <a16:creationId xmlns:a16="http://schemas.microsoft.com/office/drawing/2014/main" id="{BDAEF211-2A15-18CF-8F53-F70B8258678D}"/>
              </a:ext>
            </a:extLst>
          </p:cNvPr>
          <p:cNvSpPr/>
          <p:nvPr/>
        </p:nvSpPr>
        <p:spPr>
          <a:xfrm>
            <a:off x="6395476" y="1508731"/>
            <a:ext cx="2262446" cy="83832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grpSp>
        <p:nvGrpSpPr>
          <p:cNvPr id="2" name="Group 1"/>
          <p:cNvGrpSpPr/>
          <p:nvPr/>
        </p:nvGrpSpPr>
        <p:grpSpPr>
          <a:xfrm>
            <a:off x="982595" y="1461583"/>
            <a:ext cx="10396264" cy="899665"/>
            <a:chOff x="886448" y="1461583"/>
            <a:chExt cx="10370438" cy="899665"/>
          </a:xfrm>
        </p:grpSpPr>
        <p:grpSp>
          <p:nvGrpSpPr>
            <p:cNvPr id="12" name="Group 11"/>
            <p:cNvGrpSpPr/>
            <p:nvPr/>
          </p:nvGrpSpPr>
          <p:grpSpPr>
            <a:xfrm>
              <a:off x="886448" y="1503861"/>
              <a:ext cx="4826728" cy="838321"/>
              <a:chOff x="640149" y="1575962"/>
              <a:chExt cx="4826728" cy="838321"/>
            </a:xfrm>
          </p:grpSpPr>
          <p:sp>
            <p:nvSpPr>
              <p:cNvPr id="41" name="Rounded Rectangle 40"/>
              <p:cNvSpPr/>
              <p:nvPr/>
            </p:nvSpPr>
            <p:spPr>
              <a:xfrm>
                <a:off x="640149" y="1575962"/>
                <a:ext cx="2262446" cy="83832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31" name="TextBox 30"/>
              <p:cNvSpPr txBox="1"/>
              <p:nvPr/>
            </p:nvSpPr>
            <p:spPr>
              <a:xfrm>
                <a:off x="3430108" y="1703155"/>
                <a:ext cx="2036769" cy="523220"/>
              </a:xfrm>
              <a:prstGeom prst="rect">
                <a:avLst/>
              </a:prstGeom>
              <a:noFill/>
            </p:spPr>
            <p:txBody>
              <a:bodyPr wrap="none" rtlCol="0">
                <a:spAutoFit/>
              </a:bodyPr>
              <a:lstStyle/>
              <a:p>
                <a:pPr algn="ctr"/>
                <a:r>
                  <a:rPr lang="en-US" sz="1400" b="1" dirty="0">
                    <a:solidFill>
                      <a:srgbClr val="F95050"/>
                    </a:solidFill>
                    <a:latin typeface="Bricolage Grotesque 14pt" panose="020B0605040402000204"/>
                  </a:rPr>
                  <a:t>Highly Trained Staff with </a:t>
                </a:r>
              </a:p>
              <a:p>
                <a:pPr algn="ctr"/>
                <a:r>
                  <a:rPr lang="en-US" sz="1400" b="1" dirty="0">
                    <a:solidFill>
                      <a:srgbClr val="F95050"/>
                    </a:solidFill>
                    <a:latin typeface="Bricolage Grotesque 14pt" panose="020B0605040402000204"/>
                  </a:rPr>
                  <a:t>Experienced Master Chef</a:t>
                </a:r>
              </a:p>
            </p:txBody>
          </p:sp>
        </p:grpSp>
        <p:grpSp>
          <p:nvGrpSpPr>
            <p:cNvPr id="13" name="Group 12"/>
            <p:cNvGrpSpPr/>
            <p:nvPr/>
          </p:nvGrpSpPr>
          <p:grpSpPr>
            <a:xfrm>
              <a:off x="8963526" y="1522927"/>
              <a:ext cx="2293360" cy="838321"/>
              <a:chOff x="2516109" y="2878002"/>
              <a:chExt cx="2293360" cy="838321"/>
            </a:xfrm>
          </p:grpSpPr>
          <p:sp>
            <p:nvSpPr>
              <p:cNvPr id="42" name="Rounded Rectangle 41"/>
              <p:cNvSpPr/>
              <p:nvPr/>
            </p:nvSpPr>
            <p:spPr>
              <a:xfrm>
                <a:off x="2531568" y="2878002"/>
                <a:ext cx="2262446" cy="83832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43" name="TextBox 42"/>
              <p:cNvSpPr txBox="1"/>
              <p:nvPr/>
            </p:nvSpPr>
            <p:spPr>
              <a:xfrm>
                <a:off x="2516109" y="2985935"/>
                <a:ext cx="2293360" cy="523220"/>
              </a:xfrm>
              <a:prstGeom prst="rect">
                <a:avLst/>
              </a:prstGeom>
              <a:noFill/>
            </p:spPr>
            <p:txBody>
              <a:bodyPr wrap="square" rtlCol="0">
                <a:spAutoFit/>
              </a:bodyPr>
              <a:lstStyle/>
              <a:p>
                <a:pPr algn="ctr"/>
                <a:r>
                  <a:rPr lang="en-US" sz="1400" b="1" dirty="0">
                    <a:solidFill>
                      <a:srgbClr val="FF0000"/>
                    </a:solidFill>
                    <a:latin typeface="Bricolage Grotesque 14pt" panose="020B0605040402000204"/>
                  </a:rPr>
                  <a:t>Only franchise that lets you start your own brand</a:t>
                </a:r>
              </a:p>
            </p:txBody>
          </p:sp>
        </p:grpSp>
        <p:sp>
          <p:nvSpPr>
            <p:cNvPr id="45" name="TextBox 44"/>
            <p:cNvSpPr txBox="1"/>
            <p:nvPr/>
          </p:nvSpPr>
          <p:spPr>
            <a:xfrm>
              <a:off x="1104470" y="1630860"/>
              <a:ext cx="1826401" cy="523220"/>
            </a:xfrm>
            <a:prstGeom prst="rect">
              <a:avLst/>
            </a:prstGeom>
            <a:noFill/>
          </p:spPr>
          <p:txBody>
            <a:bodyPr wrap="none" rtlCol="0">
              <a:spAutoFit/>
            </a:bodyPr>
            <a:lstStyle/>
            <a:p>
              <a:pPr algn="ctr"/>
              <a:r>
                <a:rPr lang="en-US" sz="1400" b="1" dirty="0">
                  <a:solidFill>
                    <a:srgbClr val="F95050"/>
                  </a:solidFill>
                  <a:latin typeface="Bricolage Grotesque 14pt" panose="020B0605040402000204"/>
                </a:rPr>
                <a:t>Biggest Cloud Kitchen </a:t>
              </a:r>
            </a:p>
            <a:p>
              <a:pPr algn="ctr"/>
              <a:r>
                <a:rPr lang="en-US" sz="1400" b="1" dirty="0">
                  <a:solidFill>
                    <a:srgbClr val="F95050"/>
                  </a:solidFill>
                  <a:latin typeface="Bricolage Grotesque 14pt" panose="020B0605040402000204"/>
                </a:rPr>
                <a:t>Approx. 10000SqrFt</a:t>
              </a:r>
            </a:p>
          </p:txBody>
        </p:sp>
        <p:sp>
          <p:nvSpPr>
            <p:cNvPr id="9" name="TextBox 8">
              <a:extLst>
                <a:ext uri="{FF2B5EF4-FFF2-40B4-BE49-F238E27FC236}">
                  <a16:creationId xmlns:a16="http://schemas.microsoft.com/office/drawing/2014/main" id="{E6F20878-5EA8-D5F3-6D73-10A4D887C30E}"/>
                </a:ext>
              </a:extLst>
            </p:cNvPr>
            <p:cNvSpPr txBox="1"/>
            <p:nvPr/>
          </p:nvSpPr>
          <p:spPr>
            <a:xfrm>
              <a:off x="6299331" y="1461583"/>
              <a:ext cx="2128872" cy="861774"/>
            </a:xfrm>
            <a:prstGeom prst="rect">
              <a:avLst/>
            </a:prstGeom>
            <a:noFill/>
          </p:spPr>
          <p:txBody>
            <a:bodyPr wrap="none" rtlCol="0">
              <a:spAutoFit/>
            </a:bodyPr>
            <a:lstStyle/>
            <a:p>
              <a:pPr algn="ctr"/>
              <a:r>
                <a:rPr lang="en-US" sz="1400" b="1" dirty="0">
                  <a:solidFill>
                    <a:srgbClr val="F95050"/>
                  </a:solidFill>
                  <a:latin typeface="Calibri (Body)"/>
                </a:rPr>
                <a:t>24+ Brands Available in all</a:t>
              </a:r>
            </a:p>
            <a:p>
              <a:pPr marL="342900" indent="-342900" algn="ctr">
                <a:buFont typeface="Wingdings" panose="05000000000000000000" pitchFamily="2" charset="2"/>
                <a:buChar char="§"/>
              </a:pPr>
              <a:r>
                <a:rPr lang="en-US" sz="1200" b="1" kern="1600" spc="100" dirty="0">
                  <a:solidFill>
                    <a:srgbClr val="F95050"/>
                  </a:solidFill>
                  <a:latin typeface="Bricolage Grotesque 14pt" panose="020B0605040402000204" pitchFamily="34" charset="0"/>
                </a:rPr>
                <a:t>QSR </a:t>
              </a:r>
            </a:p>
            <a:p>
              <a:pPr marL="342900" indent="-342900" algn="ctr">
                <a:buFont typeface="Wingdings" panose="05000000000000000000" pitchFamily="2" charset="2"/>
                <a:buChar char="§"/>
              </a:pPr>
              <a:r>
                <a:rPr lang="en-US" sz="1200" b="1" kern="1600" spc="100" dirty="0">
                  <a:solidFill>
                    <a:srgbClr val="F95050"/>
                  </a:solidFill>
                  <a:latin typeface="Bricolage Grotesque 14pt" panose="020B0605040402000204" pitchFamily="34" charset="0"/>
                </a:rPr>
                <a:t>TROLLY</a:t>
              </a:r>
            </a:p>
            <a:p>
              <a:pPr marL="342900" indent="-342900" algn="ctr">
                <a:buFont typeface="Wingdings" panose="05000000000000000000" pitchFamily="2" charset="2"/>
                <a:buChar char="§"/>
              </a:pPr>
              <a:r>
                <a:rPr lang="en-US" sz="1200" b="1" kern="1600" spc="100" dirty="0">
                  <a:solidFill>
                    <a:srgbClr val="F95050"/>
                  </a:solidFill>
                  <a:latin typeface="Bricolage Grotesque 14pt" panose="020B0605040402000204" pitchFamily="34" charset="0"/>
                </a:rPr>
                <a:t>INTERNET KITCHEN</a:t>
              </a:r>
            </a:p>
          </p:txBody>
        </p:sp>
      </p:grpSp>
      <p:sp>
        <p:nvSpPr>
          <p:cNvPr id="6" name="Rectangle 5">
            <a:extLst>
              <a:ext uri="{FF2B5EF4-FFF2-40B4-BE49-F238E27FC236}">
                <a16:creationId xmlns:a16="http://schemas.microsoft.com/office/drawing/2014/main" id="{885FC6EF-4930-AF4E-777D-501E522B2C95}"/>
              </a:ext>
            </a:extLst>
          </p:cNvPr>
          <p:cNvSpPr/>
          <p:nvPr/>
        </p:nvSpPr>
        <p:spPr>
          <a:xfrm>
            <a:off x="0" y="3841865"/>
            <a:ext cx="12192000" cy="448680"/>
          </a:xfrm>
          <a:prstGeom prst="rect">
            <a:avLst/>
          </a:prstGeom>
          <a:noFill/>
          <a:ln>
            <a:solidFill>
              <a:srgbClr val="92D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Open Sans" panose="020B0606030504020204" pitchFamily="34" charset="0"/>
            </a:endParaRPr>
          </a:p>
        </p:txBody>
      </p:sp>
      <p:sp>
        <p:nvSpPr>
          <p:cNvPr id="5" name="TextBox 4">
            <a:extLst>
              <a:ext uri="{FF2B5EF4-FFF2-40B4-BE49-F238E27FC236}">
                <a16:creationId xmlns:a16="http://schemas.microsoft.com/office/drawing/2014/main" id="{4B1C45F8-40C5-657A-8F6A-87E23F35D73B}"/>
              </a:ext>
            </a:extLst>
          </p:cNvPr>
          <p:cNvSpPr txBox="1"/>
          <p:nvPr/>
        </p:nvSpPr>
        <p:spPr>
          <a:xfrm>
            <a:off x="3678861" y="227820"/>
            <a:ext cx="4834277" cy="707886"/>
          </a:xfrm>
          <a:prstGeom prst="rect">
            <a:avLst/>
          </a:prstGeom>
          <a:noFill/>
        </p:spPr>
        <p:txBody>
          <a:bodyPr wrap="square" rtlCol="0">
            <a:spAutoFit/>
          </a:bodyPr>
          <a:lstStyle/>
          <a:p>
            <a:pPr algn="ct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Why </a:t>
            </a: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Jagdai Foods?</a:t>
            </a:r>
          </a:p>
        </p:txBody>
      </p:sp>
      <p:sp>
        <p:nvSpPr>
          <p:cNvPr id="3" name="Right Triangle 2"/>
          <p:cNvSpPr/>
          <p:nvPr/>
        </p:nvSpPr>
        <p:spPr>
          <a:xfrm>
            <a:off x="0"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Triangle 29"/>
          <p:cNvSpPr/>
          <p:nvPr/>
        </p:nvSpPr>
        <p:spPr>
          <a:xfrm rot="-5400000">
            <a:off x="10396069"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122900" y="3920024"/>
            <a:ext cx="11946193" cy="338554"/>
          </a:xfrm>
          <a:prstGeom prst="rect">
            <a:avLst/>
          </a:prstGeom>
          <a:noFill/>
        </p:spPr>
        <p:txBody>
          <a:bodyPr wrap="square" rtlCol="0">
            <a:spAutoFit/>
          </a:bodyPr>
          <a:lstStyle/>
          <a:p>
            <a:pPr algn="ctr"/>
            <a:r>
              <a:rPr lang="en-US" sz="1600" b="1" i="1" dirty="0">
                <a:solidFill>
                  <a:schemeClr val="bg1"/>
                </a:solidFill>
                <a:latin typeface="Bricolage Grotesque 14pt" panose="020B0605040402000204" pitchFamily="34" charset="0"/>
              </a:rPr>
              <a:t>Exquisite taste and hygiene of five-star cuisine seamlessly blended with the </a:t>
            </a:r>
            <a:r>
              <a:rPr lang="en-US" sz="1600" b="1" i="1" dirty="0" err="1">
                <a:solidFill>
                  <a:schemeClr val="bg1"/>
                </a:solidFill>
                <a:latin typeface="Bricolage Grotesque 14pt" panose="020B0605040402000204" pitchFamily="34" charset="0"/>
              </a:rPr>
              <a:t>chataka</a:t>
            </a:r>
            <a:r>
              <a:rPr lang="en-US" sz="1600" b="1" i="1" dirty="0">
                <a:solidFill>
                  <a:schemeClr val="bg1"/>
                </a:solidFill>
                <a:latin typeface="Bricolage Grotesque 14pt" panose="020B0605040402000204" pitchFamily="34" charset="0"/>
              </a:rPr>
              <a:t> flavors, </a:t>
            </a:r>
            <a:r>
              <a:rPr lang="en-US" sz="1600" b="1" i="1" dirty="0">
                <a:solidFill>
                  <a:schemeClr val="bg1"/>
                </a:solidFill>
              </a:rPr>
              <a:t>availability and affordability of street  food!</a:t>
            </a:r>
            <a:endParaRPr lang="en-US" sz="2400" b="1" i="1" dirty="0">
              <a:solidFill>
                <a:schemeClr val="bg1"/>
              </a:solidFill>
              <a:latin typeface="Bricolage Grotesque 14pt" panose="020B0605040402000204" pitchFamily="34" charset="0"/>
            </a:endParaRPr>
          </a:p>
        </p:txBody>
      </p:sp>
      <p:grpSp>
        <p:nvGrpSpPr>
          <p:cNvPr id="29" name="Group 28"/>
          <p:cNvGrpSpPr/>
          <p:nvPr/>
        </p:nvGrpSpPr>
        <p:grpSpPr>
          <a:xfrm>
            <a:off x="926298" y="2773853"/>
            <a:ext cx="10425034" cy="1189634"/>
            <a:chOff x="744523" y="1516455"/>
            <a:chExt cx="10510664" cy="1189634"/>
          </a:xfrm>
        </p:grpSpPr>
        <p:grpSp>
          <p:nvGrpSpPr>
            <p:cNvPr id="32" name="Group 31"/>
            <p:cNvGrpSpPr/>
            <p:nvPr/>
          </p:nvGrpSpPr>
          <p:grpSpPr>
            <a:xfrm>
              <a:off x="744523" y="1536538"/>
              <a:ext cx="2262446" cy="1169551"/>
              <a:chOff x="498224" y="1608639"/>
              <a:chExt cx="2262446" cy="1169551"/>
            </a:xfrm>
          </p:grpSpPr>
          <p:sp>
            <p:nvSpPr>
              <p:cNvPr id="51" name="Rounded Rectangle 50"/>
              <p:cNvSpPr/>
              <p:nvPr/>
            </p:nvSpPr>
            <p:spPr>
              <a:xfrm>
                <a:off x="498224" y="1648858"/>
                <a:ext cx="2262446" cy="83832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2" name="TextBox 51"/>
              <p:cNvSpPr txBox="1"/>
              <p:nvPr/>
            </p:nvSpPr>
            <p:spPr>
              <a:xfrm>
                <a:off x="498224" y="1608639"/>
                <a:ext cx="2222460" cy="1169551"/>
              </a:xfrm>
              <a:prstGeom prst="rect">
                <a:avLst/>
              </a:prstGeom>
              <a:noFill/>
            </p:spPr>
            <p:txBody>
              <a:bodyPr wrap="square" rtlCol="0">
                <a:spAutoFit/>
              </a:bodyPr>
              <a:lstStyle/>
              <a:p>
                <a:pPr algn="ctr"/>
                <a:r>
                  <a:rPr lang="en-IN" sz="1400" b="1" i="0" u="none" strike="noStrike" dirty="0">
                    <a:solidFill>
                      <a:srgbClr val="F95050"/>
                    </a:solidFill>
                    <a:effectLst/>
                    <a:latin typeface="Bricolage Grotesque 14pt" panose="020B0605040402000204"/>
                  </a:rPr>
                  <a:t>Own 1 Franchise, but take orders for other 24 + brands + Zomato + Swiggy  </a:t>
                </a:r>
                <a:r>
                  <a:rPr lang="en-US" sz="1400" b="1" dirty="0">
                    <a:solidFill>
                      <a:srgbClr val="F95050"/>
                    </a:solidFill>
                    <a:latin typeface="Bricolage Grotesque 14pt" panose="020B0605040402000204"/>
                  </a:rPr>
                  <a:t>+ Bulk Orders</a:t>
                </a:r>
              </a:p>
              <a:p>
                <a:pPr algn="ctr"/>
                <a:endParaRPr lang="en-US" sz="1400" b="1" dirty="0">
                  <a:solidFill>
                    <a:srgbClr val="F95050"/>
                  </a:solidFill>
                  <a:latin typeface="Bricolage Grotesque 14pt" panose="020B0605040402000204" pitchFamily="34" charset="0"/>
                </a:endParaRPr>
              </a:p>
            </p:txBody>
          </p:sp>
        </p:grpSp>
        <p:grpSp>
          <p:nvGrpSpPr>
            <p:cNvPr id="33" name="Group 32"/>
            <p:cNvGrpSpPr/>
            <p:nvPr/>
          </p:nvGrpSpPr>
          <p:grpSpPr>
            <a:xfrm>
              <a:off x="8937230" y="1525544"/>
              <a:ext cx="2317957" cy="838321"/>
              <a:chOff x="2489813" y="2880619"/>
              <a:chExt cx="2317957" cy="838321"/>
            </a:xfrm>
          </p:grpSpPr>
          <p:sp>
            <p:nvSpPr>
              <p:cNvPr id="40" name="Rounded Rectangle 39"/>
              <p:cNvSpPr/>
              <p:nvPr/>
            </p:nvSpPr>
            <p:spPr>
              <a:xfrm>
                <a:off x="2545324" y="2880619"/>
                <a:ext cx="2262446" cy="83832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49" name="TextBox 48"/>
              <p:cNvSpPr txBox="1"/>
              <p:nvPr/>
            </p:nvSpPr>
            <p:spPr>
              <a:xfrm>
                <a:off x="2489813" y="2919846"/>
                <a:ext cx="2317957" cy="738664"/>
              </a:xfrm>
              <a:prstGeom prst="rect">
                <a:avLst/>
              </a:prstGeom>
              <a:noFill/>
            </p:spPr>
            <p:txBody>
              <a:bodyPr wrap="square" rtlCol="0">
                <a:spAutoFit/>
              </a:bodyPr>
              <a:lstStyle/>
              <a:p>
                <a:pPr algn="ctr"/>
                <a:r>
                  <a:rPr lang="en-US" sz="1400" b="1" dirty="0">
                    <a:solidFill>
                      <a:srgbClr val="F95050"/>
                    </a:solidFill>
                    <a:latin typeface="Bricolage Grotesque 14pt" panose="020B0605040402000204"/>
                  </a:rPr>
                  <a:t>Full operational Support and Training along with uniform food taste</a:t>
                </a:r>
              </a:p>
            </p:txBody>
          </p:sp>
        </p:grpSp>
        <p:grpSp>
          <p:nvGrpSpPr>
            <p:cNvPr id="34" name="Group 33"/>
            <p:cNvGrpSpPr/>
            <p:nvPr/>
          </p:nvGrpSpPr>
          <p:grpSpPr>
            <a:xfrm>
              <a:off x="3493929" y="1516455"/>
              <a:ext cx="2262446" cy="838321"/>
              <a:chOff x="5126567" y="1588556"/>
              <a:chExt cx="2262446" cy="838321"/>
            </a:xfrm>
          </p:grpSpPr>
          <p:sp>
            <p:nvSpPr>
              <p:cNvPr id="38" name="Rounded Rectangle 37"/>
              <p:cNvSpPr/>
              <p:nvPr/>
            </p:nvSpPr>
            <p:spPr>
              <a:xfrm>
                <a:off x="5126567" y="1588556"/>
                <a:ext cx="2262446" cy="83832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39" name="TextBox 38"/>
              <p:cNvSpPr txBox="1"/>
              <p:nvPr/>
            </p:nvSpPr>
            <p:spPr>
              <a:xfrm>
                <a:off x="5201094" y="1667336"/>
                <a:ext cx="2164028" cy="338554"/>
              </a:xfrm>
              <a:prstGeom prst="rect">
                <a:avLst/>
              </a:prstGeom>
              <a:noFill/>
            </p:spPr>
            <p:txBody>
              <a:bodyPr wrap="square" rtlCol="0">
                <a:spAutoFit/>
              </a:bodyPr>
              <a:lstStyle/>
              <a:p>
                <a:pPr algn="ctr"/>
                <a:endParaRPr lang="en-US" sz="1600" b="1" dirty="0">
                  <a:solidFill>
                    <a:srgbClr val="F95050"/>
                  </a:solidFill>
                  <a:latin typeface="Bricolage Grotesque 14pt" panose="020B0605040402000204" pitchFamily="34" charset="0"/>
                </a:endParaRPr>
              </a:p>
            </p:txBody>
          </p:sp>
        </p:grpSp>
        <p:sp>
          <p:nvSpPr>
            <p:cNvPr id="36" name="Rounded Rectangle 43">
              <a:extLst>
                <a:ext uri="{FF2B5EF4-FFF2-40B4-BE49-F238E27FC236}">
                  <a16:creationId xmlns:a16="http://schemas.microsoft.com/office/drawing/2014/main" id="{4EB71086-65A5-704F-569A-07F846E0F383}"/>
                </a:ext>
              </a:extLst>
            </p:cNvPr>
            <p:cNvSpPr/>
            <p:nvPr/>
          </p:nvSpPr>
          <p:spPr>
            <a:xfrm>
              <a:off x="6243335" y="1523855"/>
              <a:ext cx="2262446" cy="83832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grpSp>
      <p:sp>
        <p:nvSpPr>
          <p:cNvPr id="15" name="TextBox 14">
            <a:extLst>
              <a:ext uri="{FF2B5EF4-FFF2-40B4-BE49-F238E27FC236}">
                <a16:creationId xmlns:a16="http://schemas.microsoft.com/office/drawing/2014/main" id="{256BE455-64B5-57AE-24C3-1E4E4EC2DA79}"/>
              </a:ext>
            </a:extLst>
          </p:cNvPr>
          <p:cNvSpPr txBox="1"/>
          <p:nvPr/>
        </p:nvSpPr>
        <p:spPr>
          <a:xfrm>
            <a:off x="3692966" y="2846712"/>
            <a:ext cx="2180658" cy="738664"/>
          </a:xfrm>
          <a:prstGeom prst="rect">
            <a:avLst/>
          </a:prstGeom>
          <a:noFill/>
        </p:spPr>
        <p:txBody>
          <a:bodyPr wrap="square" rtlCol="0">
            <a:spAutoFit/>
          </a:bodyPr>
          <a:lstStyle/>
          <a:p>
            <a:pPr algn="ctr"/>
            <a:r>
              <a:rPr lang="en-US" sz="1400" b="1" dirty="0">
                <a:solidFill>
                  <a:srgbClr val="F95050"/>
                </a:solidFill>
                <a:latin typeface="Bricolage Grotesque 14pt" panose="020B0605040402000204"/>
              </a:rPr>
              <a:t>Additional Revenue by </a:t>
            </a:r>
          </a:p>
          <a:p>
            <a:pPr algn="ctr"/>
            <a:r>
              <a:rPr lang="en-US" sz="1400" b="1" dirty="0">
                <a:solidFill>
                  <a:srgbClr val="F95050"/>
                </a:solidFill>
                <a:latin typeface="Bricolage Grotesque 14pt" panose="020B0605040402000204"/>
              </a:rPr>
              <a:t>managing Food Supply for </a:t>
            </a:r>
          </a:p>
          <a:p>
            <a:pPr algn="ctr"/>
            <a:r>
              <a:rPr lang="en-US" sz="1400" b="1" dirty="0">
                <a:solidFill>
                  <a:srgbClr val="F95050"/>
                </a:solidFill>
                <a:latin typeface="Bricolage Grotesque 14pt" panose="020B0605040402000204"/>
              </a:rPr>
              <a:t>FT and IR Franchise</a:t>
            </a:r>
          </a:p>
        </p:txBody>
      </p:sp>
      <p:sp>
        <p:nvSpPr>
          <p:cNvPr id="8" name="TextBox 7">
            <a:extLst>
              <a:ext uri="{FF2B5EF4-FFF2-40B4-BE49-F238E27FC236}">
                <a16:creationId xmlns:a16="http://schemas.microsoft.com/office/drawing/2014/main" id="{8141EBE0-3586-16A6-63C7-9F6E51A172C9}"/>
              </a:ext>
            </a:extLst>
          </p:cNvPr>
          <p:cNvSpPr txBox="1"/>
          <p:nvPr/>
        </p:nvSpPr>
        <p:spPr>
          <a:xfrm>
            <a:off x="1037301" y="924191"/>
            <a:ext cx="10117393" cy="338554"/>
          </a:xfrm>
          <a:prstGeom prst="rect">
            <a:avLst/>
          </a:prstGeom>
          <a:noFill/>
        </p:spPr>
        <p:txBody>
          <a:bodyPr wrap="square">
            <a:spAutoFit/>
          </a:bodyPr>
          <a:lstStyle/>
          <a:p>
            <a:pPr algn="ctr"/>
            <a:r>
              <a:rPr lang="en-US" sz="1600" b="1" i="1" dirty="0">
                <a:solidFill>
                  <a:srgbClr val="16DB65"/>
                </a:solidFill>
                <a:latin typeface="Poppins SemiBold" panose="00000700000000000000" pitchFamily="2" charset="0"/>
                <a:ea typeface="Roboto" panose="02000000000000000000" pitchFamily="2" charset="0"/>
                <a:cs typeface="Poppins SemiBold" panose="00000700000000000000" pitchFamily="2" charset="0"/>
              </a:rPr>
              <a:t>Our Franchise is not Just a Normal One Food Outlet, It's full Food Business </a:t>
            </a:r>
          </a:p>
        </p:txBody>
      </p:sp>
      <p:grpSp>
        <p:nvGrpSpPr>
          <p:cNvPr id="10" name="Group 9">
            <a:extLst>
              <a:ext uri="{FF2B5EF4-FFF2-40B4-BE49-F238E27FC236}">
                <a16:creationId xmlns:a16="http://schemas.microsoft.com/office/drawing/2014/main" id="{118B4180-54CF-3767-C120-3E40E05D867E}"/>
              </a:ext>
            </a:extLst>
          </p:cNvPr>
          <p:cNvGrpSpPr/>
          <p:nvPr/>
        </p:nvGrpSpPr>
        <p:grpSpPr>
          <a:xfrm>
            <a:off x="0" y="4443849"/>
            <a:ext cx="12191999" cy="1599390"/>
            <a:chOff x="325946" y="780323"/>
            <a:chExt cx="12161712" cy="1599390"/>
          </a:xfrm>
        </p:grpSpPr>
        <p:sp>
          <p:nvSpPr>
            <p:cNvPr id="19" name="Rounded Rectangle 41">
              <a:extLst>
                <a:ext uri="{FF2B5EF4-FFF2-40B4-BE49-F238E27FC236}">
                  <a16:creationId xmlns:a16="http://schemas.microsoft.com/office/drawing/2014/main" id="{BAA357F0-1DBE-5A12-D977-370768DB8368}"/>
                </a:ext>
              </a:extLst>
            </p:cNvPr>
            <p:cNvSpPr/>
            <p:nvPr/>
          </p:nvSpPr>
          <p:spPr>
            <a:xfrm>
              <a:off x="1460949" y="1352537"/>
              <a:ext cx="2262446" cy="1027176"/>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endParaRPr lang="en-US" sz="1400" dirty="0">
                <a:solidFill>
                  <a:srgbClr val="FF0000"/>
                </a:solidFill>
              </a:endParaRPr>
            </a:p>
            <a:p>
              <a:endParaRPr lang="en-US" sz="1400" dirty="0">
                <a:solidFill>
                  <a:srgbClr val="FF0000"/>
                </a:solidFill>
              </a:endParaRPr>
            </a:p>
            <a:p>
              <a:endParaRPr lang="en-US" sz="1400" dirty="0">
                <a:solidFill>
                  <a:srgbClr val="FF0000"/>
                </a:solidFill>
              </a:endParaRPr>
            </a:p>
            <a:p>
              <a:pPr algn="ctr"/>
              <a:r>
                <a:rPr lang="en-US" sz="1400" b="1" dirty="0">
                  <a:solidFill>
                    <a:srgbClr val="FF0000"/>
                  </a:solidFill>
                  <a:latin typeface="Bricolage Grotesque 14pt" panose="020B0605040402000204"/>
                </a:rPr>
                <a:t>Fresh food QSR Chain </a:t>
              </a:r>
              <a:r>
                <a:rPr lang="en-US" sz="1200" b="1" dirty="0">
                  <a:solidFill>
                    <a:srgbClr val="FF0000"/>
                  </a:solidFill>
                  <a:latin typeface="Bricolage Grotesque 14pt" panose="020B0605040402000204"/>
                </a:rPr>
                <a:t>(Most of the QSR provides frozen food but we make fresh food in out QSR)</a:t>
              </a:r>
            </a:p>
            <a:p>
              <a:pPr marL="285750" indent="-285750" algn="ctr">
                <a:buFont typeface="Arial" panose="020B0604020202020204" pitchFamily="34" charset="0"/>
                <a:buChar char="•"/>
              </a:pPr>
              <a:endParaRPr lang="en-US" sz="1400" b="1" dirty="0">
                <a:solidFill>
                  <a:srgbClr val="FF0000"/>
                </a:solidFill>
                <a:latin typeface="Bricolage Grotesque 14pt" panose="020B0605040402000204"/>
              </a:endParaRPr>
            </a:p>
            <a:p>
              <a:pPr algn="ctr"/>
              <a:endParaRPr lang="en-US" dirty="0"/>
            </a:p>
          </p:txBody>
        </p:sp>
        <p:sp>
          <p:nvSpPr>
            <p:cNvPr id="17" name="TextBox 16">
              <a:extLst>
                <a:ext uri="{FF2B5EF4-FFF2-40B4-BE49-F238E27FC236}">
                  <a16:creationId xmlns:a16="http://schemas.microsoft.com/office/drawing/2014/main" id="{F0682D09-9CCD-1AB3-B56B-07F7B9F06DF1}"/>
                </a:ext>
              </a:extLst>
            </p:cNvPr>
            <p:cNvSpPr txBox="1"/>
            <p:nvPr/>
          </p:nvSpPr>
          <p:spPr>
            <a:xfrm>
              <a:off x="325946" y="780323"/>
              <a:ext cx="12161712" cy="307777"/>
            </a:xfrm>
            <a:prstGeom prst="rect">
              <a:avLst/>
            </a:prstGeom>
            <a:noFill/>
          </p:spPr>
          <p:txBody>
            <a:bodyPr wrap="square" rtlCol="0">
              <a:spAutoFit/>
            </a:bodyPr>
            <a:lstStyle/>
            <a:p>
              <a:r>
                <a:rPr lang="en-US" sz="1400" dirty="0">
                  <a:solidFill>
                    <a:srgbClr val="FF0000"/>
                  </a:solidFill>
                </a:rPr>
                <a:t>        We use only stainless steel equipment in the kitchen because aluminum can react with acidic or alkaline foods, altering the flavor and leaving a metallic taste</a:t>
              </a:r>
              <a:r>
                <a:rPr lang="en-US" sz="1200" dirty="0"/>
                <a:t>.</a:t>
              </a:r>
              <a:endParaRPr lang="en-US" sz="1200" b="1" dirty="0">
                <a:solidFill>
                  <a:srgbClr val="FF0000"/>
                </a:solidFill>
              </a:endParaRPr>
            </a:p>
          </p:txBody>
        </p:sp>
      </p:grpSp>
      <p:sp>
        <p:nvSpPr>
          <p:cNvPr id="23" name="Rectangle 22">
            <a:extLst>
              <a:ext uri="{FF2B5EF4-FFF2-40B4-BE49-F238E27FC236}">
                <a16:creationId xmlns:a16="http://schemas.microsoft.com/office/drawing/2014/main" id="{C7202992-1D74-0A32-96AF-A3B77BE80F01}"/>
              </a:ext>
            </a:extLst>
          </p:cNvPr>
          <p:cNvSpPr/>
          <p:nvPr/>
        </p:nvSpPr>
        <p:spPr>
          <a:xfrm>
            <a:off x="1" y="4396510"/>
            <a:ext cx="12192000" cy="448680"/>
          </a:xfrm>
          <a:prstGeom prst="rect">
            <a:avLst/>
          </a:prstGeom>
          <a:noFill/>
          <a:ln>
            <a:solidFill>
              <a:srgbClr val="92D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Open Sans" panose="020B0606030504020204" pitchFamily="34" charset="0"/>
            </a:endParaRPr>
          </a:p>
        </p:txBody>
      </p:sp>
      <p:sp>
        <p:nvSpPr>
          <p:cNvPr id="24" name="Rounded Rectangle 41">
            <a:extLst>
              <a:ext uri="{FF2B5EF4-FFF2-40B4-BE49-F238E27FC236}">
                <a16:creationId xmlns:a16="http://schemas.microsoft.com/office/drawing/2014/main" id="{0D302632-AF53-65EC-BA80-59BE66C9874A}"/>
              </a:ext>
            </a:extLst>
          </p:cNvPr>
          <p:cNvSpPr/>
          <p:nvPr/>
        </p:nvSpPr>
        <p:spPr>
          <a:xfrm>
            <a:off x="8703170" y="5016063"/>
            <a:ext cx="2268080" cy="1027176"/>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sz="1400" b="1" dirty="0">
                <a:solidFill>
                  <a:srgbClr val="FF0000"/>
                </a:solidFill>
                <a:latin typeface="Bricolage Grotesque 14pt" panose="020B0605040402000204"/>
              </a:rPr>
              <a:t>Centralized Chef </a:t>
            </a:r>
          </a:p>
          <a:p>
            <a:pPr algn="ctr"/>
            <a:r>
              <a:rPr lang="en-US" sz="1200" b="1" dirty="0">
                <a:solidFill>
                  <a:srgbClr val="FF0000"/>
                </a:solidFill>
                <a:latin typeface="Bricolage Grotesque 14pt" panose="020B0605040402000204"/>
              </a:rPr>
              <a:t>(A five-star restaurant chef who brings the flavors of street food to life)</a:t>
            </a:r>
          </a:p>
        </p:txBody>
      </p:sp>
      <p:sp>
        <p:nvSpPr>
          <p:cNvPr id="25" name="Rounded Rectangle 41">
            <a:extLst>
              <a:ext uri="{FF2B5EF4-FFF2-40B4-BE49-F238E27FC236}">
                <a16:creationId xmlns:a16="http://schemas.microsoft.com/office/drawing/2014/main" id="{CEA19C01-C8CF-FED0-4AEA-EE0C14E913D4}"/>
              </a:ext>
            </a:extLst>
          </p:cNvPr>
          <p:cNvSpPr/>
          <p:nvPr/>
        </p:nvSpPr>
        <p:spPr>
          <a:xfrm>
            <a:off x="6198068" y="5020954"/>
            <a:ext cx="2268080" cy="1027176"/>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sz="1400" b="1" dirty="0">
                <a:solidFill>
                  <a:srgbClr val="FF0000"/>
                </a:solidFill>
              </a:rPr>
              <a:t>We have top-of-the-line kitchen equipment in our central kitchen.</a:t>
            </a:r>
          </a:p>
        </p:txBody>
      </p:sp>
      <p:sp>
        <p:nvSpPr>
          <p:cNvPr id="27" name="Rounded Rectangle 41">
            <a:extLst>
              <a:ext uri="{FF2B5EF4-FFF2-40B4-BE49-F238E27FC236}">
                <a16:creationId xmlns:a16="http://schemas.microsoft.com/office/drawing/2014/main" id="{0DB19EC7-DF3C-E315-BAA2-F962C9270BAC}"/>
              </a:ext>
            </a:extLst>
          </p:cNvPr>
          <p:cNvSpPr/>
          <p:nvPr/>
        </p:nvSpPr>
        <p:spPr>
          <a:xfrm>
            <a:off x="3678215" y="5016063"/>
            <a:ext cx="2268080" cy="1027176"/>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sz="1400" b="1" dirty="0">
                <a:solidFill>
                  <a:srgbClr val="FF0000"/>
                </a:solidFill>
              </a:rPr>
              <a:t>Hygiene standards are maintained in our central kitchen.</a:t>
            </a:r>
          </a:p>
        </p:txBody>
      </p:sp>
      <p:sp>
        <p:nvSpPr>
          <p:cNvPr id="28" name="TextBox 27">
            <a:extLst>
              <a:ext uri="{FF2B5EF4-FFF2-40B4-BE49-F238E27FC236}">
                <a16:creationId xmlns:a16="http://schemas.microsoft.com/office/drawing/2014/main" id="{0320D23E-FA8F-A4A7-09BD-9C1B2B2552D7}"/>
              </a:ext>
            </a:extLst>
          </p:cNvPr>
          <p:cNvSpPr txBox="1"/>
          <p:nvPr/>
        </p:nvSpPr>
        <p:spPr>
          <a:xfrm>
            <a:off x="6301557" y="2834155"/>
            <a:ext cx="2365547" cy="769441"/>
          </a:xfrm>
          <a:prstGeom prst="rect">
            <a:avLst/>
          </a:prstGeom>
          <a:noFill/>
        </p:spPr>
        <p:txBody>
          <a:bodyPr wrap="square" rtlCol="0">
            <a:spAutoFit/>
          </a:bodyPr>
          <a:lstStyle/>
          <a:p>
            <a:pPr algn="ctr"/>
            <a:r>
              <a:rPr lang="en-US" sz="1100" b="1" dirty="0">
                <a:solidFill>
                  <a:srgbClr val="FF0000"/>
                </a:solidFill>
                <a:latin typeface="Bricolage Grotesque 14pt" panose="020B0605040402000204"/>
              </a:rPr>
              <a:t>You will represent </a:t>
            </a:r>
            <a:r>
              <a:rPr lang="en-US" sz="1100" b="1" dirty="0" err="1">
                <a:solidFill>
                  <a:srgbClr val="FF0000"/>
                </a:solidFill>
                <a:latin typeface="Bricolage Grotesque 14pt" panose="020B0605040402000204"/>
              </a:rPr>
              <a:t>Jagdai</a:t>
            </a:r>
            <a:r>
              <a:rPr lang="en-US" sz="1100" b="1" dirty="0">
                <a:solidFill>
                  <a:srgbClr val="FF0000"/>
                </a:solidFill>
                <a:latin typeface="Bricolage Grotesque 14pt" panose="020B0605040402000204"/>
              </a:rPr>
              <a:t> Foods and can sell its franchise and earn too. Sell franchises and get 3% royalty and 25% upfront franchise fee </a:t>
            </a:r>
          </a:p>
        </p:txBody>
      </p:sp>
    </p:spTree>
    <p:extLst>
      <p:ext uri="{BB962C8B-B14F-4D97-AF65-F5344CB8AC3E}">
        <p14:creationId xmlns:p14="http://schemas.microsoft.com/office/powerpoint/2010/main" val="1754785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1000"/>
                                        <p:tgtEl>
                                          <p:spTgt spid="29"/>
                                        </p:tgtEl>
                                      </p:cBhvr>
                                    </p:animEffect>
                                    <p:anim calcmode="lin" valueType="num">
                                      <p:cBhvr>
                                        <p:cTn id="33" dur="1000" fill="hold"/>
                                        <p:tgtEl>
                                          <p:spTgt spid="29"/>
                                        </p:tgtEl>
                                        <p:attrNameLst>
                                          <p:attrName>ppt_x</p:attrName>
                                        </p:attrNameLst>
                                      </p:cBhvr>
                                      <p:tavLst>
                                        <p:tav tm="0">
                                          <p:val>
                                            <p:strVal val="#ppt_x"/>
                                          </p:val>
                                        </p:tav>
                                        <p:tav tm="100000">
                                          <p:val>
                                            <p:strVal val="#ppt_x"/>
                                          </p:val>
                                        </p:tav>
                                      </p:tavLst>
                                    </p:anim>
                                    <p:anim calcmode="lin" valueType="num">
                                      <p:cBhvr>
                                        <p:cTn id="34" dur="1000" fill="hold"/>
                                        <p:tgtEl>
                                          <p:spTgt spid="2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1000"/>
                                        <p:tgtEl>
                                          <p:spTgt spid="28"/>
                                        </p:tgtEl>
                                      </p:cBhvr>
                                    </p:animEffect>
                                    <p:anim calcmode="lin" valueType="num">
                                      <p:cBhvr>
                                        <p:cTn id="38" dur="1000" fill="hold"/>
                                        <p:tgtEl>
                                          <p:spTgt spid="28"/>
                                        </p:tgtEl>
                                        <p:attrNameLst>
                                          <p:attrName>ppt_x</p:attrName>
                                        </p:attrNameLst>
                                      </p:cBhvr>
                                      <p:tavLst>
                                        <p:tav tm="0">
                                          <p:val>
                                            <p:strVal val="#ppt_x"/>
                                          </p:val>
                                        </p:tav>
                                        <p:tav tm="100000">
                                          <p:val>
                                            <p:strVal val="#ppt_x"/>
                                          </p:val>
                                        </p:tav>
                                      </p:tavLst>
                                    </p:anim>
                                    <p:anim calcmode="lin" valueType="num">
                                      <p:cBhvr>
                                        <p:cTn id="39" dur="1000" fill="hold"/>
                                        <p:tgtEl>
                                          <p:spTgt spid="2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additive="base">
                                        <p:cTn id="49" dur="500" fill="hold"/>
                                        <p:tgtEl>
                                          <p:spTgt spid="6"/>
                                        </p:tgtEl>
                                        <p:attrNameLst>
                                          <p:attrName>ppt_x</p:attrName>
                                        </p:attrNameLst>
                                      </p:cBhvr>
                                      <p:tavLst>
                                        <p:tav tm="0">
                                          <p:val>
                                            <p:strVal val="#ppt_x"/>
                                          </p:val>
                                        </p:tav>
                                        <p:tav tm="100000">
                                          <p:val>
                                            <p:strVal val="#ppt_x"/>
                                          </p:val>
                                        </p:tav>
                                      </p:tavLst>
                                    </p:anim>
                                    <p:anim calcmode="lin" valueType="num">
                                      <p:cBhvr additive="base">
                                        <p:cTn id="50" dur="500" fill="hold"/>
                                        <p:tgtEl>
                                          <p:spTgt spid="6"/>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additive="base">
                                        <p:cTn id="53" dur="500" fill="hold"/>
                                        <p:tgtEl>
                                          <p:spTgt spid="26"/>
                                        </p:tgtEl>
                                        <p:attrNameLst>
                                          <p:attrName>ppt_x</p:attrName>
                                        </p:attrNameLst>
                                      </p:cBhvr>
                                      <p:tavLst>
                                        <p:tav tm="0">
                                          <p:val>
                                            <p:strVal val="#ppt_x"/>
                                          </p:val>
                                        </p:tav>
                                        <p:tav tm="100000">
                                          <p:val>
                                            <p:strVal val="#ppt_x"/>
                                          </p:val>
                                        </p:tav>
                                      </p:tavLst>
                                    </p:anim>
                                    <p:anim calcmode="lin" valueType="num">
                                      <p:cBhvr additive="base">
                                        <p:cTn id="5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1000"/>
                                        <p:tgtEl>
                                          <p:spTgt spid="10"/>
                                        </p:tgtEl>
                                      </p:cBhvr>
                                    </p:animEffect>
                                    <p:anim calcmode="lin" valueType="num">
                                      <p:cBhvr>
                                        <p:cTn id="60" dur="1000" fill="hold"/>
                                        <p:tgtEl>
                                          <p:spTgt spid="10"/>
                                        </p:tgtEl>
                                        <p:attrNameLst>
                                          <p:attrName>ppt_x</p:attrName>
                                        </p:attrNameLst>
                                      </p:cBhvr>
                                      <p:tavLst>
                                        <p:tav tm="0">
                                          <p:val>
                                            <p:strVal val="#ppt_x"/>
                                          </p:val>
                                        </p:tav>
                                        <p:tav tm="100000">
                                          <p:val>
                                            <p:strVal val="#ppt_x"/>
                                          </p:val>
                                        </p:tav>
                                      </p:tavLst>
                                    </p:anim>
                                    <p:anim calcmode="lin" valueType="num">
                                      <p:cBhvr>
                                        <p:cTn id="61" dur="1000" fill="hold"/>
                                        <p:tgtEl>
                                          <p:spTgt spid="10"/>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1000"/>
                                        <p:tgtEl>
                                          <p:spTgt spid="23"/>
                                        </p:tgtEl>
                                      </p:cBhvr>
                                    </p:animEffect>
                                    <p:anim calcmode="lin" valueType="num">
                                      <p:cBhvr>
                                        <p:cTn id="65" dur="1000" fill="hold"/>
                                        <p:tgtEl>
                                          <p:spTgt spid="23"/>
                                        </p:tgtEl>
                                        <p:attrNameLst>
                                          <p:attrName>ppt_x</p:attrName>
                                        </p:attrNameLst>
                                      </p:cBhvr>
                                      <p:tavLst>
                                        <p:tav tm="0">
                                          <p:val>
                                            <p:strVal val="#ppt_x"/>
                                          </p:val>
                                        </p:tav>
                                        <p:tav tm="100000">
                                          <p:val>
                                            <p:strVal val="#ppt_x"/>
                                          </p:val>
                                        </p:tav>
                                      </p:tavLst>
                                    </p:anim>
                                    <p:anim calcmode="lin" valueType="num">
                                      <p:cBhvr>
                                        <p:cTn id="66" dur="1000" fill="hold"/>
                                        <p:tgtEl>
                                          <p:spTgt spid="23"/>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1000"/>
                                        <p:tgtEl>
                                          <p:spTgt spid="27"/>
                                        </p:tgtEl>
                                      </p:cBhvr>
                                    </p:animEffect>
                                    <p:anim calcmode="lin" valueType="num">
                                      <p:cBhvr>
                                        <p:cTn id="70" dur="1000" fill="hold"/>
                                        <p:tgtEl>
                                          <p:spTgt spid="27"/>
                                        </p:tgtEl>
                                        <p:attrNameLst>
                                          <p:attrName>ppt_x</p:attrName>
                                        </p:attrNameLst>
                                      </p:cBhvr>
                                      <p:tavLst>
                                        <p:tav tm="0">
                                          <p:val>
                                            <p:strVal val="#ppt_x"/>
                                          </p:val>
                                        </p:tav>
                                        <p:tav tm="100000">
                                          <p:val>
                                            <p:strVal val="#ppt_x"/>
                                          </p:val>
                                        </p:tav>
                                      </p:tavLst>
                                    </p:anim>
                                    <p:anim calcmode="lin" valueType="num">
                                      <p:cBhvr>
                                        <p:cTn id="71" dur="1000" fill="hold"/>
                                        <p:tgtEl>
                                          <p:spTgt spid="27"/>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1000"/>
                                        <p:tgtEl>
                                          <p:spTgt spid="25"/>
                                        </p:tgtEl>
                                      </p:cBhvr>
                                    </p:animEffect>
                                    <p:anim calcmode="lin" valueType="num">
                                      <p:cBhvr>
                                        <p:cTn id="75" dur="1000" fill="hold"/>
                                        <p:tgtEl>
                                          <p:spTgt spid="25"/>
                                        </p:tgtEl>
                                        <p:attrNameLst>
                                          <p:attrName>ppt_x</p:attrName>
                                        </p:attrNameLst>
                                      </p:cBhvr>
                                      <p:tavLst>
                                        <p:tav tm="0">
                                          <p:val>
                                            <p:strVal val="#ppt_x"/>
                                          </p:val>
                                        </p:tav>
                                        <p:tav tm="100000">
                                          <p:val>
                                            <p:strVal val="#ppt_x"/>
                                          </p:val>
                                        </p:tav>
                                      </p:tavLst>
                                    </p:anim>
                                    <p:anim calcmode="lin" valueType="num">
                                      <p:cBhvr>
                                        <p:cTn id="76" dur="1000" fill="hold"/>
                                        <p:tgtEl>
                                          <p:spTgt spid="25"/>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1000"/>
                                        <p:tgtEl>
                                          <p:spTgt spid="24"/>
                                        </p:tgtEl>
                                      </p:cBhvr>
                                    </p:animEffect>
                                    <p:anim calcmode="lin" valueType="num">
                                      <p:cBhvr>
                                        <p:cTn id="80" dur="1000" fill="hold"/>
                                        <p:tgtEl>
                                          <p:spTgt spid="24"/>
                                        </p:tgtEl>
                                        <p:attrNameLst>
                                          <p:attrName>ppt_x</p:attrName>
                                        </p:attrNameLst>
                                      </p:cBhvr>
                                      <p:tavLst>
                                        <p:tav tm="0">
                                          <p:val>
                                            <p:strVal val="#ppt_x"/>
                                          </p:val>
                                        </p:tav>
                                        <p:tav tm="100000">
                                          <p:val>
                                            <p:strVal val="#ppt_x"/>
                                          </p:val>
                                        </p:tav>
                                      </p:tavLst>
                                    </p:anim>
                                    <p:anim calcmode="lin" valueType="num">
                                      <p:cBhvr>
                                        <p:cTn id="8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7" grpId="0" animBg="1"/>
      <p:bldP spid="6" grpId="0" animBg="1"/>
      <p:bldP spid="5" grpId="0"/>
      <p:bldP spid="26" grpId="0"/>
      <p:bldP spid="15" grpId="0"/>
      <p:bldP spid="8" grpId="0"/>
      <p:bldP spid="23" grpId="0" animBg="1"/>
      <p:bldP spid="24" grpId="0" animBg="1"/>
      <p:bldP spid="25" grpId="0" animBg="1"/>
      <p:bldP spid="27" grpId="0" animBg="1"/>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1C45F8-40C5-657A-8F6A-87E23F35D73B}"/>
              </a:ext>
            </a:extLst>
          </p:cNvPr>
          <p:cNvSpPr txBox="1"/>
          <p:nvPr/>
        </p:nvSpPr>
        <p:spPr>
          <a:xfrm>
            <a:off x="897968" y="444267"/>
            <a:ext cx="10396066" cy="631711"/>
          </a:xfrm>
          <a:prstGeom prst="rect">
            <a:avLst/>
          </a:prstGeom>
          <a:noFill/>
        </p:spPr>
        <p:txBody>
          <a:bodyPr wrap="square" rtlCol="0">
            <a:spAutoFit/>
          </a:bodyPr>
          <a:lstStyle/>
          <a:p>
            <a:pPr marL="0" marR="0" lvl="0" indent="0" algn="ctr" defTabSz="914400" rtl="0" eaLnBrk="1" fontAlgn="auto" latinLnBrk="0" hangingPunct="1">
              <a:lnSpc>
                <a:spcPts val="42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Bricolage Grotesque 14pt" panose="020B0605040402000204" pitchFamily="34" charset="0"/>
                <a:ea typeface="Roboto" panose="02000000000000000000" pitchFamily="2" charset="0"/>
                <a:cs typeface="Heebo" pitchFamily="2" charset="-79"/>
              </a:rPr>
              <a:t>USP of our Franchise</a:t>
            </a:r>
            <a:endParaRPr kumimoji="0" lang="en-US" sz="4000" b="1" i="0" u="none" strike="noStrike" kern="1200" cap="none" spc="0" normalizeH="0" baseline="0" noProof="0" dirty="0">
              <a:ln>
                <a:noFill/>
              </a:ln>
              <a:solidFill>
                <a:srgbClr val="FF0000"/>
              </a:solidFill>
              <a:effectLst/>
              <a:uLnTx/>
              <a:uFillTx/>
              <a:latin typeface="Bricolage Grotesque 14pt" panose="020B0605040402000204" pitchFamily="34" charset="0"/>
              <a:ea typeface="Roboto" panose="02000000000000000000" pitchFamily="2" charset="0"/>
              <a:cs typeface="Heebo" pitchFamily="2" charset="-79"/>
            </a:endParaRPr>
          </a:p>
        </p:txBody>
      </p:sp>
      <p:sp>
        <p:nvSpPr>
          <p:cNvPr id="2" name="TextBox 1">
            <a:extLst>
              <a:ext uri="{FF2B5EF4-FFF2-40B4-BE49-F238E27FC236}">
                <a16:creationId xmlns:a16="http://schemas.microsoft.com/office/drawing/2014/main" id="{25243419-C19D-988E-E016-097D724FA0DA}"/>
              </a:ext>
            </a:extLst>
          </p:cNvPr>
          <p:cNvSpPr txBox="1"/>
          <p:nvPr/>
        </p:nvSpPr>
        <p:spPr>
          <a:xfrm>
            <a:off x="297427" y="1511067"/>
            <a:ext cx="11597145" cy="3263842"/>
          </a:xfrm>
          <a:prstGeom prst="rect">
            <a:avLst/>
          </a:prstGeom>
          <a:noFill/>
        </p:spPr>
        <p:txBody>
          <a:bodyPr wrap="square" rtlCol="0">
            <a:spAutoFit/>
          </a:bodyPr>
          <a:lstStyle/>
          <a:p>
            <a:pPr marL="0" marR="0" lvl="0" indent="0" algn="ctr" defTabSz="914400" rtl="0" eaLnBrk="1" fontAlgn="auto" latinLnBrk="0" hangingPunct="1">
              <a:lnSpc>
                <a:spcPts val="4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00"/>
                </a:solidFill>
                <a:effectLst/>
                <a:uLnTx/>
                <a:uFillTx/>
                <a:latin typeface="Bricolage Grotesque 14pt" panose="020B0605040402000204"/>
              </a:rPr>
              <a:t>The unique selling point of our franchise lies in offering the following revenue opportunities: </a:t>
            </a:r>
          </a:p>
          <a:p>
            <a:pPr marL="342900" marR="0" lvl="0" indent="-342900" algn="l" defTabSz="914400" rtl="0" eaLnBrk="1" fontAlgn="auto" latinLnBrk="0" hangingPunct="1">
              <a:lnSpc>
                <a:spcPts val="42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white"/>
                </a:solidFill>
                <a:effectLst/>
                <a:uLnTx/>
                <a:uFillTx/>
                <a:latin typeface="Bricolage Grotesque 14pt" panose="020B0605040402000204"/>
              </a:rPr>
              <a:t>Additional Revenue by managing Food Supply for Food Trolley and Internet Restaurant Franchise</a:t>
            </a:r>
          </a:p>
          <a:p>
            <a:pPr marL="342900" marR="0" lvl="0" indent="-342900" algn="l" defTabSz="914400" rtl="0" eaLnBrk="1" fontAlgn="auto" latinLnBrk="0" hangingPunct="1">
              <a:lnSpc>
                <a:spcPts val="42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white"/>
                </a:solidFill>
                <a:effectLst/>
                <a:uLnTx/>
                <a:uFillTx/>
                <a:latin typeface="Bricolage Grotesque 14pt" panose="020B0605040402000204"/>
              </a:rPr>
              <a:t>10% royalty on Billing of trolleys, 10% royalty on Billing of Internet Restaurant </a:t>
            </a:r>
          </a:p>
          <a:p>
            <a:pPr marL="342900" marR="0" lvl="0" indent="-342900" algn="l" defTabSz="914400" rtl="0" eaLnBrk="1" fontAlgn="auto" latinLnBrk="0" hangingPunct="1">
              <a:lnSpc>
                <a:spcPts val="42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white"/>
                </a:solidFill>
                <a:effectLst/>
                <a:uLnTx/>
                <a:uFillTx/>
                <a:latin typeface="Bricolage Grotesque 14pt" panose="020B0605040402000204"/>
              </a:rPr>
              <a:t>10% royalty on Tiffin service bookings </a:t>
            </a:r>
          </a:p>
          <a:p>
            <a:pPr marL="342900" marR="0" lvl="0" indent="-342900" algn="l" defTabSz="914400" rtl="0" eaLnBrk="1" fontAlgn="auto" latinLnBrk="0" hangingPunct="1">
              <a:lnSpc>
                <a:spcPts val="42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white"/>
                </a:solidFill>
                <a:effectLst/>
                <a:uLnTx/>
                <a:uFillTx/>
                <a:latin typeface="Bricolage Grotesque 14pt" panose="020B0605040402000204"/>
              </a:rPr>
              <a:t>10% royalty on selling of Spices and gravy base </a:t>
            </a:r>
          </a:p>
          <a:p>
            <a:pPr marL="342900" marR="0" lvl="0" indent="-342900" algn="l" defTabSz="914400" rtl="0" eaLnBrk="1" fontAlgn="auto" latinLnBrk="0" hangingPunct="1">
              <a:lnSpc>
                <a:spcPts val="42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white"/>
                </a:solidFill>
                <a:effectLst/>
                <a:uLnTx/>
                <a:uFillTx/>
                <a:latin typeface="Bricolage Grotesque 14pt" panose="020B0605040402000204"/>
              </a:rPr>
              <a:t>Free </a:t>
            </a:r>
            <a:r>
              <a:rPr kumimoji="0" lang="en-US" sz="2200" b="0" i="0" u="none" strike="noStrike" kern="1200" cap="none" spc="0" normalizeH="0" baseline="0" noProof="0" dirty="0" err="1">
                <a:ln>
                  <a:noFill/>
                </a:ln>
                <a:solidFill>
                  <a:prstClr val="white"/>
                </a:solidFill>
                <a:effectLst/>
                <a:uLnTx/>
                <a:uFillTx/>
                <a:latin typeface="Bricolage Grotesque 14pt" panose="020B0605040402000204"/>
              </a:rPr>
              <a:t>CashAqua</a:t>
            </a:r>
            <a:r>
              <a:rPr kumimoji="0" lang="en-US" sz="2200" b="0" i="0" u="none" strike="noStrike" kern="1200" cap="none" spc="0" normalizeH="0" baseline="0" noProof="0" dirty="0">
                <a:ln>
                  <a:noFill/>
                </a:ln>
                <a:solidFill>
                  <a:prstClr val="white"/>
                </a:solidFill>
                <a:effectLst/>
                <a:uLnTx/>
                <a:uFillTx/>
                <a:latin typeface="Bricolage Grotesque 14pt" panose="020B0605040402000204"/>
              </a:rPr>
              <a:t> water bottle SIS franchise</a:t>
            </a:r>
          </a:p>
        </p:txBody>
      </p:sp>
      <p:pic>
        <p:nvPicPr>
          <p:cNvPr id="1026" name="Picture 2" descr="1,400+ Indian Chef Working Cooking In A Restaurant Kitchen ...">
            <a:extLst>
              <a:ext uri="{FF2B5EF4-FFF2-40B4-BE49-F238E27FC236}">
                <a16:creationId xmlns:a16="http://schemas.microsoft.com/office/drawing/2014/main" id="{5E5E3018-CA49-ADFC-1789-90CE0B301B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1767" y="3608949"/>
            <a:ext cx="3221666" cy="2396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3414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1026"/>
                                        </p:tgtEl>
                                        <p:attrNameLst>
                                          <p:attrName>style.visibility</p:attrName>
                                        </p:attrNameLst>
                                      </p:cBhvr>
                                      <p:to>
                                        <p:strVal val="visible"/>
                                      </p:to>
                                    </p:set>
                                    <p:anim calcmode="lin" valueType="num">
                                      <p:cBhvr additive="base">
                                        <p:cTn id="17" dur="500" fill="hold"/>
                                        <p:tgtEl>
                                          <p:spTgt spid="1026"/>
                                        </p:tgtEl>
                                        <p:attrNameLst>
                                          <p:attrName>ppt_x</p:attrName>
                                        </p:attrNameLst>
                                      </p:cBhvr>
                                      <p:tavLst>
                                        <p:tav tm="0">
                                          <p:val>
                                            <p:strVal val="1+#ppt_w/2"/>
                                          </p:val>
                                        </p:tav>
                                        <p:tav tm="100000">
                                          <p:val>
                                            <p:strVal val="#ppt_x"/>
                                          </p:val>
                                        </p:tav>
                                      </p:tavLst>
                                    </p:anim>
                                    <p:anim calcmode="lin" valueType="num">
                                      <p:cBhvr additive="base">
                                        <p:cTn id="18" dur="500" fill="hold"/>
                                        <p:tgtEl>
                                          <p:spTgt spid="10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6E2448C-F8B6-032B-89BC-BF79CB374B7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D196F7B-4402-DB31-76BF-EFD41F127E78}"/>
              </a:ext>
            </a:extLst>
          </p:cNvPr>
          <p:cNvGrpSpPr/>
          <p:nvPr/>
        </p:nvGrpSpPr>
        <p:grpSpPr>
          <a:xfrm>
            <a:off x="1047537" y="1736911"/>
            <a:ext cx="4711797" cy="889411"/>
            <a:chOff x="886447" y="1447539"/>
            <a:chExt cx="3062185" cy="1169551"/>
          </a:xfrm>
        </p:grpSpPr>
        <p:sp>
          <p:nvSpPr>
            <p:cNvPr id="41" name="Rounded Rectangle 40">
              <a:extLst>
                <a:ext uri="{FF2B5EF4-FFF2-40B4-BE49-F238E27FC236}">
                  <a16:creationId xmlns:a16="http://schemas.microsoft.com/office/drawing/2014/main" id="{25B6BA68-218B-F4E3-97F8-06E02EAF1F23}"/>
                </a:ext>
              </a:extLst>
            </p:cNvPr>
            <p:cNvSpPr/>
            <p:nvPr/>
          </p:nvSpPr>
          <p:spPr>
            <a:xfrm>
              <a:off x="886447" y="1447539"/>
              <a:ext cx="3062185" cy="116955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45" name="TextBox 44">
              <a:extLst>
                <a:ext uri="{FF2B5EF4-FFF2-40B4-BE49-F238E27FC236}">
                  <a16:creationId xmlns:a16="http://schemas.microsoft.com/office/drawing/2014/main" id="{6471E5CF-6DB2-049A-AE4C-C6FA6F0B4B40}"/>
                </a:ext>
              </a:extLst>
            </p:cNvPr>
            <p:cNvSpPr txBox="1"/>
            <p:nvPr/>
          </p:nvSpPr>
          <p:spPr>
            <a:xfrm>
              <a:off x="886447" y="1712758"/>
              <a:ext cx="3062185" cy="523220"/>
            </a:xfrm>
            <a:prstGeom prst="rect">
              <a:avLst/>
            </a:prstGeom>
            <a:noFill/>
          </p:spPr>
          <p:txBody>
            <a:bodyPr wrap="square" rtlCol="0">
              <a:spAutoFit/>
            </a:bodyPr>
            <a:lstStyle/>
            <a:p>
              <a:pPr algn="ctr"/>
              <a:r>
                <a:rPr lang="en-US" sz="1400" b="1" dirty="0">
                  <a:solidFill>
                    <a:srgbClr val="FF0000"/>
                  </a:solidFill>
                  <a:latin typeface="Bricolage Grotesque 14pt" panose="020B0605040402000204"/>
                </a:rPr>
                <a:t>FREE UPOS to sell 20 Crores+ Products &amp; Services and Free  Micro  ATM</a:t>
              </a:r>
            </a:p>
          </p:txBody>
        </p:sp>
      </p:grpSp>
      <p:sp>
        <p:nvSpPr>
          <p:cNvPr id="5" name="TextBox 4">
            <a:extLst>
              <a:ext uri="{FF2B5EF4-FFF2-40B4-BE49-F238E27FC236}">
                <a16:creationId xmlns:a16="http://schemas.microsoft.com/office/drawing/2014/main" id="{057D788D-C6D1-DF2D-4133-9AC6589F9F59}"/>
              </a:ext>
            </a:extLst>
          </p:cNvPr>
          <p:cNvSpPr txBox="1"/>
          <p:nvPr/>
        </p:nvSpPr>
        <p:spPr>
          <a:xfrm>
            <a:off x="2459661" y="159234"/>
            <a:ext cx="7107126" cy="1323439"/>
          </a:xfrm>
          <a:prstGeom prst="rect">
            <a:avLst/>
          </a:prstGeom>
          <a:noFill/>
        </p:spPr>
        <p:txBody>
          <a:bodyPr wrap="square" rtlCol="0">
            <a:spAutoFit/>
          </a:bodyPr>
          <a:lstStyle/>
          <a:p>
            <a:pPr algn="ct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Investment opportunity at </a:t>
            </a: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Jagdai Foods?</a:t>
            </a:r>
          </a:p>
        </p:txBody>
      </p:sp>
      <p:sp>
        <p:nvSpPr>
          <p:cNvPr id="3" name="Right Triangle 2">
            <a:extLst>
              <a:ext uri="{FF2B5EF4-FFF2-40B4-BE49-F238E27FC236}">
                <a16:creationId xmlns:a16="http://schemas.microsoft.com/office/drawing/2014/main" id="{4C61017B-A00C-121F-E4B8-6046AF0E6EC0}"/>
              </a:ext>
            </a:extLst>
          </p:cNvPr>
          <p:cNvSpPr/>
          <p:nvPr/>
        </p:nvSpPr>
        <p:spPr>
          <a:xfrm>
            <a:off x="0"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Triangle 29">
            <a:extLst>
              <a:ext uri="{FF2B5EF4-FFF2-40B4-BE49-F238E27FC236}">
                <a16:creationId xmlns:a16="http://schemas.microsoft.com/office/drawing/2014/main" id="{2BC302F2-0CC7-B3BC-85BC-44661764A316}"/>
              </a:ext>
            </a:extLst>
          </p:cNvPr>
          <p:cNvSpPr/>
          <p:nvPr/>
        </p:nvSpPr>
        <p:spPr>
          <a:xfrm rot="-5400000">
            <a:off x="10396069"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40">
            <a:extLst>
              <a:ext uri="{FF2B5EF4-FFF2-40B4-BE49-F238E27FC236}">
                <a16:creationId xmlns:a16="http://schemas.microsoft.com/office/drawing/2014/main" id="{A7ACB670-4EA7-1D67-0925-98DEE98CF0B8}"/>
              </a:ext>
            </a:extLst>
          </p:cNvPr>
          <p:cNvSpPr/>
          <p:nvPr/>
        </p:nvSpPr>
        <p:spPr>
          <a:xfrm>
            <a:off x="6503575" y="1736911"/>
            <a:ext cx="4711797" cy="873142"/>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sz="1400" b="1" dirty="0">
                <a:solidFill>
                  <a:srgbClr val="FF0000"/>
                </a:solidFill>
                <a:latin typeface="Bricolage Grotesque 14pt" panose="020B0605040402000204"/>
              </a:rPr>
              <a:t>3 different franchise formats to choose from: </a:t>
            </a:r>
            <a:br>
              <a:rPr lang="en-US" sz="1400" b="1" dirty="0">
                <a:solidFill>
                  <a:srgbClr val="FF0000"/>
                </a:solidFill>
                <a:latin typeface="Bricolage Grotesque 14pt" panose="020B0605040402000204"/>
              </a:rPr>
            </a:br>
            <a:r>
              <a:rPr lang="en-US" sz="1600" b="1" dirty="0">
                <a:solidFill>
                  <a:srgbClr val="FF0000"/>
                </a:solidFill>
                <a:latin typeface="Bricolage Grotesque 14pt" panose="020B0605040402000204"/>
              </a:rPr>
              <a:t>White label | FOFO | FOCO</a:t>
            </a:r>
            <a:endParaRPr lang="en-US" sz="1400" b="1" dirty="0">
              <a:solidFill>
                <a:srgbClr val="FF0000"/>
              </a:solidFill>
              <a:latin typeface="Bricolage Grotesque 14pt" panose="020B0605040402000204"/>
            </a:endParaRPr>
          </a:p>
        </p:txBody>
      </p:sp>
      <p:sp>
        <p:nvSpPr>
          <p:cNvPr id="11" name="Rounded Rectangle 40">
            <a:extLst>
              <a:ext uri="{FF2B5EF4-FFF2-40B4-BE49-F238E27FC236}">
                <a16:creationId xmlns:a16="http://schemas.microsoft.com/office/drawing/2014/main" id="{55B1A6AE-9ED0-99C7-CAA2-8EBCFB186533}"/>
              </a:ext>
            </a:extLst>
          </p:cNvPr>
          <p:cNvSpPr/>
          <p:nvPr/>
        </p:nvSpPr>
        <p:spPr>
          <a:xfrm>
            <a:off x="6503575" y="2903085"/>
            <a:ext cx="4790457" cy="87210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sz="1400" b="1" dirty="0">
                <a:solidFill>
                  <a:srgbClr val="FF0000"/>
                </a:solidFill>
                <a:latin typeface="Bricolage Grotesque 14pt" panose="020B0605040402000204"/>
              </a:rPr>
              <a:t>We use only stainless steel equipment in the kitchen because aluminum can react with acidic or alkaline foods, altering the flavor and leaving a metallic taste</a:t>
            </a:r>
          </a:p>
        </p:txBody>
      </p:sp>
      <p:sp>
        <p:nvSpPr>
          <p:cNvPr id="16" name="Rounded Rectangle 40">
            <a:extLst>
              <a:ext uri="{FF2B5EF4-FFF2-40B4-BE49-F238E27FC236}">
                <a16:creationId xmlns:a16="http://schemas.microsoft.com/office/drawing/2014/main" id="{0B8D16FA-3847-6E5E-64AC-B604F0DA29A8}"/>
              </a:ext>
            </a:extLst>
          </p:cNvPr>
          <p:cNvSpPr/>
          <p:nvPr/>
        </p:nvSpPr>
        <p:spPr>
          <a:xfrm>
            <a:off x="6503576" y="4013026"/>
            <a:ext cx="4790457" cy="78662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sz="1400" b="1" dirty="0">
                <a:solidFill>
                  <a:srgbClr val="FF0000"/>
                </a:solidFill>
                <a:latin typeface="Bricolage Grotesque 14pt" panose="020B0605040402000204"/>
              </a:rPr>
              <a:t>Kitchen equipment like Kitchen Crockery, Tandoor, Bhatti, BBQ, Griller, Fridge, Exhaust </a:t>
            </a:r>
            <a:r>
              <a:rPr lang="en-US" sz="1400" b="1" dirty="0" err="1">
                <a:solidFill>
                  <a:srgbClr val="FF0000"/>
                </a:solidFill>
                <a:latin typeface="Bricolage Grotesque 14pt" panose="020B0605040402000204"/>
              </a:rPr>
              <a:t>etc</a:t>
            </a:r>
            <a:r>
              <a:rPr lang="en-US" sz="1400" b="1" dirty="0">
                <a:solidFill>
                  <a:srgbClr val="FF0000"/>
                </a:solidFill>
                <a:latin typeface="Bricolage Grotesque 14pt" panose="020B0605040402000204"/>
              </a:rPr>
              <a:t> needed for QSR will be set-up and provided by us. </a:t>
            </a:r>
          </a:p>
        </p:txBody>
      </p:sp>
      <p:sp>
        <p:nvSpPr>
          <p:cNvPr id="18" name="Rounded Rectangle 40">
            <a:extLst>
              <a:ext uri="{FF2B5EF4-FFF2-40B4-BE49-F238E27FC236}">
                <a16:creationId xmlns:a16="http://schemas.microsoft.com/office/drawing/2014/main" id="{94725117-960C-704F-A128-D81CCD22A0B6}"/>
              </a:ext>
            </a:extLst>
          </p:cNvPr>
          <p:cNvSpPr/>
          <p:nvPr/>
        </p:nvSpPr>
        <p:spPr>
          <a:xfrm>
            <a:off x="1047540" y="3990243"/>
            <a:ext cx="4711795" cy="78662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IN" sz="1400" b="1" dirty="0">
                <a:solidFill>
                  <a:srgbClr val="FF0000"/>
                </a:solidFill>
                <a:latin typeface="Bricolage Grotesque 14pt" panose="020B0605040402000204"/>
              </a:rPr>
              <a:t>24+ Brands Available in all forms</a:t>
            </a:r>
            <a:br>
              <a:rPr lang="en-IN" sz="1400" b="1" dirty="0">
                <a:solidFill>
                  <a:srgbClr val="FF0000"/>
                </a:solidFill>
                <a:latin typeface="Bricolage Grotesque 14pt" panose="020B0605040402000204"/>
              </a:rPr>
            </a:br>
            <a:r>
              <a:rPr lang="en-IN" sz="1400" b="1" dirty="0">
                <a:solidFill>
                  <a:srgbClr val="FF0000"/>
                </a:solidFill>
                <a:latin typeface="Bricolage Grotesque 14pt" panose="020B0605040402000204"/>
              </a:rPr>
              <a:t> </a:t>
            </a:r>
            <a:r>
              <a:rPr lang="en-IN" sz="1600" b="1" dirty="0">
                <a:solidFill>
                  <a:srgbClr val="FF0000"/>
                </a:solidFill>
                <a:latin typeface="Bricolage Grotesque 14pt" panose="020B0605040402000204"/>
              </a:rPr>
              <a:t>QSR | TROLLEY | INTERNET RESTAURANT</a:t>
            </a:r>
            <a:endParaRPr lang="en-US" sz="1400" b="1" dirty="0">
              <a:solidFill>
                <a:srgbClr val="FF0000"/>
              </a:solidFill>
              <a:latin typeface="Bricolage Grotesque 14pt" panose="020B0605040402000204"/>
            </a:endParaRPr>
          </a:p>
        </p:txBody>
      </p:sp>
      <p:sp>
        <p:nvSpPr>
          <p:cNvPr id="20" name="Rounded Rectangle 40">
            <a:extLst>
              <a:ext uri="{FF2B5EF4-FFF2-40B4-BE49-F238E27FC236}">
                <a16:creationId xmlns:a16="http://schemas.microsoft.com/office/drawing/2014/main" id="{3CE39BB4-F5B4-329D-6680-9FE97C962E3A}"/>
              </a:ext>
            </a:extLst>
          </p:cNvPr>
          <p:cNvSpPr/>
          <p:nvPr/>
        </p:nvSpPr>
        <p:spPr>
          <a:xfrm>
            <a:off x="1047540" y="2902047"/>
            <a:ext cx="4711796" cy="873142"/>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sz="1400" b="1" dirty="0">
                <a:solidFill>
                  <a:srgbClr val="FF0000"/>
                </a:solidFill>
                <a:latin typeface="Bricolage Grotesque 14pt" panose="020B0605040402000204"/>
              </a:rPr>
              <a:t>Full operational Support and Training along with uniform food taste</a:t>
            </a:r>
          </a:p>
        </p:txBody>
      </p:sp>
      <p:sp>
        <p:nvSpPr>
          <p:cNvPr id="21" name="Rounded Rectangle 40">
            <a:extLst>
              <a:ext uri="{FF2B5EF4-FFF2-40B4-BE49-F238E27FC236}">
                <a16:creationId xmlns:a16="http://schemas.microsoft.com/office/drawing/2014/main" id="{53D5A21F-360B-7EDA-0C9E-C1B9D5580166}"/>
              </a:ext>
            </a:extLst>
          </p:cNvPr>
          <p:cNvSpPr/>
          <p:nvPr/>
        </p:nvSpPr>
        <p:spPr>
          <a:xfrm>
            <a:off x="6503577" y="5084433"/>
            <a:ext cx="4790457" cy="78662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IN" sz="1400" b="1" dirty="0">
                <a:solidFill>
                  <a:srgbClr val="FF0000"/>
                </a:solidFill>
                <a:latin typeface="Bricolage Grotesque 14pt" panose="020B0605040402000204"/>
              </a:rPr>
              <a:t>Revenue Booster: </a:t>
            </a:r>
            <a:r>
              <a:rPr lang="en-IN" sz="1400" b="1" dirty="0" err="1">
                <a:solidFill>
                  <a:srgbClr val="FF0000"/>
                </a:solidFill>
                <a:latin typeface="Bricolage Grotesque 14pt" panose="020B0605040402000204"/>
              </a:rPr>
              <a:t>Tapri</a:t>
            </a:r>
            <a:r>
              <a:rPr lang="en-IN" sz="1400" b="1" dirty="0">
                <a:solidFill>
                  <a:srgbClr val="FF0000"/>
                </a:solidFill>
                <a:latin typeface="Bricolage Grotesque 14pt" panose="020B0605040402000204"/>
              </a:rPr>
              <a:t> Ki </a:t>
            </a:r>
            <a:r>
              <a:rPr lang="en-IN" sz="1400" b="1" dirty="0" err="1">
                <a:solidFill>
                  <a:srgbClr val="FF0000"/>
                </a:solidFill>
                <a:latin typeface="Bricolage Grotesque 14pt" panose="020B0605040402000204"/>
              </a:rPr>
              <a:t>Tafri</a:t>
            </a:r>
            <a:r>
              <a:rPr lang="en-IN" sz="1400" b="1" dirty="0">
                <a:solidFill>
                  <a:srgbClr val="FF0000"/>
                </a:solidFill>
                <a:latin typeface="Bricolage Grotesque 14pt" panose="020B0605040402000204"/>
              </a:rPr>
              <a:t> (chai) Franchise with all QSR Franchise Complimentary at just 1 Lakh Extra (optional)</a:t>
            </a:r>
            <a:endParaRPr lang="en-US" sz="1400" b="1" dirty="0">
              <a:solidFill>
                <a:srgbClr val="FF0000"/>
              </a:solidFill>
              <a:latin typeface="Bricolage Grotesque 14pt" panose="020B0605040402000204"/>
            </a:endParaRPr>
          </a:p>
        </p:txBody>
      </p:sp>
      <p:sp>
        <p:nvSpPr>
          <p:cNvPr id="22" name="Rounded Rectangle 40">
            <a:extLst>
              <a:ext uri="{FF2B5EF4-FFF2-40B4-BE49-F238E27FC236}">
                <a16:creationId xmlns:a16="http://schemas.microsoft.com/office/drawing/2014/main" id="{80F61FDB-668C-4E9D-3C10-308FA3AC14F7}"/>
              </a:ext>
            </a:extLst>
          </p:cNvPr>
          <p:cNvSpPr/>
          <p:nvPr/>
        </p:nvSpPr>
        <p:spPr>
          <a:xfrm>
            <a:off x="1047540" y="5061388"/>
            <a:ext cx="4711794" cy="78662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sz="1400" b="1" dirty="0">
                <a:solidFill>
                  <a:srgbClr val="FF0000"/>
                </a:solidFill>
                <a:latin typeface="Bricolage Grotesque 14pt" panose="020B0605040402000204"/>
              </a:rPr>
              <a:t>Loan for QSR Franchises are also available, including options for government-subsidized financing</a:t>
            </a:r>
          </a:p>
        </p:txBody>
      </p:sp>
    </p:spTree>
    <p:extLst>
      <p:ext uri="{BB962C8B-B14F-4D97-AF65-F5344CB8AC3E}">
        <p14:creationId xmlns:p14="http://schemas.microsoft.com/office/powerpoint/2010/main" val="458837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 calcmode="lin" valueType="num">
                                      <p:cBhvr additive="base">
                                        <p:cTn id="49" dur="500" fill="hold"/>
                                        <p:tgtEl>
                                          <p:spTgt spid="22"/>
                                        </p:tgtEl>
                                        <p:attrNameLst>
                                          <p:attrName>ppt_x</p:attrName>
                                        </p:attrNameLst>
                                      </p:cBhvr>
                                      <p:tavLst>
                                        <p:tav tm="0">
                                          <p:val>
                                            <p:strVal val="#ppt_x"/>
                                          </p:val>
                                        </p:tav>
                                        <p:tav tm="100000">
                                          <p:val>
                                            <p:strVal val="#ppt_x"/>
                                          </p:val>
                                        </p:tav>
                                      </p:tavLst>
                                    </p:anim>
                                    <p:anim calcmode="lin" valueType="num">
                                      <p:cBhvr additive="base">
                                        <p:cTn id="5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ppt_x</p:attrName>
                                        </p:attrNameLst>
                                      </p:cBhvr>
                                      <p:tavLst>
                                        <p:tav tm="0">
                                          <p:val>
                                            <p:strVal val="#ppt_x"/>
                                          </p:val>
                                        </p:tav>
                                        <p:tav tm="100000">
                                          <p:val>
                                            <p:strVal val="#ppt_x"/>
                                          </p:val>
                                        </p:tav>
                                      </p:tavLst>
                                    </p:anim>
                                    <p:anim calcmode="lin" valueType="num">
                                      <p:cBhvr additive="base">
                                        <p:cTn id="5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animBg="1"/>
      <p:bldP spid="11" grpId="0" animBg="1"/>
      <p:bldP spid="16" grpId="0" animBg="1"/>
      <p:bldP spid="18" grpId="0" animBg="1"/>
      <p:bldP spid="20"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5CD945A-7837-5AD8-4E0F-D060A0A89CC4}"/>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FCB3A121-19F6-38DC-5A6A-B8A5F42460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94034" y="444267"/>
            <a:ext cx="490374" cy="490374"/>
          </a:xfrm>
          <a:prstGeom prst="rect">
            <a:avLst/>
          </a:prstGeom>
        </p:spPr>
      </p:pic>
      <p:sp>
        <p:nvSpPr>
          <p:cNvPr id="3" name="Right Triangle 2">
            <a:extLst>
              <a:ext uri="{FF2B5EF4-FFF2-40B4-BE49-F238E27FC236}">
                <a16:creationId xmlns:a16="http://schemas.microsoft.com/office/drawing/2014/main" id="{93AEF430-8D49-69BD-9AF4-FCE6AC2CC620}"/>
              </a:ext>
            </a:extLst>
          </p:cNvPr>
          <p:cNvSpPr/>
          <p:nvPr/>
        </p:nvSpPr>
        <p:spPr>
          <a:xfrm>
            <a:off x="0"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Triangle 29">
            <a:extLst>
              <a:ext uri="{FF2B5EF4-FFF2-40B4-BE49-F238E27FC236}">
                <a16:creationId xmlns:a16="http://schemas.microsoft.com/office/drawing/2014/main" id="{DEC8E7A2-F4BE-2907-4745-0A08162B6211}"/>
              </a:ext>
            </a:extLst>
          </p:cNvPr>
          <p:cNvSpPr/>
          <p:nvPr/>
        </p:nvSpPr>
        <p:spPr>
          <a:xfrm rot="-5400000">
            <a:off x="10396069"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66D7F26E-0861-A004-5A90-EA11734C456E}"/>
              </a:ext>
            </a:extLst>
          </p:cNvPr>
          <p:cNvSpPr txBox="1"/>
          <p:nvPr/>
        </p:nvSpPr>
        <p:spPr>
          <a:xfrm>
            <a:off x="1856317" y="291099"/>
            <a:ext cx="8419068" cy="646331"/>
          </a:xfrm>
          <a:prstGeom prst="rect">
            <a:avLst/>
          </a:prstGeom>
          <a:noFill/>
        </p:spPr>
        <p:txBody>
          <a:bodyPr wrap="square" rtlCol="0">
            <a:spAutoFit/>
          </a:bodyPr>
          <a:lstStyle/>
          <a:p>
            <a:pPr algn="ctr"/>
            <a:r>
              <a:rPr lang="en-US" sz="3600" b="1" dirty="0">
                <a:solidFill>
                  <a:schemeClr val="bg1"/>
                </a:solidFill>
                <a:latin typeface="Bricolage Grotesque 14pt" panose="020B0605040402000204" pitchFamily="34" charset="0"/>
                <a:ea typeface="Roboto" panose="02000000000000000000" pitchFamily="2" charset="0"/>
                <a:cs typeface="Heebo" pitchFamily="2" charset="-79"/>
              </a:rPr>
              <a:t>OUR BRANDS</a:t>
            </a:r>
            <a:endParaRPr lang="en-US" sz="3600" b="1" dirty="0">
              <a:solidFill>
                <a:srgbClr val="16DB65"/>
              </a:solidFill>
              <a:latin typeface="Bricolage Grotesque 14pt" panose="020B0605040402000204" pitchFamily="34" charset="0"/>
              <a:ea typeface="Roboto" panose="02000000000000000000" pitchFamily="2" charset="0"/>
              <a:cs typeface="Heebo" pitchFamily="2" charset="-79"/>
            </a:endParaRPr>
          </a:p>
        </p:txBody>
      </p:sp>
      <p:sp>
        <p:nvSpPr>
          <p:cNvPr id="47" name="Rounded Rectangle 46">
            <a:extLst>
              <a:ext uri="{FF2B5EF4-FFF2-40B4-BE49-F238E27FC236}">
                <a16:creationId xmlns:a16="http://schemas.microsoft.com/office/drawing/2014/main" id="{DF0C5F14-B7FE-F050-5C23-D74F8BC45717}"/>
              </a:ext>
            </a:extLst>
          </p:cNvPr>
          <p:cNvSpPr/>
          <p:nvPr/>
        </p:nvSpPr>
        <p:spPr>
          <a:xfrm>
            <a:off x="310137" y="1128039"/>
            <a:ext cx="869734" cy="887029"/>
          </a:xfrm>
          <a:prstGeom prst="roundRect">
            <a:avLst/>
          </a:prstGeom>
          <a:blipFill dpi="0" rotWithShape="1">
            <a:blip r:embed="rId3"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3" name="Rounded Rectangle 52">
            <a:extLst>
              <a:ext uri="{FF2B5EF4-FFF2-40B4-BE49-F238E27FC236}">
                <a16:creationId xmlns:a16="http://schemas.microsoft.com/office/drawing/2014/main" id="{698AEC96-6B0D-B9BD-C803-E04746C1FD34}"/>
              </a:ext>
            </a:extLst>
          </p:cNvPr>
          <p:cNvSpPr/>
          <p:nvPr/>
        </p:nvSpPr>
        <p:spPr>
          <a:xfrm>
            <a:off x="1287333" y="1128039"/>
            <a:ext cx="869734" cy="887029"/>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54" name="Rounded Rectangle 53">
            <a:extLst>
              <a:ext uri="{FF2B5EF4-FFF2-40B4-BE49-F238E27FC236}">
                <a16:creationId xmlns:a16="http://schemas.microsoft.com/office/drawing/2014/main" id="{447B0651-71E5-0CDB-06A9-6F29D88FD994}"/>
              </a:ext>
            </a:extLst>
          </p:cNvPr>
          <p:cNvSpPr/>
          <p:nvPr/>
        </p:nvSpPr>
        <p:spPr>
          <a:xfrm>
            <a:off x="2264529" y="1128039"/>
            <a:ext cx="869734" cy="887029"/>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5" name="Rounded Rectangle 54">
            <a:extLst>
              <a:ext uri="{FF2B5EF4-FFF2-40B4-BE49-F238E27FC236}">
                <a16:creationId xmlns:a16="http://schemas.microsoft.com/office/drawing/2014/main" id="{4FEDB64A-EDC3-E274-4F09-A5D5488B5F20}"/>
              </a:ext>
            </a:extLst>
          </p:cNvPr>
          <p:cNvSpPr/>
          <p:nvPr/>
        </p:nvSpPr>
        <p:spPr>
          <a:xfrm>
            <a:off x="3241725" y="1128039"/>
            <a:ext cx="869734" cy="887029"/>
          </a:xfrm>
          <a:prstGeom prst="roundRect">
            <a:avLst/>
          </a:prstGeom>
          <a:blipFill dpi="0" rotWithShape="1">
            <a:blip r:embed="rId6"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6" name="Rounded Rectangle 55">
            <a:extLst>
              <a:ext uri="{FF2B5EF4-FFF2-40B4-BE49-F238E27FC236}">
                <a16:creationId xmlns:a16="http://schemas.microsoft.com/office/drawing/2014/main" id="{4ADE17AF-B76A-6FF6-304A-E47515CA247C}"/>
              </a:ext>
            </a:extLst>
          </p:cNvPr>
          <p:cNvSpPr/>
          <p:nvPr/>
        </p:nvSpPr>
        <p:spPr>
          <a:xfrm>
            <a:off x="4218921" y="1128039"/>
            <a:ext cx="869734" cy="904082"/>
          </a:xfrm>
          <a:prstGeom prst="roundRect">
            <a:avLst/>
          </a:prstGeom>
          <a:blipFill dpi="0" rotWithShape="1">
            <a:blip r:embed="rId7"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7" name="Rounded Rectangle 56">
            <a:extLst>
              <a:ext uri="{FF2B5EF4-FFF2-40B4-BE49-F238E27FC236}">
                <a16:creationId xmlns:a16="http://schemas.microsoft.com/office/drawing/2014/main" id="{357EF17C-F532-A823-2A16-DCB6FDA9D7FD}"/>
              </a:ext>
            </a:extLst>
          </p:cNvPr>
          <p:cNvSpPr/>
          <p:nvPr/>
        </p:nvSpPr>
        <p:spPr>
          <a:xfrm>
            <a:off x="5196117" y="1126431"/>
            <a:ext cx="869734" cy="887029"/>
          </a:xfrm>
          <a:prstGeom prst="roundRect">
            <a:avLst/>
          </a:prstGeom>
          <a:blipFill dpi="0" rotWithShape="1">
            <a:blip r:embed="rId8" cstate="print">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solidFill>
                <a:srgbClr val="000000"/>
              </a:solidFill>
            </a:endParaRPr>
          </a:p>
        </p:txBody>
      </p:sp>
      <p:sp>
        <p:nvSpPr>
          <p:cNvPr id="58" name="Rounded Rectangle 57">
            <a:extLst>
              <a:ext uri="{FF2B5EF4-FFF2-40B4-BE49-F238E27FC236}">
                <a16:creationId xmlns:a16="http://schemas.microsoft.com/office/drawing/2014/main" id="{E0E6EB47-D6A2-7E90-A534-5C48679C2BB5}"/>
              </a:ext>
            </a:extLst>
          </p:cNvPr>
          <p:cNvSpPr/>
          <p:nvPr/>
        </p:nvSpPr>
        <p:spPr>
          <a:xfrm>
            <a:off x="6152417" y="1126431"/>
            <a:ext cx="869734" cy="887029"/>
          </a:xfrm>
          <a:prstGeom prst="roundRect">
            <a:avLst/>
          </a:prstGeom>
          <a:blipFill>
            <a:blip r:embed="rId9"/>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9" name="Rounded Rectangle 58">
            <a:extLst>
              <a:ext uri="{FF2B5EF4-FFF2-40B4-BE49-F238E27FC236}">
                <a16:creationId xmlns:a16="http://schemas.microsoft.com/office/drawing/2014/main" id="{2E4F3E8C-D27B-F9C1-F538-C13D91F76F4C}"/>
              </a:ext>
            </a:extLst>
          </p:cNvPr>
          <p:cNvSpPr/>
          <p:nvPr/>
        </p:nvSpPr>
        <p:spPr>
          <a:xfrm>
            <a:off x="7103347" y="1126431"/>
            <a:ext cx="869734" cy="904082"/>
          </a:xfrm>
          <a:prstGeom prst="roundRect">
            <a:avLst/>
          </a:prstGeom>
          <a:blipFill dpi="0" rotWithShape="1">
            <a:blip r:embed="rId10" cstate="print">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0" name="Rounded Rectangle 59">
            <a:extLst>
              <a:ext uri="{FF2B5EF4-FFF2-40B4-BE49-F238E27FC236}">
                <a16:creationId xmlns:a16="http://schemas.microsoft.com/office/drawing/2014/main" id="{C394679A-1F5D-712B-382C-BA34786AEEE1}"/>
              </a:ext>
            </a:extLst>
          </p:cNvPr>
          <p:cNvSpPr/>
          <p:nvPr/>
        </p:nvSpPr>
        <p:spPr>
          <a:xfrm>
            <a:off x="8080543" y="1126431"/>
            <a:ext cx="869734" cy="904082"/>
          </a:xfrm>
          <a:prstGeom prst="roundRect">
            <a:avLst/>
          </a:prstGeom>
          <a:blipFill dpi="0" rotWithShape="1">
            <a:blip r:embed="rId11"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2" name="Rounded Rectangle 61">
            <a:extLst>
              <a:ext uri="{FF2B5EF4-FFF2-40B4-BE49-F238E27FC236}">
                <a16:creationId xmlns:a16="http://schemas.microsoft.com/office/drawing/2014/main" id="{6A56840A-7FA2-F896-0ECE-150FE79283FD}"/>
              </a:ext>
            </a:extLst>
          </p:cNvPr>
          <p:cNvSpPr/>
          <p:nvPr/>
        </p:nvSpPr>
        <p:spPr>
          <a:xfrm>
            <a:off x="9057737" y="1126432"/>
            <a:ext cx="869734" cy="904082"/>
          </a:xfrm>
          <a:prstGeom prst="roundRect">
            <a:avLst/>
          </a:prstGeom>
          <a:blipFill dpi="0" rotWithShape="1">
            <a:blip r:embed="rId12"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3" name="Rounded Rectangle 62">
            <a:extLst>
              <a:ext uri="{FF2B5EF4-FFF2-40B4-BE49-F238E27FC236}">
                <a16:creationId xmlns:a16="http://schemas.microsoft.com/office/drawing/2014/main" id="{5184E694-E920-B126-0264-60EA2FABF959}"/>
              </a:ext>
            </a:extLst>
          </p:cNvPr>
          <p:cNvSpPr/>
          <p:nvPr/>
        </p:nvSpPr>
        <p:spPr>
          <a:xfrm>
            <a:off x="10034931" y="1126431"/>
            <a:ext cx="869734" cy="904082"/>
          </a:xfrm>
          <a:prstGeom prst="roundRect">
            <a:avLst/>
          </a:prstGeom>
          <a:blipFill dpi="0" rotWithShape="1">
            <a:blip r:embed="rId13" cstate="print">
              <a:extLst>
                <a:ext uri="{28A0092B-C50C-407E-A947-70E740481C1C}">
                  <a14:useLocalDpi xmlns:a14="http://schemas.microsoft.com/office/drawing/2010/main" val="0"/>
                </a:ext>
              </a:extLst>
            </a:blip>
            <a:srcRect/>
            <a:stretch>
              <a:fillRect/>
            </a:stretch>
          </a:blipFill>
          <a:ln w="1270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4" name="Rounded Rectangle 63">
            <a:extLst>
              <a:ext uri="{FF2B5EF4-FFF2-40B4-BE49-F238E27FC236}">
                <a16:creationId xmlns:a16="http://schemas.microsoft.com/office/drawing/2014/main" id="{348C04EC-141B-25C3-213C-691442050366}"/>
              </a:ext>
            </a:extLst>
          </p:cNvPr>
          <p:cNvSpPr/>
          <p:nvPr/>
        </p:nvSpPr>
        <p:spPr>
          <a:xfrm>
            <a:off x="11008158" y="1126431"/>
            <a:ext cx="869734" cy="904082"/>
          </a:xfrm>
          <a:prstGeom prst="roundRect">
            <a:avLst/>
          </a:prstGeom>
          <a:blipFill dpi="0" rotWithShape="1">
            <a:blip r:embed="rId14"/>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5" name="TextBox 64">
            <a:extLst>
              <a:ext uri="{FF2B5EF4-FFF2-40B4-BE49-F238E27FC236}">
                <a16:creationId xmlns:a16="http://schemas.microsoft.com/office/drawing/2014/main" id="{9C07EDDD-8370-09D7-7BCA-C8D68D02B385}"/>
              </a:ext>
            </a:extLst>
          </p:cNvPr>
          <p:cNvSpPr txBox="1"/>
          <p:nvPr/>
        </p:nvSpPr>
        <p:spPr>
          <a:xfrm>
            <a:off x="4712043" y="5510064"/>
            <a:ext cx="2767914" cy="461665"/>
          </a:xfrm>
          <a:prstGeom prst="rect">
            <a:avLst/>
          </a:prstGeom>
          <a:noFill/>
        </p:spPr>
        <p:txBody>
          <a:bodyPr wrap="square" rtlCol="0">
            <a:spAutoFit/>
          </a:bodyPr>
          <a:lstStyle/>
          <a:p>
            <a:pPr algn="ctr"/>
            <a:r>
              <a:rPr lang="en-US" sz="2400" b="1" dirty="0">
                <a:solidFill>
                  <a:schemeClr val="bg1"/>
                </a:solidFill>
                <a:latin typeface="Bricolage Grotesque 14pt" panose="020B0605040402000204" pitchFamily="34" charset="0"/>
                <a:ea typeface="Roboto" panose="02000000000000000000" pitchFamily="2" charset="0"/>
                <a:cs typeface="Heebo" pitchFamily="2" charset="-79"/>
              </a:rPr>
              <a:t>Choose Yours!</a:t>
            </a:r>
            <a:endParaRPr lang="en-US" sz="2400" b="1" dirty="0">
              <a:solidFill>
                <a:srgbClr val="16DB65"/>
              </a:solidFill>
              <a:latin typeface="Bricolage Grotesque 14pt" panose="020B0605040402000204" pitchFamily="34" charset="0"/>
              <a:ea typeface="Roboto" panose="02000000000000000000" pitchFamily="2" charset="0"/>
              <a:cs typeface="Heebo" pitchFamily="2" charset="-79"/>
            </a:endParaRPr>
          </a:p>
        </p:txBody>
      </p:sp>
      <p:sp>
        <p:nvSpPr>
          <p:cNvPr id="2" name="TextBox 1">
            <a:extLst>
              <a:ext uri="{FF2B5EF4-FFF2-40B4-BE49-F238E27FC236}">
                <a16:creationId xmlns:a16="http://schemas.microsoft.com/office/drawing/2014/main" id="{4D8E1266-D979-E34E-06BC-2E21564F2EA3}"/>
              </a:ext>
            </a:extLst>
          </p:cNvPr>
          <p:cNvSpPr txBox="1"/>
          <p:nvPr/>
        </p:nvSpPr>
        <p:spPr>
          <a:xfrm>
            <a:off x="4206863" y="5971729"/>
            <a:ext cx="3863907" cy="369332"/>
          </a:xfrm>
          <a:prstGeom prst="rect">
            <a:avLst/>
          </a:prstGeom>
          <a:noFill/>
        </p:spPr>
        <p:txBody>
          <a:bodyPr wrap="square" rtlCol="0">
            <a:spAutoFit/>
          </a:bodyPr>
          <a:lstStyle/>
          <a:p>
            <a:pPr algn="ctr"/>
            <a:r>
              <a:rPr lang="en-US" b="1" dirty="0">
                <a:solidFill>
                  <a:srgbClr val="FFBA00"/>
                </a:solidFill>
              </a:rPr>
              <a:t>FOFO, FOCO or Whitelisting Model</a:t>
            </a:r>
          </a:p>
        </p:txBody>
      </p:sp>
      <p:sp>
        <p:nvSpPr>
          <p:cNvPr id="20" name="Rounded Rectangle 19">
            <a:extLst>
              <a:ext uri="{FF2B5EF4-FFF2-40B4-BE49-F238E27FC236}">
                <a16:creationId xmlns:a16="http://schemas.microsoft.com/office/drawing/2014/main" id="{7AE0032F-D39F-604C-6FA9-1636FC837E69}"/>
              </a:ext>
            </a:extLst>
          </p:cNvPr>
          <p:cNvSpPr/>
          <p:nvPr/>
        </p:nvSpPr>
        <p:spPr>
          <a:xfrm>
            <a:off x="1298559" y="2179445"/>
            <a:ext cx="869734" cy="887029"/>
          </a:xfrm>
          <a:prstGeom prst="roundRect">
            <a:avLst/>
          </a:prstGeom>
          <a:blipFill dpi="0" rotWithShape="1">
            <a:blip r:embed="rId1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 name="Rounded Rectangle 16">
            <a:extLst>
              <a:ext uri="{FF2B5EF4-FFF2-40B4-BE49-F238E27FC236}">
                <a16:creationId xmlns:a16="http://schemas.microsoft.com/office/drawing/2014/main" id="{E6DEC631-6CBA-A6D9-B62F-2F6A5518B807}"/>
              </a:ext>
            </a:extLst>
          </p:cNvPr>
          <p:cNvSpPr/>
          <p:nvPr/>
        </p:nvSpPr>
        <p:spPr>
          <a:xfrm>
            <a:off x="262018" y="2179445"/>
            <a:ext cx="965971" cy="887030"/>
          </a:xfrm>
          <a:prstGeom prst="roundRect">
            <a:avLst/>
          </a:prstGeom>
          <a:blipFill dpi="0" rotWithShape="1">
            <a:blip r:embed="rId16"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4" name="Rounded Rectangle 8">
            <a:extLst>
              <a:ext uri="{FF2B5EF4-FFF2-40B4-BE49-F238E27FC236}">
                <a16:creationId xmlns:a16="http://schemas.microsoft.com/office/drawing/2014/main" id="{202600CA-548D-AE6A-AD9C-955D243D1506}"/>
              </a:ext>
            </a:extLst>
          </p:cNvPr>
          <p:cNvSpPr/>
          <p:nvPr/>
        </p:nvSpPr>
        <p:spPr>
          <a:xfrm>
            <a:off x="2238863" y="2179445"/>
            <a:ext cx="895400" cy="887029"/>
          </a:xfrm>
          <a:prstGeom prst="roundRect">
            <a:avLst/>
          </a:prstGeom>
          <a:blipFill dpi="0" rotWithShape="1">
            <a:blip r:embed="rId17"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 name="Rounded Rectangle 9">
            <a:extLst>
              <a:ext uri="{FF2B5EF4-FFF2-40B4-BE49-F238E27FC236}">
                <a16:creationId xmlns:a16="http://schemas.microsoft.com/office/drawing/2014/main" id="{F4223325-AA69-93BF-A3E8-E40417C797B6}"/>
              </a:ext>
            </a:extLst>
          </p:cNvPr>
          <p:cNvSpPr/>
          <p:nvPr/>
        </p:nvSpPr>
        <p:spPr>
          <a:xfrm>
            <a:off x="3237279" y="2179444"/>
            <a:ext cx="895399" cy="887029"/>
          </a:xfrm>
          <a:prstGeom prst="roundRect">
            <a:avLst/>
          </a:prstGeom>
          <a:blipFill dpi="0" rotWithShape="1">
            <a:blip r:embed="rId18"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7" name="Rounded Rectangle 10">
            <a:extLst>
              <a:ext uri="{FF2B5EF4-FFF2-40B4-BE49-F238E27FC236}">
                <a16:creationId xmlns:a16="http://schemas.microsoft.com/office/drawing/2014/main" id="{A2C000FA-785C-FEFE-C5FF-F52B32BCEBA6}"/>
              </a:ext>
            </a:extLst>
          </p:cNvPr>
          <p:cNvSpPr/>
          <p:nvPr/>
        </p:nvSpPr>
        <p:spPr>
          <a:xfrm>
            <a:off x="4235694" y="2164328"/>
            <a:ext cx="869734" cy="887029"/>
          </a:xfrm>
          <a:prstGeom prst="roundRect">
            <a:avLst/>
          </a:prstGeom>
          <a:blipFill dpi="0" rotWithShape="1">
            <a:blip r:embed="rId19"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8" name="Rounded Rectangle 11">
            <a:extLst>
              <a:ext uri="{FF2B5EF4-FFF2-40B4-BE49-F238E27FC236}">
                <a16:creationId xmlns:a16="http://schemas.microsoft.com/office/drawing/2014/main" id="{8A42B316-F79B-DAF1-5B42-ABEB8A19C707}"/>
              </a:ext>
            </a:extLst>
          </p:cNvPr>
          <p:cNvSpPr/>
          <p:nvPr/>
        </p:nvSpPr>
        <p:spPr>
          <a:xfrm>
            <a:off x="6174861" y="2152600"/>
            <a:ext cx="847290" cy="908852"/>
          </a:xfrm>
          <a:prstGeom prst="roundRect">
            <a:avLst/>
          </a:prstGeom>
          <a:blipFill dpi="0" rotWithShape="1">
            <a:blip r:embed="rId20"/>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9" name="Rounded Rectangle 15">
            <a:extLst>
              <a:ext uri="{FF2B5EF4-FFF2-40B4-BE49-F238E27FC236}">
                <a16:creationId xmlns:a16="http://schemas.microsoft.com/office/drawing/2014/main" id="{A1C62CB6-6B71-C932-085F-76AF0D7E0194}"/>
              </a:ext>
            </a:extLst>
          </p:cNvPr>
          <p:cNvSpPr/>
          <p:nvPr/>
        </p:nvSpPr>
        <p:spPr>
          <a:xfrm>
            <a:off x="5214438" y="2174423"/>
            <a:ext cx="851413" cy="887029"/>
          </a:xfrm>
          <a:prstGeom prst="roundRect">
            <a:avLst/>
          </a:prstGeom>
          <a:blipFill dpi="0" rotWithShape="1">
            <a:blip r:embed="rId21" cstate="print">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10" name="Rounded Rectangle 16">
            <a:extLst>
              <a:ext uri="{FF2B5EF4-FFF2-40B4-BE49-F238E27FC236}">
                <a16:creationId xmlns:a16="http://schemas.microsoft.com/office/drawing/2014/main" id="{B53FF58E-157D-93F0-5233-D7AA68C88AF0}"/>
              </a:ext>
            </a:extLst>
          </p:cNvPr>
          <p:cNvSpPr/>
          <p:nvPr/>
        </p:nvSpPr>
        <p:spPr>
          <a:xfrm>
            <a:off x="9057737" y="2121954"/>
            <a:ext cx="895400" cy="904082"/>
          </a:xfrm>
          <a:prstGeom prst="roundRect">
            <a:avLst/>
          </a:prstGeom>
          <a:blipFill dpi="0" rotWithShape="1">
            <a:blip r:embed="rId22"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11" name="Rounded Rectangle 25">
            <a:extLst>
              <a:ext uri="{FF2B5EF4-FFF2-40B4-BE49-F238E27FC236}">
                <a16:creationId xmlns:a16="http://schemas.microsoft.com/office/drawing/2014/main" id="{016742B3-0E39-9A37-AF6A-E68FE5A08152}"/>
              </a:ext>
            </a:extLst>
          </p:cNvPr>
          <p:cNvSpPr/>
          <p:nvPr/>
        </p:nvSpPr>
        <p:spPr>
          <a:xfrm>
            <a:off x="8070770" y="2121955"/>
            <a:ext cx="858693" cy="904082"/>
          </a:xfrm>
          <a:prstGeom prst="roundRect">
            <a:avLst/>
          </a:prstGeom>
          <a:blipFill dpi="0" rotWithShape="1">
            <a:blip r:embed="rId23"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2" name="Rounded Rectangle 17">
            <a:extLst>
              <a:ext uri="{FF2B5EF4-FFF2-40B4-BE49-F238E27FC236}">
                <a16:creationId xmlns:a16="http://schemas.microsoft.com/office/drawing/2014/main" id="{3536BD0B-84B6-F83F-DE6D-7DED4B3EB542}"/>
              </a:ext>
            </a:extLst>
          </p:cNvPr>
          <p:cNvSpPr/>
          <p:nvPr/>
        </p:nvSpPr>
        <p:spPr>
          <a:xfrm>
            <a:off x="7103347" y="2121955"/>
            <a:ext cx="869734" cy="904082"/>
          </a:xfrm>
          <a:prstGeom prst="roundRect">
            <a:avLst/>
          </a:prstGeom>
          <a:blipFill dpi="0" rotWithShape="1">
            <a:blip r:embed="rId2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13" name="Rounded Rectangle 4">
            <a:extLst>
              <a:ext uri="{FF2B5EF4-FFF2-40B4-BE49-F238E27FC236}">
                <a16:creationId xmlns:a16="http://schemas.microsoft.com/office/drawing/2014/main" id="{EACBCE47-4F03-AEE8-3E07-F3662C77BC19}"/>
              </a:ext>
            </a:extLst>
          </p:cNvPr>
          <p:cNvSpPr/>
          <p:nvPr/>
        </p:nvSpPr>
        <p:spPr>
          <a:xfrm>
            <a:off x="10034931" y="2121954"/>
            <a:ext cx="895400" cy="904082"/>
          </a:xfrm>
          <a:prstGeom prst="roundRect">
            <a:avLst/>
          </a:prstGeom>
          <a:blipFill dpi="0" rotWithShape="1">
            <a:blip r:embed="rId2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14" name="Rounded Rectangle 5">
            <a:extLst>
              <a:ext uri="{FF2B5EF4-FFF2-40B4-BE49-F238E27FC236}">
                <a16:creationId xmlns:a16="http://schemas.microsoft.com/office/drawing/2014/main" id="{258EB096-D6DF-55E4-430F-6AFE73C6FEE0}"/>
              </a:ext>
            </a:extLst>
          </p:cNvPr>
          <p:cNvSpPr/>
          <p:nvPr/>
        </p:nvSpPr>
        <p:spPr>
          <a:xfrm>
            <a:off x="262018" y="3200907"/>
            <a:ext cx="965971" cy="887030"/>
          </a:xfrm>
          <a:prstGeom prst="roundRect">
            <a:avLst/>
          </a:prstGeom>
          <a:blipFill dpi="0" rotWithShape="1">
            <a:blip r:embed="rId26"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5" name="Rounded Rectangle 6">
            <a:extLst>
              <a:ext uri="{FF2B5EF4-FFF2-40B4-BE49-F238E27FC236}">
                <a16:creationId xmlns:a16="http://schemas.microsoft.com/office/drawing/2014/main" id="{C79B42FC-0731-769C-91B9-A2C60A7A2D96}"/>
              </a:ext>
            </a:extLst>
          </p:cNvPr>
          <p:cNvSpPr/>
          <p:nvPr/>
        </p:nvSpPr>
        <p:spPr>
          <a:xfrm>
            <a:off x="1298559" y="3200907"/>
            <a:ext cx="869734" cy="887029"/>
          </a:xfrm>
          <a:prstGeom prst="roundRect">
            <a:avLst/>
          </a:prstGeom>
          <a:blipFill dpi="0" rotWithShape="1">
            <a:blip r:embed="rId27"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6" name="Rounded Rectangle 7">
            <a:extLst>
              <a:ext uri="{FF2B5EF4-FFF2-40B4-BE49-F238E27FC236}">
                <a16:creationId xmlns:a16="http://schemas.microsoft.com/office/drawing/2014/main" id="{E3E697A2-B3EC-18E0-8213-986E16E2794F}"/>
              </a:ext>
            </a:extLst>
          </p:cNvPr>
          <p:cNvSpPr/>
          <p:nvPr/>
        </p:nvSpPr>
        <p:spPr>
          <a:xfrm>
            <a:off x="2264529" y="3200907"/>
            <a:ext cx="895400" cy="887029"/>
          </a:xfrm>
          <a:prstGeom prst="roundRect">
            <a:avLst/>
          </a:prstGeom>
          <a:blipFill dpi="0" rotWithShape="1">
            <a:blip r:embed="rId28"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7" name="Rounded Rectangle 8">
            <a:extLst>
              <a:ext uri="{FF2B5EF4-FFF2-40B4-BE49-F238E27FC236}">
                <a16:creationId xmlns:a16="http://schemas.microsoft.com/office/drawing/2014/main" id="{63D90220-DA1D-A337-1D03-A4C1811F536F}"/>
              </a:ext>
            </a:extLst>
          </p:cNvPr>
          <p:cNvSpPr/>
          <p:nvPr/>
        </p:nvSpPr>
        <p:spPr>
          <a:xfrm>
            <a:off x="11008158" y="2121954"/>
            <a:ext cx="895400" cy="904082"/>
          </a:xfrm>
          <a:prstGeom prst="roundRect">
            <a:avLst/>
          </a:prstGeom>
          <a:blipFill dpi="0" rotWithShape="1">
            <a:blip r:embed="rId29"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8" name="Rounded Rectangle 8">
            <a:extLst>
              <a:ext uri="{FF2B5EF4-FFF2-40B4-BE49-F238E27FC236}">
                <a16:creationId xmlns:a16="http://schemas.microsoft.com/office/drawing/2014/main" id="{B6A3B8FC-FC94-A3F6-3789-E2AFFC95FA9F}"/>
              </a:ext>
            </a:extLst>
          </p:cNvPr>
          <p:cNvSpPr/>
          <p:nvPr/>
        </p:nvSpPr>
        <p:spPr>
          <a:xfrm>
            <a:off x="3237279" y="3191880"/>
            <a:ext cx="895399" cy="896056"/>
          </a:xfrm>
          <a:prstGeom prst="roundRect">
            <a:avLst/>
          </a:prstGeom>
          <a:blipFill dpi="0" rotWithShape="1">
            <a:blip r:embed="rId30"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9" name="Rounded Rectangle 9">
            <a:extLst>
              <a:ext uri="{FF2B5EF4-FFF2-40B4-BE49-F238E27FC236}">
                <a16:creationId xmlns:a16="http://schemas.microsoft.com/office/drawing/2014/main" id="{CAC7D49F-C9A4-E20E-EAA4-8B0C8569F1D8}"/>
              </a:ext>
            </a:extLst>
          </p:cNvPr>
          <p:cNvSpPr/>
          <p:nvPr/>
        </p:nvSpPr>
        <p:spPr>
          <a:xfrm>
            <a:off x="4209391" y="3183564"/>
            <a:ext cx="895399" cy="904082"/>
          </a:xfrm>
          <a:prstGeom prst="roundRect">
            <a:avLst/>
          </a:prstGeom>
          <a:blipFill dpi="0" rotWithShape="1">
            <a:blip r:embed="rId31" cstate="print">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solidFill>
                <a:srgbClr val="000000"/>
              </a:solidFill>
            </a:endParaRPr>
          </a:p>
        </p:txBody>
      </p:sp>
      <p:sp>
        <p:nvSpPr>
          <p:cNvPr id="21" name="Rounded Rectangle 14">
            <a:extLst>
              <a:ext uri="{FF2B5EF4-FFF2-40B4-BE49-F238E27FC236}">
                <a16:creationId xmlns:a16="http://schemas.microsoft.com/office/drawing/2014/main" id="{29750B3D-5FA9-3EF5-8BDE-D79CBD4D2C18}"/>
              </a:ext>
            </a:extLst>
          </p:cNvPr>
          <p:cNvSpPr/>
          <p:nvPr/>
        </p:nvSpPr>
        <p:spPr>
          <a:xfrm>
            <a:off x="5181503" y="3183564"/>
            <a:ext cx="895399" cy="904082"/>
          </a:xfrm>
          <a:prstGeom prst="roundRect">
            <a:avLst/>
          </a:prstGeom>
          <a:blipFill dpi="0" rotWithShape="1">
            <a:blip r:embed="rId32" cstate="print">
              <a:extLst>
                <a:ext uri="{28A0092B-C50C-407E-A947-70E740481C1C}">
                  <a14:useLocalDpi xmlns:a14="http://schemas.microsoft.com/office/drawing/2010/main" val="0"/>
                </a:ext>
              </a:extLst>
            </a:blip>
            <a:srcRect/>
            <a:stretch>
              <a:fillRect/>
            </a:stretch>
          </a:blipFill>
          <a:ln w="1270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3" name="Rounded Rectangle 11">
            <a:extLst>
              <a:ext uri="{FF2B5EF4-FFF2-40B4-BE49-F238E27FC236}">
                <a16:creationId xmlns:a16="http://schemas.microsoft.com/office/drawing/2014/main" id="{EE7EA944-2A8C-81CE-2D50-C7CAA0BE84C3}"/>
              </a:ext>
            </a:extLst>
          </p:cNvPr>
          <p:cNvSpPr/>
          <p:nvPr/>
        </p:nvSpPr>
        <p:spPr>
          <a:xfrm>
            <a:off x="6174861" y="3183564"/>
            <a:ext cx="895399" cy="904082"/>
          </a:xfrm>
          <a:prstGeom prst="roundRect">
            <a:avLst/>
          </a:prstGeom>
          <a:blipFill dpi="0" rotWithShape="1">
            <a:blip r:embed="rId33" cstate="print">
              <a:extLst>
                <a:ext uri="{28A0092B-C50C-407E-A947-70E740481C1C}">
                  <a14:useLocalDpi xmlns:a14="http://schemas.microsoft.com/office/drawing/2010/main" val="0"/>
                </a:ext>
              </a:extLst>
            </a:blip>
            <a:srcRect/>
            <a:stretch>
              <a:fillRect/>
            </a:stretch>
          </a:blipFill>
          <a:ln w="1905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4" name="Rounded Rectangle 12">
            <a:extLst>
              <a:ext uri="{FF2B5EF4-FFF2-40B4-BE49-F238E27FC236}">
                <a16:creationId xmlns:a16="http://schemas.microsoft.com/office/drawing/2014/main" id="{72734688-7279-8874-B485-212AFF61D964}"/>
              </a:ext>
            </a:extLst>
          </p:cNvPr>
          <p:cNvSpPr/>
          <p:nvPr/>
        </p:nvSpPr>
        <p:spPr>
          <a:xfrm>
            <a:off x="7148855" y="3183564"/>
            <a:ext cx="869734" cy="904082"/>
          </a:xfrm>
          <a:prstGeom prst="roundRect">
            <a:avLst/>
          </a:prstGeom>
          <a:blipFill dpi="0" rotWithShape="1">
            <a:blip r:embed="rId3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5" name="Rounded Rectangle 16">
            <a:extLst>
              <a:ext uri="{FF2B5EF4-FFF2-40B4-BE49-F238E27FC236}">
                <a16:creationId xmlns:a16="http://schemas.microsoft.com/office/drawing/2014/main" id="{984EAD92-09CF-B156-783A-582696DA557E}"/>
              </a:ext>
            </a:extLst>
          </p:cNvPr>
          <p:cNvSpPr/>
          <p:nvPr/>
        </p:nvSpPr>
        <p:spPr>
          <a:xfrm>
            <a:off x="9055527" y="3183004"/>
            <a:ext cx="869734" cy="904082"/>
          </a:xfrm>
          <a:prstGeom prst="roundRect">
            <a:avLst/>
          </a:prstGeom>
          <a:blipFill dpi="0" rotWithShape="1">
            <a:blip r:embed="rId3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6" name="Rounded Rectangle 13">
            <a:extLst>
              <a:ext uri="{FF2B5EF4-FFF2-40B4-BE49-F238E27FC236}">
                <a16:creationId xmlns:a16="http://schemas.microsoft.com/office/drawing/2014/main" id="{0AC14D9A-896E-3FA2-71C6-8F8DFFD5B9C0}"/>
              </a:ext>
            </a:extLst>
          </p:cNvPr>
          <p:cNvSpPr/>
          <p:nvPr/>
        </p:nvSpPr>
        <p:spPr>
          <a:xfrm>
            <a:off x="8091766" y="3183004"/>
            <a:ext cx="869734" cy="904082"/>
          </a:xfrm>
          <a:prstGeom prst="roundRect">
            <a:avLst/>
          </a:prstGeom>
          <a:blipFill dpi="0" rotWithShape="1">
            <a:blip r:embed="rId36"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7" name="Rounded Rectangle 13">
            <a:extLst>
              <a:ext uri="{FF2B5EF4-FFF2-40B4-BE49-F238E27FC236}">
                <a16:creationId xmlns:a16="http://schemas.microsoft.com/office/drawing/2014/main" id="{7258380A-BF3A-DD56-ED05-066AA896BB36}"/>
              </a:ext>
            </a:extLst>
          </p:cNvPr>
          <p:cNvSpPr/>
          <p:nvPr/>
        </p:nvSpPr>
        <p:spPr>
          <a:xfrm>
            <a:off x="1298559" y="4222369"/>
            <a:ext cx="869734" cy="887029"/>
          </a:xfrm>
          <a:prstGeom prst="roundRect">
            <a:avLst/>
          </a:prstGeom>
          <a:blipFill dpi="0" rotWithShape="1">
            <a:blip r:embed="rId37"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8" name="Rounded Rectangle 14">
            <a:extLst>
              <a:ext uri="{FF2B5EF4-FFF2-40B4-BE49-F238E27FC236}">
                <a16:creationId xmlns:a16="http://schemas.microsoft.com/office/drawing/2014/main" id="{E3CCF6DB-BCBE-CB3B-1EAF-D5A8D470E4B9}"/>
              </a:ext>
            </a:extLst>
          </p:cNvPr>
          <p:cNvSpPr/>
          <p:nvPr/>
        </p:nvSpPr>
        <p:spPr>
          <a:xfrm>
            <a:off x="11005565" y="3191880"/>
            <a:ext cx="897993" cy="904082"/>
          </a:xfrm>
          <a:prstGeom prst="roundRect">
            <a:avLst/>
          </a:prstGeom>
          <a:blipFill dpi="0" rotWithShape="1">
            <a:blip r:embed="rId38" cstate="print">
              <a:extLst>
                <a:ext uri="{28A0092B-C50C-407E-A947-70E740481C1C}">
                  <a14:useLocalDpi xmlns:a14="http://schemas.microsoft.com/office/drawing/2010/main" val="0"/>
                </a:ext>
              </a:extLst>
            </a:blip>
            <a:srcRect/>
            <a:stretch>
              <a:fillRect/>
            </a:stretch>
          </a:blipFill>
          <a:ln w="1270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9" name="Rounded Rectangle 14">
            <a:extLst>
              <a:ext uri="{FF2B5EF4-FFF2-40B4-BE49-F238E27FC236}">
                <a16:creationId xmlns:a16="http://schemas.microsoft.com/office/drawing/2014/main" id="{B9196803-79C3-CC01-0C7E-2A00B223A884}"/>
              </a:ext>
            </a:extLst>
          </p:cNvPr>
          <p:cNvSpPr/>
          <p:nvPr/>
        </p:nvSpPr>
        <p:spPr>
          <a:xfrm>
            <a:off x="10019288" y="3183004"/>
            <a:ext cx="911043" cy="904082"/>
          </a:xfrm>
          <a:prstGeom prst="roundRect">
            <a:avLst/>
          </a:prstGeom>
          <a:blipFill dpi="0" rotWithShape="1">
            <a:blip r:embed="rId39" cstate="print">
              <a:extLst>
                <a:ext uri="{28A0092B-C50C-407E-A947-70E740481C1C}">
                  <a14:useLocalDpi xmlns:a14="http://schemas.microsoft.com/office/drawing/2010/main" val="0"/>
                </a:ext>
              </a:extLst>
            </a:blip>
            <a:srcRect/>
            <a:stretch>
              <a:fillRect/>
            </a:stretch>
          </a:blipFill>
          <a:ln w="1270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31" name="Rounded Rectangle 14">
            <a:extLst>
              <a:ext uri="{FF2B5EF4-FFF2-40B4-BE49-F238E27FC236}">
                <a16:creationId xmlns:a16="http://schemas.microsoft.com/office/drawing/2014/main" id="{2BDB2082-E834-D023-195B-4FF6869AEF0E}"/>
              </a:ext>
            </a:extLst>
          </p:cNvPr>
          <p:cNvSpPr/>
          <p:nvPr/>
        </p:nvSpPr>
        <p:spPr>
          <a:xfrm>
            <a:off x="9082776" y="4250384"/>
            <a:ext cx="965971" cy="887030"/>
          </a:xfrm>
          <a:prstGeom prst="roundRect">
            <a:avLst/>
          </a:prstGeom>
          <a:blipFill dpi="0" rotWithShape="1">
            <a:blip r:embed="rId40" cstate="print">
              <a:extLst>
                <a:ext uri="{28A0092B-C50C-407E-A947-70E740481C1C}">
                  <a14:useLocalDpi xmlns:a14="http://schemas.microsoft.com/office/drawing/2010/main" val="0"/>
                </a:ext>
              </a:extLst>
            </a:blip>
            <a:srcRect/>
            <a:stretch>
              <a:fillRect/>
            </a:stretch>
          </a:blipFill>
          <a:ln w="1270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32" name="Rounded Rectangle 6">
            <a:extLst>
              <a:ext uri="{FF2B5EF4-FFF2-40B4-BE49-F238E27FC236}">
                <a16:creationId xmlns:a16="http://schemas.microsoft.com/office/drawing/2014/main" id="{D6EBE84C-3A0F-E216-E154-0CD02F38B269}"/>
              </a:ext>
            </a:extLst>
          </p:cNvPr>
          <p:cNvSpPr/>
          <p:nvPr/>
        </p:nvSpPr>
        <p:spPr>
          <a:xfrm>
            <a:off x="2264529" y="4222369"/>
            <a:ext cx="920522" cy="887029"/>
          </a:xfrm>
          <a:prstGeom prst="roundRect">
            <a:avLst/>
          </a:prstGeom>
          <a:blipFill dpi="0" rotWithShape="1">
            <a:blip r:embed="rId41"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33" name="Rounded Rectangle 7">
            <a:extLst>
              <a:ext uri="{FF2B5EF4-FFF2-40B4-BE49-F238E27FC236}">
                <a16:creationId xmlns:a16="http://schemas.microsoft.com/office/drawing/2014/main" id="{3C91E41F-0884-6B18-2E64-A28614258A98}"/>
              </a:ext>
            </a:extLst>
          </p:cNvPr>
          <p:cNvSpPr/>
          <p:nvPr/>
        </p:nvSpPr>
        <p:spPr>
          <a:xfrm>
            <a:off x="3253692" y="4222369"/>
            <a:ext cx="890409" cy="896056"/>
          </a:xfrm>
          <a:prstGeom prst="roundRect">
            <a:avLst/>
          </a:prstGeom>
          <a:blipFill dpi="0" rotWithShape="1">
            <a:blip r:embed="rId42"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34" name="Rounded Rectangle 8">
            <a:extLst>
              <a:ext uri="{FF2B5EF4-FFF2-40B4-BE49-F238E27FC236}">
                <a16:creationId xmlns:a16="http://schemas.microsoft.com/office/drawing/2014/main" id="{579482A1-BD49-607E-A2B3-F4302C6141FA}"/>
              </a:ext>
            </a:extLst>
          </p:cNvPr>
          <p:cNvSpPr/>
          <p:nvPr/>
        </p:nvSpPr>
        <p:spPr>
          <a:xfrm>
            <a:off x="4206862" y="4219853"/>
            <a:ext cx="897927" cy="896056"/>
          </a:xfrm>
          <a:prstGeom prst="roundRect">
            <a:avLst/>
          </a:prstGeom>
          <a:blipFill dpi="0" rotWithShape="1">
            <a:blip r:embed="rId43"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35" name="Rounded Rectangle 9">
            <a:extLst>
              <a:ext uri="{FF2B5EF4-FFF2-40B4-BE49-F238E27FC236}">
                <a16:creationId xmlns:a16="http://schemas.microsoft.com/office/drawing/2014/main" id="{EB5B6F53-E311-0638-7271-DD9892E08D31}"/>
              </a:ext>
            </a:extLst>
          </p:cNvPr>
          <p:cNvSpPr/>
          <p:nvPr/>
        </p:nvSpPr>
        <p:spPr>
          <a:xfrm>
            <a:off x="7160021" y="4242416"/>
            <a:ext cx="920522" cy="926492"/>
          </a:xfrm>
          <a:prstGeom prst="roundRect">
            <a:avLst/>
          </a:prstGeom>
          <a:blipFill dpi="0" rotWithShape="1">
            <a:blip r:embed="rId4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36" name="Rounded Rectangle 13">
            <a:extLst>
              <a:ext uri="{FF2B5EF4-FFF2-40B4-BE49-F238E27FC236}">
                <a16:creationId xmlns:a16="http://schemas.microsoft.com/office/drawing/2014/main" id="{7D6672A2-BDA8-C267-98F7-7960ADAF7FCE}"/>
              </a:ext>
            </a:extLst>
          </p:cNvPr>
          <p:cNvSpPr/>
          <p:nvPr/>
        </p:nvSpPr>
        <p:spPr>
          <a:xfrm>
            <a:off x="5198072" y="4237934"/>
            <a:ext cx="897927" cy="902798"/>
          </a:xfrm>
          <a:prstGeom prst="roundRect">
            <a:avLst/>
          </a:prstGeom>
          <a:blipFill dpi="0" rotWithShape="1">
            <a:blip r:embed="rId45" cstate="print">
              <a:extLst>
                <a:ext uri="{28A0092B-C50C-407E-A947-70E740481C1C}">
                  <a14:useLocalDpi xmlns:a14="http://schemas.microsoft.com/office/drawing/2010/main" val="0"/>
                </a:ext>
              </a:extLst>
            </a:blip>
            <a:srcRect/>
            <a:stretch>
              <a:fillRect/>
            </a:stretch>
          </a:blipFill>
          <a:ln w="1905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37" name="Rounded Rectangle 14">
            <a:extLst>
              <a:ext uri="{FF2B5EF4-FFF2-40B4-BE49-F238E27FC236}">
                <a16:creationId xmlns:a16="http://schemas.microsoft.com/office/drawing/2014/main" id="{CBA17087-E46F-2D4F-7EB5-EE2E931A46A2}"/>
              </a:ext>
            </a:extLst>
          </p:cNvPr>
          <p:cNvSpPr/>
          <p:nvPr/>
        </p:nvSpPr>
        <p:spPr>
          <a:xfrm>
            <a:off x="6180182" y="4237934"/>
            <a:ext cx="920522" cy="930974"/>
          </a:xfrm>
          <a:prstGeom prst="roundRect">
            <a:avLst/>
          </a:prstGeom>
          <a:blipFill dpi="0" rotWithShape="1">
            <a:blip r:embed="rId46"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38" name="Rounded Rectangle 17">
            <a:extLst>
              <a:ext uri="{FF2B5EF4-FFF2-40B4-BE49-F238E27FC236}">
                <a16:creationId xmlns:a16="http://schemas.microsoft.com/office/drawing/2014/main" id="{0BA605AE-1A2D-1819-1240-F15F3B7DDA8D}"/>
              </a:ext>
            </a:extLst>
          </p:cNvPr>
          <p:cNvSpPr/>
          <p:nvPr/>
        </p:nvSpPr>
        <p:spPr>
          <a:xfrm>
            <a:off x="8139859" y="4250384"/>
            <a:ext cx="869733" cy="926492"/>
          </a:xfrm>
          <a:prstGeom prst="roundRect">
            <a:avLst/>
          </a:prstGeom>
          <a:blipFill dpi="0" rotWithShape="1">
            <a:blip r:embed="rId47"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446136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16" presetClass="entr" presetSubtype="21"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barn(inVertical)">
                                      <p:cBhvr>
                                        <p:cTn id="15" dur="500"/>
                                        <p:tgtEl>
                                          <p:spTgt spid="47"/>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53"/>
                                        </p:tgtEl>
                                        <p:attrNameLst>
                                          <p:attrName>style.visibility</p:attrName>
                                        </p:attrNameLst>
                                      </p:cBhvr>
                                      <p:to>
                                        <p:strVal val="visible"/>
                                      </p:to>
                                    </p:set>
                                    <p:animEffect transition="in" filter="barn(inVertical)">
                                      <p:cBhvr>
                                        <p:cTn id="18" dur="500"/>
                                        <p:tgtEl>
                                          <p:spTgt spid="53"/>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animEffect transition="in" filter="barn(inVertical)">
                                      <p:cBhvr>
                                        <p:cTn id="21" dur="500"/>
                                        <p:tgtEl>
                                          <p:spTgt spid="54"/>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55"/>
                                        </p:tgtEl>
                                        <p:attrNameLst>
                                          <p:attrName>style.visibility</p:attrName>
                                        </p:attrNameLst>
                                      </p:cBhvr>
                                      <p:to>
                                        <p:strVal val="visible"/>
                                      </p:to>
                                    </p:set>
                                    <p:animEffect transition="in" filter="barn(inVertical)">
                                      <p:cBhvr>
                                        <p:cTn id="24" dur="500"/>
                                        <p:tgtEl>
                                          <p:spTgt spid="55"/>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barn(inVertical)">
                                      <p:cBhvr>
                                        <p:cTn id="27" dur="500"/>
                                        <p:tgtEl>
                                          <p:spTgt spid="56"/>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barn(inVertical)">
                                      <p:cBhvr>
                                        <p:cTn id="30" dur="500"/>
                                        <p:tgtEl>
                                          <p:spTgt spid="57"/>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58"/>
                                        </p:tgtEl>
                                        <p:attrNameLst>
                                          <p:attrName>style.visibility</p:attrName>
                                        </p:attrNameLst>
                                      </p:cBhvr>
                                      <p:to>
                                        <p:strVal val="visible"/>
                                      </p:to>
                                    </p:set>
                                    <p:animEffect transition="in" filter="barn(inVertical)">
                                      <p:cBhvr>
                                        <p:cTn id="33" dur="500"/>
                                        <p:tgtEl>
                                          <p:spTgt spid="58"/>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barn(inVertical)">
                                      <p:cBhvr>
                                        <p:cTn id="36" dur="500"/>
                                        <p:tgtEl>
                                          <p:spTgt spid="59"/>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60"/>
                                        </p:tgtEl>
                                        <p:attrNameLst>
                                          <p:attrName>style.visibility</p:attrName>
                                        </p:attrNameLst>
                                      </p:cBhvr>
                                      <p:to>
                                        <p:strVal val="visible"/>
                                      </p:to>
                                    </p:set>
                                    <p:animEffect transition="in" filter="barn(inVertical)">
                                      <p:cBhvr>
                                        <p:cTn id="39" dur="500"/>
                                        <p:tgtEl>
                                          <p:spTgt spid="60"/>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arn(inVertical)">
                                      <p:cBhvr>
                                        <p:cTn id="42" dur="500"/>
                                        <p:tgtEl>
                                          <p:spTgt spid="20"/>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62"/>
                                        </p:tgtEl>
                                        <p:attrNameLst>
                                          <p:attrName>style.visibility</p:attrName>
                                        </p:attrNameLst>
                                      </p:cBhvr>
                                      <p:to>
                                        <p:strVal val="visible"/>
                                      </p:to>
                                    </p:set>
                                    <p:animEffect transition="in" filter="barn(inVertical)">
                                      <p:cBhvr>
                                        <p:cTn id="45" dur="500"/>
                                        <p:tgtEl>
                                          <p:spTgt spid="62"/>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63"/>
                                        </p:tgtEl>
                                        <p:attrNameLst>
                                          <p:attrName>style.visibility</p:attrName>
                                        </p:attrNameLst>
                                      </p:cBhvr>
                                      <p:to>
                                        <p:strVal val="visible"/>
                                      </p:to>
                                    </p:set>
                                    <p:animEffect transition="in" filter="barn(inVertical)">
                                      <p:cBhvr>
                                        <p:cTn id="48" dur="500"/>
                                        <p:tgtEl>
                                          <p:spTgt spid="63"/>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64"/>
                                        </p:tgtEl>
                                        <p:attrNameLst>
                                          <p:attrName>style.visibility</p:attrName>
                                        </p:attrNameLst>
                                      </p:cBhvr>
                                      <p:to>
                                        <p:strVal val="visible"/>
                                      </p:to>
                                    </p:set>
                                    <p:animEffect transition="in" filter="barn(inVertical)">
                                      <p:cBhvr>
                                        <p:cTn id="51" dur="500"/>
                                        <p:tgtEl>
                                          <p:spTgt spid="64"/>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barn(inVertical)">
                                      <p:cBhvr>
                                        <p:cTn id="54" dur="500"/>
                                        <p:tgtEl>
                                          <p:spTgt spid="5"/>
                                        </p:tgtEl>
                                      </p:cBhvr>
                                    </p:animEffect>
                                  </p:childTnLst>
                                </p:cTn>
                              </p:par>
                              <p:par>
                                <p:cTn id="55" presetID="42" presetClass="entr" presetSubtype="0" fill="hold" grpId="0" nodeType="withEffect">
                                  <p:stCondLst>
                                    <p:cond delay="0"/>
                                  </p:stCondLst>
                                  <p:childTnLst>
                                    <p:set>
                                      <p:cBhvr>
                                        <p:cTn id="56" dur="1" fill="hold">
                                          <p:stCondLst>
                                            <p:cond delay="0"/>
                                          </p:stCondLst>
                                        </p:cTn>
                                        <p:tgtEl>
                                          <p:spTgt spid="65"/>
                                        </p:tgtEl>
                                        <p:attrNameLst>
                                          <p:attrName>style.visibility</p:attrName>
                                        </p:attrNameLst>
                                      </p:cBhvr>
                                      <p:to>
                                        <p:strVal val="visible"/>
                                      </p:to>
                                    </p:set>
                                    <p:animEffect transition="in" filter="fade">
                                      <p:cBhvr>
                                        <p:cTn id="57" dur="1000"/>
                                        <p:tgtEl>
                                          <p:spTgt spid="65"/>
                                        </p:tgtEl>
                                      </p:cBhvr>
                                    </p:animEffect>
                                    <p:anim calcmode="lin" valueType="num">
                                      <p:cBhvr>
                                        <p:cTn id="58" dur="1000" fill="hold"/>
                                        <p:tgtEl>
                                          <p:spTgt spid="65"/>
                                        </p:tgtEl>
                                        <p:attrNameLst>
                                          <p:attrName>ppt_x</p:attrName>
                                        </p:attrNameLst>
                                      </p:cBhvr>
                                      <p:tavLst>
                                        <p:tav tm="0">
                                          <p:val>
                                            <p:strVal val="#ppt_x"/>
                                          </p:val>
                                        </p:tav>
                                        <p:tav tm="100000">
                                          <p:val>
                                            <p:strVal val="#ppt_x"/>
                                          </p:val>
                                        </p:tav>
                                      </p:tavLst>
                                    </p:anim>
                                    <p:anim calcmode="lin" valueType="num">
                                      <p:cBhvr>
                                        <p:cTn id="59" dur="1000" fill="hold"/>
                                        <p:tgtEl>
                                          <p:spTgt spid="6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1000"/>
                                        <p:tgtEl>
                                          <p:spTgt spid="2"/>
                                        </p:tgtEl>
                                      </p:cBhvr>
                                    </p:animEffect>
                                    <p:anim calcmode="lin" valueType="num">
                                      <p:cBhvr>
                                        <p:cTn id="63" dur="1000" fill="hold"/>
                                        <p:tgtEl>
                                          <p:spTgt spid="2"/>
                                        </p:tgtEl>
                                        <p:attrNameLst>
                                          <p:attrName>ppt_x</p:attrName>
                                        </p:attrNameLst>
                                      </p:cBhvr>
                                      <p:tavLst>
                                        <p:tav tm="0">
                                          <p:val>
                                            <p:strVal val="#ppt_x"/>
                                          </p:val>
                                        </p:tav>
                                        <p:tav tm="100000">
                                          <p:val>
                                            <p:strVal val="#ppt_x"/>
                                          </p:val>
                                        </p:tav>
                                      </p:tavLst>
                                    </p:anim>
                                    <p:anim calcmode="lin" valueType="num">
                                      <p:cBhvr>
                                        <p:cTn id="64" dur="1000" fill="hold"/>
                                        <p:tgtEl>
                                          <p:spTgt spid="2"/>
                                        </p:tgtEl>
                                        <p:attrNameLst>
                                          <p:attrName>ppt_y</p:attrName>
                                        </p:attrNameLst>
                                      </p:cBhvr>
                                      <p:tavLst>
                                        <p:tav tm="0">
                                          <p:val>
                                            <p:strVal val="#ppt_y+.1"/>
                                          </p:val>
                                        </p:tav>
                                        <p:tav tm="100000">
                                          <p:val>
                                            <p:strVal val="#ppt_y"/>
                                          </p:val>
                                        </p:tav>
                                      </p:tavLst>
                                    </p:anim>
                                  </p:childTnLst>
                                </p:cTn>
                              </p:par>
                              <p:par>
                                <p:cTn id="65" presetID="16" presetClass="entr" presetSubtype="21" fill="hold" grpId="0" nodeType="with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barn(inVertical)">
                                      <p:cBhvr>
                                        <p:cTn id="67" dur="500"/>
                                        <p:tgtEl>
                                          <p:spTgt spid="4"/>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barn(inVertical)">
                                      <p:cBhvr>
                                        <p:cTn id="70" dur="500"/>
                                        <p:tgtEl>
                                          <p:spTgt spid="6"/>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7"/>
                                        </p:tgtEl>
                                        <p:attrNameLst>
                                          <p:attrName>style.visibility</p:attrName>
                                        </p:attrNameLst>
                                      </p:cBhvr>
                                      <p:to>
                                        <p:strVal val="visible"/>
                                      </p:to>
                                    </p:set>
                                    <p:animEffect transition="in" filter="barn(inVertical)">
                                      <p:cBhvr>
                                        <p:cTn id="73" dur="500"/>
                                        <p:tgtEl>
                                          <p:spTgt spid="7"/>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barn(inVertical)">
                                      <p:cBhvr>
                                        <p:cTn id="76" dur="500"/>
                                        <p:tgtEl>
                                          <p:spTgt spid="8"/>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9"/>
                                        </p:tgtEl>
                                        <p:attrNameLst>
                                          <p:attrName>style.visibility</p:attrName>
                                        </p:attrNameLst>
                                      </p:cBhvr>
                                      <p:to>
                                        <p:strVal val="visible"/>
                                      </p:to>
                                    </p:set>
                                    <p:animEffect transition="in" filter="barn(inVertical)">
                                      <p:cBhvr>
                                        <p:cTn id="79" dur="500"/>
                                        <p:tgtEl>
                                          <p:spTgt spid="9"/>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barn(inVertical)">
                                      <p:cBhvr>
                                        <p:cTn id="82" dur="500"/>
                                        <p:tgtEl>
                                          <p:spTgt spid="10"/>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11"/>
                                        </p:tgtEl>
                                        <p:attrNameLst>
                                          <p:attrName>style.visibility</p:attrName>
                                        </p:attrNameLst>
                                      </p:cBhvr>
                                      <p:to>
                                        <p:strVal val="visible"/>
                                      </p:to>
                                    </p:set>
                                    <p:animEffect transition="in" filter="barn(inVertical)">
                                      <p:cBhvr>
                                        <p:cTn id="85" dur="500"/>
                                        <p:tgtEl>
                                          <p:spTgt spid="11"/>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12"/>
                                        </p:tgtEl>
                                        <p:attrNameLst>
                                          <p:attrName>style.visibility</p:attrName>
                                        </p:attrNameLst>
                                      </p:cBhvr>
                                      <p:to>
                                        <p:strVal val="visible"/>
                                      </p:to>
                                    </p:set>
                                    <p:animEffect transition="in" filter="barn(inVertical)">
                                      <p:cBhvr>
                                        <p:cTn id="88" dur="500"/>
                                        <p:tgtEl>
                                          <p:spTgt spid="12"/>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13"/>
                                        </p:tgtEl>
                                        <p:attrNameLst>
                                          <p:attrName>style.visibility</p:attrName>
                                        </p:attrNameLst>
                                      </p:cBhvr>
                                      <p:to>
                                        <p:strVal val="visible"/>
                                      </p:to>
                                    </p:set>
                                    <p:animEffect transition="in" filter="barn(inVertical)">
                                      <p:cBhvr>
                                        <p:cTn id="91" dur="500"/>
                                        <p:tgtEl>
                                          <p:spTgt spid="13"/>
                                        </p:tgtEl>
                                      </p:cBhvr>
                                    </p:animEffect>
                                  </p:childTnLst>
                                </p:cTn>
                              </p:par>
                              <p:par>
                                <p:cTn id="92" presetID="16" presetClass="entr" presetSubtype="21" fill="hold" grpId="0" nodeType="withEffect">
                                  <p:stCondLst>
                                    <p:cond delay="0"/>
                                  </p:stCondLst>
                                  <p:childTnLst>
                                    <p:set>
                                      <p:cBhvr>
                                        <p:cTn id="93" dur="1" fill="hold">
                                          <p:stCondLst>
                                            <p:cond delay="0"/>
                                          </p:stCondLst>
                                        </p:cTn>
                                        <p:tgtEl>
                                          <p:spTgt spid="14"/>
                                        </p:tgtEl>
                                        <p:attrNameLst>
                                          <p:attrName>style.visibility</p:attrName>
                                        </p:attrNameLst>
                                      </p:cBhvr>
                                      <p:to>
                                        <p:strVal val="visible"/>
                                      </p:to>
                                    </p:set>
                                    <p:animEffect transition="in" filter="barn(inVertical)">
                                      <p:cBhvr>
                                        <p:cTn id="94" dur="500"/>
                                        <p:tgtEl>
                                          <p:spTgt spid="14"/>
                                        </p:tgtEl>
                                      </p:cBhvr>
                                    </p:animEffect>
                                  </p:childTnLst>
                                </p:cTn>
                              </p:par>
                              <p:par>
                                <p:cTn id="95" presetID="16" presetClass="entr" presetSubtype="21" fill="hold" grpId="0" nodeType="withEffect">
                                  <p:stCondLst>
                                    <p:cond delay="0"/>
                                  </p:stCondLst>
                                  <p:childTnLst>
                                    <p:set>
                                      <p:cBhvr>
                                        <p:cTn id="96" dur="1" fill="hold">
                                          <p:stCondLst>
                                            <p:cond delay="0"/>
                                          </p:stCondLst>
                                        </p:cTn>
                                        <p:tgtEl>
                                          <p:spTgt spid="15"/>
                                        </p:tgtEl>
                                        <p:attrNameLst>
                                          <p:attrName>style.visibility</p:attrName>
                                        </p:attrNameLst>
                                      </p:cBhvr>
                                      <p:to>
                                        <p:strVal val="visible"/>
                                      </p:to>
                                    </p:set>
                                    <p:animEffect transition="in" filter="barn(inVertical)">
                                      <p:cBhvr>
                                        <p:cTn id="97" dur="500"/>
                                        <p:tgtEl>
                                          <p:spTgt spid="15"/>
                                        </p:tgtEl>
                                      </p:cBhvr>
                                    </p:animEffect>
                                  </p:childTnLst>
                                </p:cTn>
                              </p:par>
                              <p:par>
                                <p:cTn id="98" presetID="16" presetClass="entr" presetSubtype="21" fill="hold" grpId="0" nodeType="withEffect">
                                  <p:stCondLst>
                                    <p:cond delay="0"/>
                                  </p:stCondLst>
                                  <p:childTnLst>
                                    <p:set>
                                      <p:cBhvr>
                                        <p:cTn id="99" dur="1" fill="hold">
                                          <p:stCondLst>
                                            <p:cond delay="0"/>
                                          </p:stCondLst>
                                        </p:cTn>
                                        <p:tgtEl>
                                          <p:spTgt spid="16"/>
                                        </p:tgtEl>
                                        <p:attrNameLst>
                                          <p:attrName>style.visibility</p:attrName>
                                        </p:attrNameLst>
                                      </p:cBhvr>
                                      <p:to>
                                        <p:strVal val="visible"/>
                                      </p:to>
                                    </p:set>
                                    <p:animEffect transition="in" filter="barn(inVertical)">
                                      <p:cBhvr>
                                        <p:cTn id="100" dur="500"/>
                                        <p:tgtEl>
                                          <p:spTgt spid="16"/>
                                        </p:tgtEl>
                                      </p:cBhvr>
                                    </p:animEffect>
                                  </p:childTnLst>
                                </p:cTn>
                              </p:par>
                              <p:par>
                                <p:cTn id="101" presetID="16" presetClass="entr" presetSubtype="21" fill="hold" grpId="0" nodeType="withEffect">
                                  <p:stCondLst>
                                    <p:cond delay="0"/>
                                  </p:stCondLst>
                                  <p:childTnLst>
                                    <p:set>
                                      <p:cBhvr>
                                        <p:cTn id="102" dur="1" fill="hold">
                                          <p:stCondLst>
                                            <p:cond delay="0"/>
                                          </p:stCondLst>
                                        </p:cTn>
                                        <p:tgtEl>
                                          <p:spTgt spid="17"/>
                                        </p:tgtEl>
                                        <p:attrNameLst>
                                          <p:attrName>style.visibility</p:attrName>
                                        </p:attrNameLst>
                                      </p:cBhvr>
                                      <p:to>
                                        <p:strVal val="visible"/>
                                      </p:to>
                                    </p:set>
                                    <p:animEffect transition="in" filter="barn(inVertical)">
                                      <p:cBhvr>
                                        <p:cTn id="103" dur="500"/>
                                        <p:tgtEl>
                                          <p:spTgt spid="17"/>
                                        </p:tgtEl>
                                      </p:cBhvr>
                                    </p:animEffect>
                                  </p:childTnLst>
                                </p:cTn>
                              </p:par>
                              <p:par>
                                <p:cTn id="104" presetID="16" presetClass="entr" presetSubtype="21" fill="hold" grpId="0" nodeType="withEffect">
                                  <p:stCondLst>
                                    <p:cond delay="0"/>
                                  </p:stCondLst>
                                  <p:childTnLst>
                                    <p:set>
                                      <p:cBhvr>
                                        <p:cTn id="105" dur="1" fill="hold">
                                          <p:stCondLst>
                                            <p:cond delay="0"/>
                                          </p:stCondLst>
                                        </p:cTn>
                                        <p:tgtEl>
                                          <p:spTgt spid="18"/>
                                        </p:tgtEl>
                                        <p:attrNameLst>
                                          <p:attrName>style.visibility</p:attrName>
                                        </p:attrNameLst>
                                      </p:cBhvr>
                                      <p:to>
                                        <p:strVal val="visible"/>
                                      </p:to>
                                    </p:set>
                                    <p:animEffect transition="in" filter="barn(inVertical)">
                                      <p:cBhvr>
                                        <p:cTn id="106" dur="500"/>
                                        <p:tgtEl>
                                          <p:spTgt spid="18"/>
                                        </p:tgtEl>
                                      </p:cBhvr>
                                    </p:animEffect>
                                  </p:childTnLst>
                                </p:cTn>
                              </p:par>
                              <p:par>
                                <p:cTn id="107" presetID="16" presetClass="entr" presetSubtype="21" fill="hold" grpId="0" nodeType="withEffect">
                                  <p:stCondLst>
                                    <p:cond delay="0"/>
                                  </p:stCondLst>
                                  <p:childTnLst>
                                    <p:set>
                                      <p:cBhvr>
                                        <p:cTn id="108" dur="1" fill="hold">
                                          <p:stCondLst>
                                            <p:cond delay="0"/>
                                          </p:stCondLst>
                                        </p:cTn>
                                        <p:tgtEl>
                                          <p:spTgt spid="19"/>
                                        </p:tgtEl>
                                        <p:attrNameLst>
                                          <p:attrName>style.visibility</p:attrName>
                                        </p:attrNameLst>
                                      </p:cBhvr>
                                      <p:to>
                                        <p:strVal val="visible"/>
                                      </p:to>
                                    </p:set>
                                    <p:animEffect transition="in" filter="barn(inVertical)">
                                      <p:cBhvr>
                                        <p:cTn id="109" dur="500"/>
                                        <p:tgtEl>
                                          <p:spTgt spid="19"/>
                                        </p:tgtEl>
                                      </p:cBhvr>
                                    </p:animEffect>
                                  </p:childTnLst>
                                </p:cTn>
                              </p:par>
                              <p:par>
                                <p:cTn id="110" presetID="16" presetClass="entr" presetSubtype="21" fill="hold" grpId="0" nodeType="withEffect">
                                  <p:stCondLst>
                                    <p:cond delay="0"/>
                                  </p:stCondLst>
                                  <p:childTnLst>
                                    <p:set>
                                      <p:cBhvr>
                                        <p:cTn id="111" dur="1" fill="hold">
                                          <p:stCondLst>
                                            <p:cond delay="0"/>
                                          </p:stCondLst>
                                        </p:cTn>
                                        <p:tgtEl>
                                          <p:spTgt spid="21"/>
                                        </p:tgtEl>
                                        <p:attrNameLst>
                                          <p:attrName>style.visibility</p:attrName>
                                        </p:attrNameLst>
                                      </p:cBhvr>
                                      <p:to>
                                        <p:strVal val="visible"/>
                                      </p:to>
                                    </p:set>
                                    <p:animEffect transition="in" filter="barn(inVertical)">
                                      <p:cBhvr>
                                        <p:cTn id="112" dur="500"/>
                                        <p:tgtEl>
                                          <p:spTgt spid="21"/>
                                        </p:tgtEl>
                                      </p:cBhvr>
                                    </p:animEffect>
                                  </p:childTnLst>
                                </p:cTn>
                              </p:par>
                              <p:par>
                                <p:cTn id="113" presetID="16" presetClass="entr" presetSubtype="21" fill="hold" grpId="0" nodeType="with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barn(inVertical)">
                                      <p:cBhvr>
                                        <p:cTn id="115" dur="500"/>
                                        <p:tgtEl>
                                          <p:spTgt spid="23"/>
                                        </p:tgtEl>
                                      </p:cBhvr>
                                    </p:animEffect>
                                  </p:childTnLst>
                                </p:cTn>
                              </p:par>
                              <p:par>
                                <p:cTn id="116" presetID="16" presetClass="entr" presetSubtype="21" fill="hold" grpId="0" nodeType="withEffect">
                                  <p:stCondLst>
                                    <p:cond delay="0"/>
                                  </p:stCondLst>
                                  <p:childTnLst>
                                    <p:set>
                                      <p:cBhvr>
                                        <p:cTn id="117" dur="1" fill="hold">
                                          <p:stCondLst>
                                            <p:cond delay="0"/>
                                          </p:stCondLst>
                                        </p:cTn>
                                        <p:tgtEl>
                                          <p:spTgt spid="24"/>
                                        </p:tgtEl>
                                        <p:attrNameLst>
                                          <p:attrName>style.visibility</p:attrName>
                                        </p:attrNameLst>
                                      </p:cBhvr>
                                      <p:to>
                                        <p:strVal val="visible"/>
                                      </p:to>
                                    </p:set>
                                    <p:animEffect transition="in" filter="barn(inVertical)">
                                      <p:cBhvr>
                                        <p:cTn id="118" dur="500"/>
                                        <p:tgtEl>
                                          <p:spTgt spid="24"/>
                                        </p:tgtEl>
                                      </p:cBhvr>
                                    </p:animEffect>
                                  </p:childTnLst>
                                </p:cTn>
                              </p:par>
                              <p:par>
                                <p:cTn id="119" presetID="16" presetClass="entr" presetSubtype="21" fill="hold" grpId="0" nodeType="withEffect">
                                  <p:stCondLst>
                                    <p:cond delay="0"/>
                                  </p:stCondLst>
                                  <p:childTnLst>
                                    <p:set>
                                      <p:cBhvr>
                                        <p:cTn id="120" dur="1" fill="hold">
                                          <p:stCondLst>
                                            <p:cond delay="0"/>
                                          </p:stCondLst>
                                        </p:cTn>
                                        <p:tgtEl>
                                          <p:spTgt spid="25"/>
                                        </p:tgtEl>
                                        <p:attrNameLst>
                                          <p:attrName>style.visibility</p:attrName>
                                        </p:attrNameLst>
                                      </p:cBhvr>
                                      <p:to>
                                        <p:strVal val="visible"/>
                                      </p:to>
                                    </p:set>
                                    <p:animEffect transition="in" filter="barn(inVertical)">
                                      <p:cBhvr>
                                        <p:cTn id="121" dur="500"/>
                                        <p:tgtEl>
                                          <p:spTgt spid="25"/>
                                        </p:tgtEl>
                                      </p:cBhvr>
                                    </p:animEffect>
                                  </p:childTnLst>
                                </p:cTn>
                              </p:par>
                              <p:par>
                                <p:cTn id="122" presetID="16" presetClass="entr" presetSubtype="21" fill="hold" grpId="0" nodeType="withEffect">
                                  <p:stCondLst>
                                    <p:cond delay="0"/>
                                  </p:stCondLst>
                                  <p:childTnLst>
                                    <p:set>
                                      <p:cBhvr>
                                        <p:cTn id="123" dur="1" fill="hold">
                                          <p:stCondLst>
                                            <p:cond delay="0"/>
                                          </p:stCondLst>
                                        </p:cTn>
                                        <p:tgtEl>
                                          <p:spTgt spid="26"/>
                                        </p:tgtEl>
                                        <p:attrNameLst>
                                          <p:attrName>style.visibility</p:attrName>
                                        </p:attrNameLst>
                                      </p:cBhvr>
                                      <p:to>
                                        <p:strVal val="visible"/>
                                      </p:to>
                                    </p:set>
                                    <p:animEffect transition="in" filter="barn(inVertical)">
                                      <p:cBhvr>
                                        <p:cTn id="124" dur="500"/>
                                        <p:tgtEl>
                                          <p:spTgt spid="26"/>
                                        </p:tgtEl>
                                      </p:cBhvr>
                                    </p:animEffect>
                                  </p:childTnLst>
                                </p:cTn>
                              </p:par>
                              <p:par>
                                <p:cTn id="125" presetID="16" presetClass="entr" presetSubtype="21" fill="hold" grpId="0" nodeType="withEffect">
                                  <p:stCondLst>
                                    <p:cond delay="0"/>
                                  </p:stCondLst>
                                  <p:childTnLst>
                                    <p:set>
                                      <p:cBhvr>
                                        <p:cTn id="126" dur="1" fill="hold">
                                          <p:stCondLst>
                                            <p:cond delay="0"/>
                                          </p:stCondLst>
                                        </p:cTn>
                                        <p:tgtEl>
                                          <p:spTgt spid="27"/>
                                        </p:tgtEl>
                                        <p:attrNameLst>
                                          <p:attrName>style.visibility</p:attrName>
                                        </p:attrNameLst>
                                      </p:cBhvr>
                                      <p:to>
                                        <p:strVal val="visible"/>
                                      </p:to>
                                    </p:set>
                                    <p:animEffect transition="in" filter="barn(inVertical)">
                                      <p:cBhvr>
                                        <p:cTn id="127" dur="500"/>
                                        <p:tgtEl>
                                          <p:spTgt spid="27"/>
                                        </p:tgtEl>
                                      </p:cBhvr>
                                    </p:animEffect>
                                  </p:childTnLst>
                                </p:cTn>
                              </p:par>
                              <p:par>
                                <p:cTn id="128" presetID="16" presetClass="entr" presetSubtype="21" fill="hold" grpId="0" nodeType="withEffect">
                                  <p:stCondLst>
                                    <p:cond delay="0"/>
                                  </p:stCondLst>
                                  <p:childTnLst>
                                    <p:set>
                                      <p:cBhvr>
                                        <p:cTn id="129" dur="1" fill="hold">
                                          <p:stCondLst>
                                            <p:cond delay="0"/>
                                          </p:stCondLst>
                                        </p:cTn>
                                        <p:tgtEl>
                                          <p:spTgt spid="28"/>
                                        </p:tgtEl>
                                        <p:attrNameLst>
                                          <p:attrName>style.visibility</p:attrName>
                                        </p:attrNameLst>
                                      </p:cBhvr>
                                      <p:to>
                                        <p:strVal val="visible"/>
                                      </p:to>
                                    </p:set>
                                    <p:animEffect transition="in" filter="barn(inVertical)">
                                      <p:cBhvr>
                                        <p:cTn id="130" dur="500"/>
                                        <p:tgtEl>
                                          <p:spTgt spid="28"/>
                                        </p:tgtEl>
                                      </p:cBhvr>
                                    </p:animEffect>
                                  </p:childTnLst>
                                </p:cTn>
                              </p:par>
                              <p:par>
                                <p:cTn id="131" presetID="16" presetClass="entr" presetSubtype="21" fill="hold" grpId="0" nodeType="withEffect">
                                  <p:stCondLst>
                                    <p:cond delay="0"/>
                                  </p:stCondLst>
                                  <p:childTnLst>
                                    <p:set>
                                      <p:cBhvr>
                                        <p:cTn id="132" dur="1" fill="hold">
                                          <p:stCondLst>
                                            <p:cond delay="0"/>
                                          </p:stCondLst>
                                        </p:cTn>
                                        <p:tgtEl>
                                          <p:spTgt spid="29"/>
                                        </p:tgtEl>
                                        <p:attrNameLst>
                                          <p:attrName>style.visibility</p:attrName>
                                        </p:attrNameLst>
                                      </p:cBhvr>
                                      <p:to>
                                        <p:strVal val="visible"/>
                                      </p:to>
                                    </p:set>
                                    <p:animEffect transition="in" filter="barn(inVertical)">
                                      <p:cBhvr>
                                        <p:cTn id="133" dur="500"/>
                                        <p:tgtEl>
                                          <p:spTgt spid="29"/>
                                        </p:tgtEl>
                                      </p:cBhvr>
                                    </p:animEffect>
                                  </p:childTnLst>
                                </p:cTn>
                              </p:par>
                              <p:par>
                                <p:cTn id="134" presetID="16" presetClass="entr" presetSubtype="21" fill="hold" grpId="0" nodeType="withEffect">
                                  <p:stCondLst>
                                    <p:cond delay="0"/>
                                  </p:stCondLst>
                                  <p:childTnLst>
                                    <p:set>
                                      <p:cBhvr>
                                        <p:cTn id="135" dur="1" fill="hold">
                                          <p:stCondLst>
                                            <p:cond delay="0"/>
                                          </p:stCondLst>
                                        </p:cTn>
                                        <p:tgtEl>
                                          <p:spTgt spid="31"/>
                                        </p:tgtEl>
                                        <p:attrNameLst>
                                          <p:attrName>style.visibility</p:attrName>
                                        </p:attrNameLst>
                                      </p:cBhvr>
                                      <p:to>
                                        <p:strVal val="visible"/>
                                      </p:to>
                                    </p:set>
                                    <p:animEffect transition="in" filter="barn(inVertical)">
                                      <p:cBhvr>
                                        <p:cTn id="136" dur="500"/>
                                        <p:tgtEl>
                                          <p:spTgt spid="31"/>
                                        </p:tgtEl>
                                      </p:cBhvr>
                                    </p:animEffect>
                                  </p:childTnLst>
                                </p:cTn>
                              </p:par>
                              <p:par>
                                <p:cTn id="137" presetID="16" presetClass="entr" presetSubtype="21" fill="hold" grpId="0" nodeType="withEffect">
                                  <p:stCondLst>
                                    <p:cond delay="0"/>
                                  </p:stCondLst>
                                  <p:childTnLst>
                                    <p:set>
                                      <p:cBhvr>
                                        <p:cTn id="138" dur="1" fill="hold">
                                          <p:stCondLst>
                                            <p:cond delay="0"/>
                                          </p:stCondLst>
                                        </p:cTn>
                                        <p:tgtEl>
                                          <p:spTgt spid="32"/>
                                        </p:tgtEl>
                                        <p:attrNameLst>
                                          <p:attrName>style.visibility</p:attrName>
                                        </p:attrNameLst>
                                      </p:cBhvr>
                                      <p:to>
                                        <p:strVal val="visible"/>
                                      </p:to>
                                    </p:set>
                                    <p:animEffect transition="in" filter="barn(inVertical)">
                                      <p:cBhvr>
                                        <p:cTn id="139" dur="500"/>
                                        <p:tgtEl>
                                          <p:spTgt spid="32"/>
                                        </p:tgtEl>
                                      </p:cBhvr>
                                    </p:animEffect>
                                  </p:childTnLst>
                                </p:cTn>
                              </p:par>
                              <p:par>
                                <p:cTn id="140" presetID="16" presetClass="entr" presetSubtype="21" fill="hold" grpId="0" nodeType="withEffect">
                                  <p:stCondLst>
                                    <p:cond delay="0"/>
                                  </p:stCondLst>
                                  <p:childTnLst>
                                    <p:set>
                                      <p:cBhvr>
                                        <p:cTn id="141" dur="1" fill="hold">
                                          <p:stCondLst>
                                            <p:cond delay="0"/>
                                          </p:stCondLst>
                                        </p:cTn>
                                        <p:tgtEl>
                                          <p:spTgt spid="33"/>
                                        </p:tgtEl>
                                        <p:attrNameLst>
                                          <p:attrName>style.visibility</p:attrName>
                                        </p:attrNameLst>
                                      </p:cBhvr>
                                      <p:to>
                                        <p:strVal val="visible"/>
                                      </p:to>
                                    </p:set>
                                    <p:animEffect transition="in" filter="barn(inVertical)">
                                      <p:cBhvr>
                                        <p:cTn id="142" dur="500"/>
                                        <p:tgtEl>
                                          <p:spTgt spid="33"/>
                                        </p:tgtEl>
                                      </p:cBhvr>
                                    </p:animEffect>
                                  </p:childTnLst>
                                </p:cTn>
                              </p:par>
                              <p:par>
                                <p:cTn id="143" presetID="16" presetClass="entr" presetSubtype="21" fill="hold" grpId="0" nodeType="withEffect">
                                  <p:stCondLst>
                                    <p:cond delay="0"/>
                                  </p:stCondLst>
                                  <p:childTnLst>
                                    <p:set>
                                      <p:cBhvr>
                                        <p:cTn id="144" dur="1" fill="hold">
                                          <p:stCondLst>
                                            <p:cond delay="0"/>
                                          </p:stCondLst>
                                        </p:cTn>
                                        <p:tgtEl>
                                          <p:spTgt spid="34"/>
                                        </p:tgtEl>
                                        <p:attrNameLst>
                                          <p:attrName>style.visibility</p:attrName>
                                        </p:attrNameLst>
                                      </p:cBhvr>
                                      <p:to>
                                        <p:strVal val="visible"/>
                                      </p:to>
                                    </p:set>
                                    <p:animEffect transition="in" filter="barn(inVertical)">
                                      <p:cBhvr>
                                        <p:cTn id="145" dur="500"/>
                                        <p:tgtEl>
                                          <p:spTgt spid="34"/>
                                        </p:tgtEl>
                                      </p:cBhvr>
                                    </p:animEffect>
                                  </p:childTnLst>
                                </p:cTn>
                              </p:par>
                              <p:par>
                                <p:cTn id="146" presetID="16" presetClass="entr" presetSubtype="21" fill="hold" grpId="0" nodeType="withEffect">
                                  <p:stCondLst>
                                    <p:cond delay="0"/>
                                  </p:stCondLst>
                                  <p:childTnLst>
                                    <p:set>
                                      <p:cBhvr>
                                        <p:cTn id="147" dur="1" fill="hold">
                                          <p:stCondLst>
                                            <p:cond delay="0"/>
                                          </p:stCondLst>
                                        </p:cTn>
                                        <p:tgtEl>
                                          <p:spTgt spid="35"/>
                                        </p:tgtEl>
                                        <p:attrNameLst>
                                          <p:attrName>style.visibility</p:attrName>
                                        </p:attrNameLst>
                                      </p:cBhvr>
                                      <p:to>
                                        <p:strVal val="visible"/>
                                      </p:to>
                                    </p:set>
                                    <p:animEffect transition="in" filter="barn(inVertical)">
                                      <p:cBhvr>
                                        <p:cTn id="148" dur="500"/>
                                        <p:tgtEl>
                                          <p:spTgt spid="35"/>
                                        </p:tgtEl>
                                      </p:cBhvr>
                                    </p:animEffect>
                                  </p:childTnLst>
                                </p:cTn>
                              </p:par>
                              <p:par>
                                <p:cTn id="149" presetID="16" presetClass="entr" presetSubtype="21" fill="hold" grpId="0" nodeType="withEffect">
                                  <p:stCondLst>
                                    <p:cond delay="0"/>
                                  </p:stCondLst>
                                  <p:childTnLst>
                                    <p:set>
                                      <p:cBhvr>
                                        <p:cTn id="150" dur="1" fill="hold">
                                          <p:stCondLst>
                                            <p:cond delay="0"/>
                                          </p:stCondLst>
                                        </p:cTn>
                                        <p:tgtEl>
                                          <p:spTgt spid="36"/>
                                        </p:tgtEl>
                                        <p:attrNameLst>
                                          <p:attrName>style.visibility</p:attrName>
                                        </p:attrNameLst>
                                      </p:cBhvr>
                                      <p:to>
                                        <p:strVal val="visible"/>
                                      </p:to>
                                    </p:set>
                                    <p:animEffect transition="in" filter="barn(inVertical)">
                                      <p:cBhvr>
                                        <p:cTn id="151" dur="500"/>
                                        <p:tgtEl>
                                          <p:spTgt spid="36"/>
                                        </p:tgtEl>
                                      </p:cBhvr>
                                    </p:animEffect>
                                  </p:childTnLst>
                                </p:cTn>
                              </p:par>
                              <p:par>
                                <p:cTn id="152" presetID="16" presetClass="entr" presetSubtype="21" fill="hold" grpId="0" nodeType="withEffect">
                                  <p:stCondLst>
                                    <p:cond delay="0"/>
                                  </p:stCondLst>
                                  <p:childTnLst>
                                    <p:set>
                                      <p:cBhvr>
                                        <p:cTn id="153" dur="1" fill="hold">
                                          <p:stCondLst>
                                            <p:cond delay="0"/>
                                          </p:stCondLst>
                                        </p:cTn>
                                        <p:tgtEl>
                                          <p:spTgt spid="37"/>
                                        </p:tgtEl>
                                        <p:attrNameLst>
                                          <p:attrName>style.visibility</p:attrName>
                                        </p:attrNameLst>
                                      </p:cBhvr>
                                      <p:to>
                                        <p:strVal val="visible"/>
                                      </p:to>
                                    </p:set>
                                    <p:animEffect transition="in" filter="barn(inVertical)">
                                      <p:cBhvr>
                                        <p:cTn id="154" dur="500"/>
                                        <p:tgtEl>
                                          <p:spTgt spid="37"/>
                                        </p:tgtEl>
                                      </p:cBhvr>
                                    </p:animEffect>
                                  </p:childTnLst>
                                </p:cTn>
                              </p:par>
                              <p:par>
                                <p:cTn id="155" presetID="16" presetClass="entr" presetSubtype="21" fill="hold" grpId="0" nodeType="withEffect">
                                  <p:stCondLst>
                                    <p:cond delay="0"/>
                                  </p:stCondLst>
                                  <p:childTnLst>
                                    <p:set>
                                      <p:cBhvr>
                                        <p:cTn id="156" dur="1" fill="hold">
                                          <p:stCondLst>
                                            <p:cond delay="0"/>
                                          </p:stCondLst>
                                        </p:cTn>
                                        <p:tgtEl>
                                          <p:spTgt spid="38"/>
                                        </p:tgtEl>
                                        <p:attrNameLst>
                                          <p:attrName>style.visibility</p:attrName>
                                        </p:attrNameLst>
                                      </p:cBhvr>
                                      <p:to>
                                        <p:strVal val="visible"/>
                                      </p:to>
                                    </p:set>
                                    <p:animEffect transition="in" filter="barn(inVertical)">
                                      <p:cBhvr>
                                        <p:cTn id="15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animBg="1"/>
      <p:bldP spid="53" grpId="0" animBg="1"/>
      <p:bldP spid="54" grpId="0" animBg="1"/>
      <p:bldP spid="55" grpId="0" animBg="1"/>
      <p:bldP spid="56" grpId="0" animBg="1"/>
      <p:bldP spid="57" grpId="0" animBg="1"/>
      <p:bldP spid="58" grpId="0" animBg="1"/>
      <p:bldP spid="59" grpId="0" animBg="1"/>
      <p:bldP spid="60" grpId="0" animBg="1"/>
      <p:bldP spid="62" grpId="0" animBg="1"/>
      <p:bldP spid="63" grpId="0" animBg="1"/>
      <p:bldP spid="64" grpId="0" animBg="1"/>
      <p:bldP spid="65" grpId="0"/>
      <p:bldP spid="2" grpId="0"/>
      <p:bldP spid="20" grpId="0" animBg="1"/>
      <p:bldP spid="5" grpId="0" animBg="1"/>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P spid="23"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F199DE-2689-FA17-06E2-1876B8AC151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698103C-682A-1E57-ED84-C6365CB64231}"/>
              </a:ext>
            </a:extLst>
          </p:cNvPr>
          <p:cNvSpPr txBox="1"/>
          <p:nvPr/>
        </p:nvSpPr>
        <p:spPr>
          <a:xfrm>
            <a:off x="316647" y="81709"/>
            <a:ext cx="11554078" cy="1077218"/>
          </a:xfrm>
          <a:prstGeom prst="rect">
            <a:avLst/>
          </a:prstGeom>
          <a:noFill/>
        </p:spPr>
        <p:txBody>
          <a:bodyPr wrap="square" rtlCol="0">
            <a:spAutoFit/>
          </a:bodyPr>
          <a:lstStyle/>
          <a:p>
            <a:pPr algn="ctr"/>
            <a:r>
              <a:rPr lang="en-US" sz="3200" b="1" dirty="0">
                <a:solidFill>
                  <a:schemeClr val="bg1"/>
                </a:solidFill>
                <a:latin typeface="Bricolage Grotesque 14pt" panose="020B0605040402000204" pitchFamily="34" charset="0"/>
                <a:ea typeface="Roboto" panose="02000000000000000000" pitchFamily="2" charset="0"/>
                <a:cs typeface="Heebo" pitchFamily="2" charset="-79"/>
              </a:rPr>
              <a:t>To meet growing demand, </a:t>
            </a:r>
          </a:p>
          <a:p>
            <a:pPr algn="ctr"/>
            <a:r>
              <a:rPr lang="en-US" sz="3200" b="1" dirty="0">
                <a:solidFill>
                  <a:schemeClr val="bg1"/>
                </a:solidFill>
                <a:latin typeface="Bricolage Grotesque 14pt" panose="020B0605040402000204" pitchFamily="34" charset="0"/>
                <a:ea typeface="Roboto" panose="02000000000000000000" pitchFamily="2" charset="0"/>
                <a:cs typeface="Heebo" pitchFamily="2" charset="-79"/>
              </a:rPr>
              <a:t>We offer 5 </a:t>
            </a:r>
            <a:r>
              <a:rPr lang="en-US" sz="3200" b="1" dirty="0">
                <a:solidFill>
                  <a:srgbClr val="16DB65"/>
                </a:solidFill>
                <a:latin typeface="Bricolage Grotesque 14pt" panose="020B0605040402000204" pitchFamily="34" charset="0"/>
                <a:ea typeface="Roboto" panose="02000000000000000000" pitchFamily="2" charset="0"/>
                <a:cs typeface="Heebo" pitchFamily="2" charset="-79"/>
              </a:rPr>
              <a:t>Franchise Options</a:t>
            </a:r>
          </a:p>
        </p:txBody>
      </p:sp>
      <p:sp>
        <p:nvSpPr>
          <p:cNvPr id="13" name="Rectangle 12">
            <a:extLst>
              <a:ext uri="{FF2B5EF4-FFF2-40B4-BE49-F238E27FC236}">
                <a16:creationId xmlns:a16="http://schemas.microsoft.com/office/drawing/2014/main" id="{A7E25057-573F-B0DC-06D6-FA1CFA363275}"/>
              </a:ext>
            </a:extLst>
          </p:cNvPr>
          <p:cNvSpPr/>
          <p:nvPr/>
        </p:nvSpPr>
        <p:spPr>
          <a:xfrm>
            <a:off x="0" y="3592115"/>
            <a:ext cx="12192000" cy="3265886"/>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sz="2000" b="1" dirty="0">
              <a:solidFill>
                <a:schemeClr val="tx1"/>
              </a:solidFill>
            </a:endParaRPr>
          </a:p>
          <a:p>
            <a:pPr algn="ctr"/>
            <a:endParaRPr lang="en-US" dirty="0"/>
          </a:p>
        </p:txBody>
      </p:sp>
      <p:sp>
        <p:nvSpPr>
          <p:cNvPr id="17" name="Rectangle 16">
            <a:extLst>
              <a:ext uri="{FF2B5EF4-FFF2-40B4-BE49-F238E27FC236}">
                <a16:creationId xmlns:a16="http://schemas.microsoft.com/office/drawing/2014/main" id="{30EFD939-4C7F-1E30-0D64-7C90E1E103C4}"/>
              </a:ext>
            </a:extLst>
          </p:cNvPr>
          <p:cNvSpPr/>
          <p:nvPr/>
        </p:nvSpPr>
        <p:spPr>
          <a:xfrm>
            <a:off x="4380437" y="4307354"/>
            <a:ext cx="3017521" cy="45719"/>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162A33F5-4ACC-A417-FD2D-F6430E1044EC}"/>
              </a:ext>
            </a:extLst>
          </p:cNvPr>
          <p:cNvSpPr/>
          <p:nvPr/>
        </p:nvSpPr>
        <p:spPr>
          <a:xfrm>
            <a:off x="291818" y="2029967"/>
            <a:ext cx="2125964" cy="3716440"/>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23" name="TextBox 22">
            <a:extLst>
              <a:ext uri="{FF2B5EF4-FFF2-40B4-BE49-F238E27FC236}">
                <a16:creationId xmlns:a16="http://schemas.microsoft.com/office/drawing/2014/main" id="{3B8635D7-6E74-78A4-02E7-3D39471F5DEA}"/>
              </a:ext>
            </a:extLst>
          </p:cNvPr>
          <p:cNvSpPr txBox="1"/>
          <p:nvPr/>
        </p:nvSpPr>
        <p:spPr>
          <a:xfrm>
            <a:off x="-170581" y="2981401"/>
            <a:ext cx="3017521"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Quick Service Restaurant</a:t>
            </a:r>
          </a:p>
          <a:p>
            <a:pPr algn="ctr"/>
            <a:r>
              <a:rPr lang="en-US" sz="1400" b="1" dirty="0">
                <a:solidFill>
                  <a:srgbClr val="F95050"/>
                </a:solidFill>
                <a:latin typeface="Bricolage Grotesque 14pt" panose="020B0605040402000204" pitchFamily="34" charset="0"/>
              </a:rPr>
              <a:t>(QSR) Franchise</a:t>
            </a:r>
          </a:p>
        </p:txBody>
      </p:sp>
      <p:sp>
        <p:nvSpPr>
          <p:cNvPr id="38" name="Rectangle 37">
            <a:extLst>
              <a:ext uri="{FF2B5EF4-FFF2-40B4-BE49-F238E27FC236}">
                <a16:creationId xmlns:a16="http://schemas.microsoft.com/office/drawing/2014/main" id="{ED3840BA-91D7-6D80-42F4-DA4122FE3E41}"/>
              </a:ext>
            </a:extLst>
          </p:cNvPr>
          <p:cNvSpPr/>
          <p:nvPr/>
        </p:nvSpPr>
        <p:spPr>
          <a:xfrm>
            <a:off x="48328" y="3606235"/>
            <a:ext cx="3017521" cy="45719"/>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5AEF61E2-55AC-D187-5BC6-B4FDD24C1F83}"/>
              </a:ext>
            </a:extLst>
          </p:cNvPr>
          <p:cNvSpPr/>
          <p:nvPr/>
        </p:nvSpPr>
        <p:spPr>
          <a:xfrm>
            <a:off x="7341618" y="4306723"/>
            <a:ext cx="3017521" cy="45719"/>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A59B42EE-34CA-4A0D-41E4-BEB8E54363A1}"/>
              </a:ext>
            </a:extLst>
          </p:cNvPr>
          <p:cNvSpPr txBox="1"/>
          <p:nvPr/>
        </p:nvSpPr>
        <p:spPr>
          <a:xfrm>
            <a:off x="348084" y="3847594"/>
            <a:ext cx="1980190" cy="1394934"/>
          </a:xfrm>
          <a:prstGeom prst="rect">
            <a:avLst/>
          </a:prstGeom>
          <a:noFill/>
        </p:spPr>
        <p:txBody>
          <a:bodyPr wrap="square" rtlCol="0">
            <a:spAutoFit/>
          </a:bodyPr>
          <a:lstStyle/>
          <a:p>
            <a:pPr algn="just">
              <a:lnSpc>
                <a:spcPct val="130000"/>
              </a:lnSpc>
              <a:spcAft>
                <a:spcPts val="2000"/>
              </a:spcAft>
            </a:pPr>
            <a:r>
              <a:rPr lang="en-US" sz="1100" b="1" dirty="0">
                <a:solidFill>
                  <a:srgbClr val="002060"/>
                </a:solidFill>
                <a:latin typeface="Bricolage Grotesque 14pt" panose="020B0605040402000204" pitchFamily="34" charset="0"/>
              </a:rPr>
              <a:t>QSR stands for Quick Service Restaurant. It's a type of eatery known for fast service and convenience, with a limited menu and quick food preparation.</a:t>
            </a:r>
          </a:p>
        </p:txBody>
      </p:sp>
      <p:sp>
        <p:nvSpPr>
          <p:cNvPr id="16" name="Rounded Rectangle 15">
            <a:extLst>
              <a:ext uri="{FF2B5EF4-FFF2-40B4-BE49-F238E27FC236}">
                <a16:creationId xmlns:a16="http://schemas.microsoft.com/office/drawing/2014/main" id="{DA94DFE6-F9C0-C600-7DC7-40A38A817CB0}"/>
              </a:ext>
            </a:extLst>
          </p:cNvPr>
          <p:cNvSpPr/>
          <p:nvPr/>
        </p:nvSpPr>
        <p:spPr>
          <a:xfrm>
            <a:off x="556466" y="1282290"/>
            <a:ext cx="1618697" cy="1526927"/>
          </a:xfrm>
          <a:prstGeom prst="roundRect">
            <a:avLst/>
          </a:prstGeom>
          <a:blipFill dpi="0" rotWithShape="1">
            <a:blip r:embed="rId2" cstate="print">
              <a:extLst>
                <a:ext uri="{28A0092B-C50C-407E-A947-70E740481C1C}">
                  <a14:useLocalDpi xmlns:a14="http://schemas.microsoft.com/office/drawing/2010/main" val="0"/>
                </a:ext>
              </a:extLst>
            </a:blip>
            <a:srcRect/>
            <a:stretch>
              <a:fillRect/>
            </a:stretch>
          </a:blipFill>
          <a:ln w="28575">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2" name="Rectangle: Rounded Corners 1">
            <a:extLst>
              <a:ext uri="{FF2B5EF4-FFF2-40B4-BE49-F238E27FC236}">
                <a16:creationId xmlns:a16="http://schemas.microsoft.com/office/drawing/2014/main" id="{C72D5BC7-FD7B-05F5-E726-0EF2C6AD0C86}"/>
              </a:ext>
            </a:extLst>
          </p:cNvPr>
          <p:cNvSpPr/>
          <p:nvPr/>
        </p:nvSpPr>
        <p:spPr>
          <a:xfrm>
            <a:off x="129770" y="6388058"/>
            <a:ext cx="2016126" cy="3781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b="1" dirty="0">
                <a:solidFill>
                  <a:schemeClr val="tx1"/>
                </a:solidFill>
                <a:latin typeface="Bricolage Grotesque 14pt" panose="020B0605040402000204"/>
              </a:rPr>
              <a:t>Whitelisting</a:t>
            </a:r>
          </a:p>
        </p:txBody>
      </p:sp>
      <p:sp>
        <p:nvSpPr>
          <p:cNvPr id="3" name="Rectangle: Rounded Corners 2">
            <a:extLst>
              <a:ext uri="{FF2B5EF4-FFF2-40B4-BE49-F238E27FC236}">
                <a16:creationId xmlns:a16="http://schemas.microsoft.com/office/drawing/2014/main" id="{24996B94-6C9F-BE93-60B9-9AD8DFD11C77}"/>
              </a:ext>
            </a:extLst>
          </p:cNvPr>
          <p:cNvSpPr/>
          <p:nvPr/>
        </p:nvSpPr>
        <p:spPr>
          <a:xfrm>
            <a:off x="2316558" y="6388056"/>
            <a:ext cx="2016127" cy="3457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b="1" dirty="0">
                <a:solidFill>
                  <a:schemeClr val="tx1"/>
                </a:solidFill>
                <a:latin typeface="Bricolage Grotesque 14pt" panose="020B0605040402000204"/>
              </a:rPr>
              <a:t>FOCO</a:t>
            </a:r>
          </a:p>
        </p:txBody>
      </p:sp>
      <p:sp>
        <p:nvSpPr>
          <p:cNvPr id="4" name="Rectangle: Rounded Corners 3">
            <a:extLst>
              <a:ext uri="{FF2B5EF4-FFF2-40B4-BE49-F238E27FC236}">
                <a16:creationId xmlns:a16="http://schemas.microsoft.com/office/drawing/2014/main" id="{DECF9BA5-461F-D21A-41DE-9B90F3A899DC}"/>
              </a:ext>
            </a:extLst>
          </p:cNvPr>
          <p:cNvSpPr/>
          <p:nvPr/>
        </p:nvSpPr>
        <p:spPr>
          <a:xfrm>
            <a:off x="4627147" y="6393153"/>
            <a:ext cx="1804522" cy="3162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b="1" dirty="0">
                <a:solidFill>
                  <a:schemeClr val="tx1"/>
                </a:solidFill>
                <a:latin typeface="Bricolage Grotesque 14pt" panose="020B0605040402000204"/>
              </a:rPr>
              <a:t>FOFO</a:t>
            </a:r>
          </a:p>
        </p:txBody>
      </p:sp>
      <p:sp>
        <p:nvSpPr>
          <p:cNvPr id="8" name="Rectangle: Rounded Corners 7">
            <a:extLst>
              <a:ext uri="{FF2B5EF4-FFF2-40B4-BE49-F238E27FC236}">
                <a16:creationId xmlns:a16="http://schemas.microsoft.com/office/drawing/2014/main" id="{00CFAC7B-8755-0B2A-2FB3-88EAAAC356ED}"/>
              </a:ext>
            </a:extLst>
          </p:cNvPr>
          <p:cNvSpPr/>
          <p:nvPr/>
        </p:nvSpPr>
        <p:spPr>
          <a:xfrm>
            <a:off x="530763" y="5970188"/>
            <a:ext cx="5318102" cy="31625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schemeClr val="tx1"/>
                </a:solidFill>
                <a:latin typeface="Bricolage Grotesque 14pt" panose="020B0605040402000204"/>
              </a:rPr>
              <a:t>With 3 different franchise formats</a:t>
            </a:r>
          </a:p>
        </p:txBody>
      </p:sp>
      <p:sp>
        <p:nvSpPr>
          <p:cNvPr id="6" name="TextBox 5">
            <a:extLst>
              <a:ext uri="{FF2B5EF4-FFF2-40B4-BE49-F238E27FC236}">
                <a16:creationId xmlns:a16="http://schemas.microsoft.com/office/drawing/2014/main" id="{D7BEFF81-F71B-4A34-35E1-736F12A0C8A3}"/>
              </a:ext>
            </a:extLst>
          </p:cNvPr>
          <p:cNvSpPr txBox="1"/>
          <p:nvPr/>
        </p:nvSpPr>
        <p:spPr>
          <a:xfrm>
            <a:off x="6637460" y="5897009"/>
            <a:ext cx="5424770" cy="89716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1200" b="1" dirty="0">
                <a:latin typeface="Poppins SemiBold" panose="00000700000000000000" pitchFamily="2" charset="0"/>
                <a:cs typeface="Poppins SemiBold" panose="00000700000000000000" pitchFamily="2" charset="0"/>
              </a:rPr>
              <a:t>White labeling of brand (Create your own brand &amp; No Royalty)</a:t>
            </a:r>
          </a:p>
          <a:p>
            <a:pPr marL="285750" indent="-285750">
              <a:lnSpc>
                <a:spcPct val="150000"/>
              </a:lnSpc>
              <a:buFont typeface="Wingdings" panose="05000000000000000000" pitchFamily="2" charset="2"/>
              <a:buChar char="Ø"/>
            </a:pPr>
            <a:r>
              <a:rPr lang="en-US" sz="1200" b="1" dirty="0">
                <a:latin typeface="Poppins SemiBold" panose="00000700000000000000" pitchFamily="2" charset="0"/>
                <a:cs typeface="Poppins SemiBold" panose="00000700000000000000" pitchFamily="2" charset="0"/>
              </a:rPr>
              <a:t>FOCO :- </a:t>
            </a:r>
            <a:r>
              <a:rPr lang="en-IN" sz="1200" b="0" i="0" dirty="0">
                <a:effectLst/>
                <a:latin typeface="Poppins SemiBold" panose="00000700000000000000" pitchFamily="2" charset="0"/>
                <a:cs typeface="Poppins SemiBold" panose="00000700000000000000" pitchFamily="2" charset="0"/>
              </a:rPr>
              <a:t>Franchise-Owned, Company-Operated</a:t>
            </a:r>
            <a:endParaRPr lang="en-US" sz="1200" b="1" dirty="0">
              <a:latin typeface="Poppins SemiBold" panose="00000700000000000000" pitchFamily="2" charset="0"/>
              <a:cs typeface="Poppins SemiBold" panose="00000700000000000000" pitchFamily="2" charset="0"/>
            </a:endParaRPr>
          </a:p>
          <a:p>
            <a:pPr marL="285750" indent="-285750">
              <a:lnSpc>
                <a:spcPct val="150000"/>
              </a:lnSpc>
              <a:buFont typeface="Wingdings" panose="05000000000000000000" pitchFamily="2" charset="2"/>
              <a:buChar char="Ø"/>
            </a:pPr>
            <a:r>
              <a:rPr lang="en-US" sz="1200" b="1" dirty="0">
                <a:latin typeface="Poppins SemiBold" panose="00000700000000000000" pitchFamily="2" charset="0"/>
                <a:cs typeface="Poppins SemiBold" panose="00000700000000000000" pitchFamily="2" charset="0"/>
              </a:rPr>
              <a:t>FOFO :- </a:t>
            </a:r>
            <a:r>
              <a:rPr lang="en-IN" sz="1200" b="0" i="0" dirty="0">
                <a:effectLst/>
                <a:latin typeface="Poppins SemiBold" panose="00000700000000000000" pitchFamily="2" charset="0"/>
                <a:cs typeface="Poppins SemiBold" panose="00000700000000000000" pitchFamily="2" charset="0"/>
              </a:rPr>
              <a:t>Franchisee-Owned, Franchisee-Operated</a:t>
            </a:r>
            <a:endParaRPr lang="en-US" sz="1200" b="1" dirty="0">
              <a:latin typeface="Poppins SemiBold" panose="00000700000000000000" pitchFamily="2" charset="0"/>
              <a:cs typeface="Poppins SemiBold" panose="00000700000000000000" pitchFamily="2" charset="0"/>
            </a:endParaRPr>
          </a:p>
        </p:txBody>
      </p:sp>
      <p:sp>
        <p:nvSpPr>
          <p:cNvPr id="7" name="Rounded Rectangle 21">
            <a:extLst>
              <a:ext uri="{FF2B5EF4-FFF2-40B4-BE49-F238E27FC236}">
                <a16:creationId xmlns:a16="http://schemas.microsoft.com/office/drawing/2014/main" id="{4D846863-1AC1-F89C-4023-B4A7B1F8D887}"/>
              </a:ext>
            </a:extLst>
          </p:cNvPr>
          <p:cNvSpPr/>
          <p:nvPr/>
        </p:nvSpPr>
        <p:spPr>
          <a:xfrm>
            <a:off x="2754594" y="2029967"/>
            <a:ext cx="2125964" cy="3718074"/>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81" name="TextBox 80">
            <a:extLst>
              <a:ext uri="{FF2B5EF4-FFF2-40B4-BE49-F238E27FC236}">
                <a16:creationId xmlns:a16="http://schemas.microsoft.com/office/drawing/2014/main" id="{4783DD85-F269-06DC-EA95-3E851BB59546}"/>
              </a:ext>
            </a:extLst>
          </p:cNvPr>
          <p:cNvSpPr txBox="1"/>
          <p:nvPr/>
        </p:nvSpPr>
        <p:spPr>
          <a:xfrm>
            <a:off x="2784658" y="3847594"/>
            <a:ext cx="1991682" cy="1614994"/>
          </a:xfrm>
          <a:prstGeom prst="rect">
            <a:avLst/>
          </a:prstGeom>
          <a:noFill/>
        </p:spPr>
        <p:txBody>
          <a:bodyPr wrap="square" rtlCol="0">
            <a:spAutoFit/>
          </a:bodyPr>
          <a:lstStyle/>
          <a:p>
            <a:pPr algn="just">
              <a:lnSpc>
                <a:spcPct val="130000"/>
              </a:lnSpc>
              <a:spcAft>
                <a:spcPts val="2000"/>
              </a:spcAft>
            </a:pPr>
            <a:r>
              <a:rPr lang="en-US" sz="1100" b="1" dirty="0">
                <a:solidFill>
                  <a:srgbClr val="002060"/>
                </a:solidFill>
                <a:latin typeface="Bricolage Grotesque 14pt" panose="020B0605040402000204" pitchFamily="34" charset="0"/>
              </a:rPr>
              <a:t>An internet restaurant is a food establishment that operates primarily online, offering delivery or pickup services through websites or mobile apps, without a physical dining space.</a:t>
            </a:r>
          </a:p>
        </p:txBody>
      </p:sp>
      <p:sp>
        <p:nvSpPr>
          <p:cNvPr id="9" name="Rectangle 8">
            <a:extLst>
              <a:ext uri="{FF2B5EF4-FFF2-40B4-BE49-F238E27FC236}">
                <a16:creationId xmlns:a16="http://schemas.microsoft.com/office/drawing/2014/main" id="{EA85D780-262B-D901-5AE2-31F57DD116E0}"/>
              </a:ext>
            </a:extLst>
          </p:cNvPr>
          <p:cNvSpPr/>
          <p:nvPr/>
        </p:nvSpPr>
        <p:spPr>
          <a:xfrm>
            <a:off x="2512688" y="3612579"/>
            <a:ext cx="3017521" cy="45719"/>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129ADEE1-0049-1631-D95C-727A0BC4ECC9}"/>
              </a:ext>
            </a:extLst>
          </p:cNvPr>
          <p:cNvSpPr/>
          <p:nvPr/>
        </p:nvSpPr>
        <p:spPr>
          <a:xfrm>
            <a:off x="3049498" y="1332231"/>
            <a:ext cx="1618697" cy="1497983"/>
          </a:xfrm>
          <a:prstGeom prst="roundRect">
            <a:avLst/>
          </a:prstGeom>
          <a:blipFill dpi="0" rotWithShape="1">
            <a:blip r:embed="rId3" cstate="print">
              <a:extLst>
                <a:ext uri="{28A0092B-C50C-407E-A947-70E740481C1C}">
                  <a14:useLocalDpi xmlns:a14="http://schemas.microsoft.com/office/drawing/2010/main" val="0"/>
                </a:ext>
              </a:extLst>
            </a:blip>
            <a:srcRect/>
            <a:stretch>
              <a:fillRect/>
            </a:stretch>
          </a:blipFill>
          <a:ln w="28575">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20" name="TextBox 19">
            <a:extLst>
              <a:ext uri="{FF2B5EF4-FFF2-40B4-BE49-F238E27FC236}">
                <a16:creationId xmlns:a16="http://schemas.microsoft.com/office/drawing/2014/main" id="{54CA1930-29C7-B2A7-E4E1-5ACE905579BC}"/>
              </a:ext>
            </a:extLst>
          </p:cNvPr>
          <p:cNvSpPr txBox="1"/>
          <p:nvPr/>
        </p:nvSpPr>
        <p:spPr>
          <a:xfrm>
            <a:off x="2328274" y="3023308"/>
            <a:ext cx="3017521"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Internet Restaurants</a:t>
            </a:r>
          </a:p>
          <a:p>
            <a:pPr algn="ctr"/>
            <a:r>
              <a:rPr lang="en-US" sz="1400" b="1" dirty="0">
                <a:solidFill>
                  <a:srgbClr val="F95050"/>
                </a:solidFill>
                <a:latin typeface="Bricolage Grotesque 14pt" panose="020B0605040402000204" pitchFamily="34" charset="0"/>
              </a:rPr>
              <a:t>(IR)Franchise</a:t>
            </a:r>
          </a:p>
        </p:txBody>
      </p:sp>
      <p:sp>
        <p:nvSpPr>
          <p:cNvPr id="10" name="Rounded Rectangle 21">
            <a:extLst>
              <a:ext uri="{FF2B5EF4-FFF2-40B4-BE49-F238E27FC236}">
                <a16:creationId xmlns:a16="http://schemas.microsoft.com/office/drawing/2014/main" id="{77F9A0E4-0F6F-BD03-5814-F5F1445FC94F}"/>
              </a:ext>
            </a:extLst>
          </p:cNvPr>
          <p:cNvSpPr/>
          <p:nvPr/>
        </p:nvSpPr>
        <p:spPr>
          <a:xfrm>
            <a:off x="5229010" y="2021700"/>
            <a:ext cx="2125964" cy="3718074"/>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11" name="Rectangle 10">
            <a:extLst>
              <a:ext uri="{FF2B5EF4-FFF2-40B4-BE49-F238E27FC236}">
                <a16:creationId xmlns:a16="http://schemas.microsoft.com/office/drawing/2014/main" id="{E88DBF7A-4956-81F2-5D1E-B6C055E95D74}"/>
              </a:ext>
            </a:extLst>
          </p:cNvPr>
          <p:cNvSpPr/>
          <p:nvPr/>
        </p:nvSpPr>
        <p:spPr>
          <a:xfrm>
            <a:off x="4792236" y="3609747"/>
            <a:ext cx="3017521" cy="45719"/>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1">
            <a:extLst>
              <a:ext uri="{FF2B5EF4-FFF2-40B4-BE49-F238E27FC236}">
                <a16:creationId xmlns:a16="http://schemas.microsoft.com/office/drawing/2014/main" id="{F399B4A3-01A8-C8E8-1041-E68247C56543}"/>
              </a:ext>
            </a:extLst>
          </p:cNvPr>
          <p:cNvSpPr/>
          <p:nvPr/>
        </p:nvSpPr>
        <p:spPr>
          <a:xfrm>
            <a:off x="7674529" y="2033398"/>
            <a:ext cx="2066201" cy="3694677"/>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25" name="Rectangle 24">
            <a:extLst>
              <a:ext uri="{FF2B5EF4-FFF2-40B4-BE49-F238E27FC236}">
                <a16:creationId xmlns:a16="http://schemas.microsoft.com/office/drawing/2014/main" id="{9351B922-3020-E315-5AF1-E4AE9BA4D38D}"/>
              </a:ext>
            </a:extLst>
          </p:cNvPr>
          <p:cNvSpPr/>
          <p:nvPr/>
        </p:nvSpPr>
        <p:spPr>
          <a:xfrm>
            <a:off x="7196540" y="3613777"/>
            <a:ext cx="3017521" cy="45719"/>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1">
            <a:extLst>
              <a:ext uri="{FF2B5EF4-FFF2-40B4-BE49-F238E27FC236}">
                <a16:creationId xmlns:a16="http://schemas.microsoft.com/office/drawing/2014/main" id="{7D628B88-FE5D-43D3-504B-22E8A59F4174}"/>
              </a:ext>
            </a:extLst>
          </p:cNvPr>
          <p:cNvSpPr/>
          <p:nvPr/>
        </p:nvSpPr>
        <p:spPr>
          <a:xfrm>
            <a:off x="10017301" y="2064513"/>
            <a:ext cx="1887149" cy="3694677"/>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29" name="TextBox 28">
            <a:extLst>
              <a:ext uri="{FF2B5EF4-FFF2-40B4-BE49-F238E27FC236}">
                <a16:creationId xmlns:a16="http://schemas.microsoft.com/office/drawing/2014/main" id="{268D385E-6A74-5E4F-8BAB-CB0191137BE7}"/>
              </a:ext>
            </a:extLst>
          </p:cNvPr>
          <p:cNvSpPr txBox="1"/>
          <p:nvPr/>
        </p:nvSpPr>
        <p:spPr>
          <a:xfrm>
            <a:off x="10130558" y="3839769"/>
            <a:ext cx="1765842" cy="1614994"/>
          </a:xfrm>
          <a:prstGeom prst="rect">
            <a:avLst/>
          </a:prstGeom>
          <a:noFill/>
        </p:spPr>
        <p:txBody>
          <a:bodyPr wrap="square" rtlCol="0">
            <a:spAutoFit/>
          </a:bodyPr>
          <a:lstStyle/>
          <a:p>
            <a:pPr>
              <a:lnSpc>
                <a:spcPct val="130000"/>
              </a:lnSpc>
              <a:spcAft>
                <a:spcPts val="2000"/>
              </a:spcAft>
            </a:pPr>
            <a:r>
              <a:rPr lang="en-US" sz="1100" b="1" dirty="0">
                <a:solidFill>
                  <a:srgbClr val="002060"/>
                </a:solidFill>
                <a:latin typeface="Bricolage Grotesque 14pt" panose="020B0605040402000204"/>
              </a:rPr>
              <a:t>Food Court is a dynamic food court that features a wide range of food stalls, offering both vegetarian and non-vegetarian options. </a:t>
            </a:r>
            <a:br>
              <a:rPr lang="en-US" sz="1100" b="1" dirty="0">
                <a:solidFill>
                  <a:srgbClr val="002060"/>
                </a:solidFill>
                <a:latin typeface="Bricolage Grotesque 14pt" panose="020B0605040402000204"/>
              </a:rPr>
            </a:br>
            <a:endParaRPr lang="en-US" sz="1100" b="1" dirty="0">
              <a:solidFill>
                <a:srgbClr val="002060"/>
              </a:solidFill>
              <a:latin typeface="Bricolage Grotesque 14pt" panose="020B0605040402000204"/>
            </a:endParaRPr>
          </a:p>
        </p:txBody>
      </p:sp>
      <p:sp>
        <p:nvSpPr>
          <p:cNvPr id="30" name="TextBox 29">
            <a:extLst>
              <a:ext uri="{FF2B5EF4-FFF2-40B4-BE49-F238E27FC236}">
                <a16:creationId xmlns:a16="http://schemas.microsoft.com/office/drawing/2014/main" id="{7A56954A-CBCA-2307-12FA-562D2AE47399}"/>
              </a:ext>
            </a:extLst>
          </p:cNvPr>
          <p:cNvSpPr txBox="1"/>
          <p:nvPr/>
        </p:nvSpPr>
        <p:spPr>
          <a:xfrm>
            <a:off x="9620430" y="2998210"/>
            <a:ext cx="2680890"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Food Court</a:t>
            </a:r>
          </a:p>
          <a:p>
            <a:pPr algn="ctr"/>
            <a:r>
              <a:rPr lang="en-US" sz="1400" b="1" dirty="0">
                <a:solidFill>
                  <a:srgbClr val="F95050"/>
                </a:solidFill>
                <a:latin typeface="Bricolage Grotesque 14pt" panose="020B0605040402000204" pitchFamily="34" charset="0"/>
              </a:rPr>
              <a:t>Franchise</a:t>
            </a:r>
          </a:p>
        </p:txBody>
      </p:sp>
      <p:sp>
        <p:nvSpPr>
          <p:cNvPr id="31" name="Rounded Rectangle 20">
            <a:extLst>
              <a:ext uri="{FF2B5EF4-FFF2-40B4-BE49-F238E27FC236}">
                <a16:creationId xmlns:a16="http://schemas.microsoft.com/office/drawing/2014/main" id="{FE169B16-DDE9-DA78-9152-351560D186AD}"/>
              </a:ext>
            </a:extLst>
          </p:cNvPr>
          <p:cNvSpPr/>
          <p:nvPr/>
        </p:nvSpPr>
        <p:spPr>
          <a:xfrm>
            <a:off x="10275570" y="1403237"/>
            <a:ext cx="1396161" cy="1386093"/>
          </a:xfrm>
          <a:prstGeom prst="roundRect">
            <a:avLst/>
          </a:prstGeom>
          <a:solidFill>
            <a:schemeClr val="bg2">
              <a:lumMod val="10000"/>
            </a:schemeClr>
          </a:solidFill>
          <a:ln w="28575">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pic>
        <p:nvPicPr>
          <p:cNvPr id="32" name="Picture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5570" y="1480815"/>
            <a:ext cx="1396160" cy="1212726"/>
          </a:xfrm>
          <a:prstGeom prst="rect">
            <a:avLst/>
          </a:prstGeom>
        </p:spPr>
      </p:pic>
      <p:sp>
        <p:nvSpPr>
          <p:cNvPr id="34" name="Rounded Rectangle 15">
            <a:extLst>
              <a:ext uri="{FF2B5EF4-FFF2-40B4-BE49-F238E27FC236}">
                <a16:creationId xmlns:a16="http://schemas.microsoft.com/office/drawing/2014/main" id="{92A98ACE-0EA0-C384-0CFF-22B2819DBBE8}"/>
              </a:ext>
            </a:extLst>
          </p:cNvPr>
          <p:cNvSpPr/>
          <p:nvPr/>
        </p:nvSpPr>
        <p:spPr>
          <a:xfrm>
            <a:off x="5584733" y="1341461"/>
            <a:ext cx="1396161" cy="1448700"/>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w="28575">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35" name="TextBox 34">
            <a:extLst>
              <a:ext uri="{FF2B5EF4-FFF2-40B4-BE49-F238E27FC236}">
                <a16:creationId xmlns:a16="http://schemas.microsoft.com/office/drawing/2014/main" id="{D3C9BEC8-315E-60BE-3981-7926BA63C0C1}"/>
              </a:ext>
            </a:extLst>
          </p:cNvPr>
          <p:cNvSpPr txBox="1"/>
          <p:nvPr/>
        </p:nvSpPr>
        <p:spPr>
          <a:xfrm>
            <a:off x="4915757" y="2986681"/>
            <a:ext cx="2680890"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Bike kart</a:t>
            </a:r>
          </a:p>
          <a:p>
            <a:pPr algn="ctr"/>
            <a:r>
              <a:rPr lang="en-US" sz="1400" b="1" dirty="0">
                <a:solidFill>
                  <a:srgbClr val="F95050"/>
                </a:solidFill>
                <a:latin typeface="Bricolage Grotesque 14pt" panose="020B0605040402000204" pitchFamily="34" charset="0"/>
              </a:rPr>
              <a:t>Franchise</a:t>
            </a:r>
          </a:p>
        </p:txBody>
      </p:sp>
      <p:sp>
        <p:nvSpPr>
          <p:cNvPr id="36" name="TextBox 35">
            <a:extLst>
              <a:ext uri="{FF2B5EF4-FFF2-40B4-BE49-F238E27FC236}">
                <a16:creationId xmlns:a16="http://schemas.microsoft.com/office/drawing/2014/main" id="{28A3F854-100E-DEF2-33D9-B316E42C6B60}"/>
              </a:ext>
            </a:extLst>
          </p:cNvPr>
          <p:cNvSpPr txBox="1"/>
          <p:nvPr/>
        </p:nvSpPr>
        <p:spPr>
          <a:xfrm>
            <a:off x="5337155" y="3824870"/>
            <a:ext cx="1838094" cy="1394934"/>
          </a:xfrm>
          <a:prstGeom prst="rect">
            <a:avLst/>
          </a:prstGeom>
          <a:noFill/>
        </p:spPr>
        <p:txBody>
          <a:bodyPr wrap="square" rtlCol="0">
            <a:spAutoFit/>
          </a:bodyPr>
          <a:lstStyle/>
          <a:p>
            <a:pPr algn="just">
              <a:lnSpc>
                <a:spcPct val="130000"/>
              </a:lnSpc>
              <a:spcAft>
                <a:spcPts val="2000"/>
              </a:spcAft>
            </a:pPr>
            <a:r>
              <a:rPr lang="en-US" sz="1100" b="1" dirty="0">
                <a:solidFill>
                  <a:srgbClr val="002060"/>
                </a:solidFill>
                <a:latin typeface="Bricolage Grotesque 14pt" panose="020B0605040402000204"/>
              </a:rPr>
              <a:t>A Bike Kart Trolley is a compact and stylish mobile food unit, designed for easy mobility and serving fresh food directly to customers on the go.</a:t>
            </a:r>
          </a:p>
        </p:txBody>
      </p:sp>
      <p:sp>
        <p:nvSpPr>
          <p:cNvPr id="37" name="Rectangle 36">
            <a:extLst>
              <a:ext uri="{FF2B5EF4-FFF2-40B4-BE49-F238E27FC236}">
                <a16:creationId xmlns:a16="http://schemas.microsoft.com/office/drawing/2014/main" id="{2CBFC4D8-BA67-4DB2-ACA6-8A800FFF0D1E}"/>
              </a:ext>
            </a:extLst>
          </p:cNvPr>
          <p:cNvSpPr/>
          <p:nvPr/>
        </p:nvSpPr>
        <p:spPr>
          <a:xfrm>
            <a:off x="9164070" y="3609746"/>
            <a:ext cx="3017521" cy="45719"/>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20">
            <a:extLst>
              <a:ext uri="{FF2B5EF4-FFF2-40B4-BE49-F238E27FC236}">
                <a16:creationId xmlns:a16="http://schemas.microsoft.com/office/drawing/2014/main" id="{145D875C-5415-3FC3-D089-4BA75FFF6193}"/>
              </a:ext>
            </a:extLst>
          </p:cNvPr>
          <p:cNvSpPr/>
          <p:nvPr/>
        </p:nvSpPr>
        <p:spPr>
          <a:xfrm>
            <a:off x="7962871" y="1356872"/>
            <a:ext cx="1561053" cy="1448699"/>
          </a:xfrm>
          <a:prstGeom prst="roundRect">
            <a:avLst/>
          </a:prstGeom>
          <a:blipFill dpi="0" rotWithShape="1">
            <a:blip r:embed="rId6" cstate="print">
              <a:extLst>
                <a:ext uri="{28A0092B-C50C-407E-A947-70E740481C1C}">
                  <a14:useLocalDpi xmlns:a14="http://schemas.microsoft.com/office/drawing/2010/main" val="0"/>
                </a:ext>
              </a:extLst>
            </a:blip>
            <a:srcRect/>
            <a:stretch>
              <a:fillRect/>
            </a:stretch>
          </a:blipFill>
          <a:ln w="28575">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15" name="TextBox 14">
            <a:extLst>
              <a:ext uri="{FF2B5EF4-FFF2-40B4-BE49-F238E27FC236}">
                <a16:creationId xmlns:a16="http://schemas.microsoft.com/office/drawing/2014/main" id="{E14445F7-4712-CB59-79FF-AF64F17C12CD}"/>
              </a:ext>
            </a:extLst>
          </p:cNvPr>
          <p:cNvSpPr txBox="1"/>
          <p:nvPr/>
        </p:nvSpPr>
        <p:spPr>
          <a:xfrm>
            <a:off x="7124043" y="2981234"/>
            <a:ext cx="3124190"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Food Trolley</a:t>
            </a:r>
          </a:p>
          <a:p>
            <a:pPr algn="ctr"/>
            <a:r>
              <a:rPr lang="en-US" sz="1400" b="1" dirty="0">
                <a:solidFill>
                  <a:srgbClr val="F95050"/>
                </a:solidFill>
                <a:latin typeface="Bricolage Grotesque 14pt" panose="020B0605040402000204" pitchFamily="34" charset="0"/>
              </a:rPr>
              <a:t>(FT) Franchise</a:t>
            </a:r>
            <a:endParaRPr lang="en-US" sz="1600" b="1" dirty="0">
              <a:solidFill>
                <a:srgbClr val="F95050"/>
              </a:solidFill>
              <a:latin typeface="Bricolage Grotesque 14pt" panose="020B0605040402000204" pitchFamily="34" charset="0"/>
            </a:endParaRPr>
          </a:p>
        </p:txBody>
      </p:sp>
      <p:sp>
        <p:nvSpPr>
          <p:cNvPr id="12" name="TextBox 11">
            <a:extLst>
              <a:ext uri="{FF2B5EF4-FFF2-40B4-BE49-F238E27FC236}">
                <a16:creationId xmlns:a16="http://schemas.microsoft.com/office/drawing/2014/main" id="{22C981D9-0DB5-B1CF-9633-5DBBACF1A4FE}"/>
              </a:ext>
            </a:extLst>
          </p:cNvPr>
          <p:cNvSpPr txBox="1"/>
          <p:nvPr/>
        </p:nvSpPr>
        <p:spPr>
          <a:xfrm>
            <a:off x="7805207" y="3847594"/>
            <a:ext cx="1718717" cy="954813"/>
          </a:xfrm>
          <a:prstGeom prst="rect">
            <a:avLst/>
          </a:prstGeom>
          <a:noFill/>
        </p:spPr>
        <p:txBody>
          <a:bodyPr wrap="square" rtlCol="0">
            <a:spAutoFit/>
          </a:bodyPr>
          <a:lstStyle/>
          <a:p>
            <a:pPr algn="just">
              <a:lnSpc>
                <a:spcPct val="130000"/>
              </a:lnSpc>
              <a:spcAft>
                <a:spcPts val="2000"/>
              </a:spcAft>
            </a:pPr>
            <a:r>
              <a:rPr lang="en-US" sz="1100" b="1" dirty="0">
                <a:solidFill>
                  <a:srgbClr val="002060"/>
                </a:solidFill>
                <a:latin typeface="Bricolage Grotesque 14pt" panose="020B0605040402000204" pitchFamily="34" charset="0"/>
              </a:rPr>
              <a:t>A food trolley is a fancy mobile eatery used for transporting and serving food to the customers</a:t>
            </a:r>
          </a:p>
        </p:txBody>
      </p:sp>
    </p:spTree>
    <p:extLst>
      <p:ext uri="{BB962C8B-B14F-4D97-AF65-F5344CB8AC3E}">
        <p14:creationId xmlns:p14="http://schemas.microsoft.com/office/powerpoint/2010/main" val="678810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4B1C45F8-40C5-657A-8F6A-87E23F35D73B}"/>
              </a:ext>
            </a:extLst>
          </p:cNvPr>
          <p:cNvSpPr txBox="1"/>
          <p:nvPr/>
        </p:nvSpPr>
        <p:spPr>
          <a:xfrm>
            <a:off x="682602" y="1105203"/>
            <a:ext cx="11381896" cy="1508105"/>
          </a:xfrm>
          <a:prstGeom prst="rect">
            <a:avLst/>
          </a:prstGeom>
          <a:noFill/>
        </p:spPr>
        <p:txBody>
          <a:bodyPr wrap="square" rtlCol="0">
            <a:spAutoFit/>
          </a:bodyPr>
          <a:lstStyle/>
          <a:p>
            <a:pPr marL="285750" indent="-285750">
              <a:buFont typeface="Wingdings" panose="05000000000000000000" pitchFamily="2" charset="2"/>
              <a:buChar char="§"/>
            </a:pPr>
            <a:r>
              <a:rPr lang="en-US" b="1" dirty="0">
                <a:solidFill>
                  <a:srgbClr val="FFFF00"/>
                </a:solidFill>
                <a:latin typeface="Bricolage Grotesque 14pt" panose="020B0605040402000204" pitchFamily="34" charset="0"/>
                <a:ea typeface="Roboto" panose="02000000000000000000" pitchFamily="2" charset="0"/>
                <a:cs typeface="Heebo" pitchFamily="2" charset="-79"/>
              </a:rPr>
              <a:t>You will be representing Jagdai Foods and can sell its franchise too.</a:t>
            </a:r>
          </a:p>
          <a:p>
            <a:pPr marL="285750" indent="-285750">
              <a:buFont typeface="Wingdings" panose="05000000000000000000" pitchFamily="2" charset="2"/>
              <a:buChar char="§"/>
            </a:pPr>
            <a:r>
              <a:rPr lang="en-US" b="1" dirty="0">
                <a:solidFill>
                  <a:srgbClr val="FFFF00"/>
                </a:solidFill>
                <a:latin typeface="Bricolage Grotesque 14pt" panose="020B0605040402000204" pitchFamily="34" charset="0"/>
                <a:ea typeface="Roboto" panose="02000000000000000000" pitchFamily="2" charset="0"/>
                <a:cs typeface="Heebo" pitchFamily="2" charset="-79"/>
              </a:rPr>
              <a:t>You can also create your own brand.</a:t>
            </a:r>
          </a:p>
          <a:p>
            <a:pPr marL="285750" indent="-285750">
              <a:buFont typeface="Wingdings" panose="05000000000000000000" pitchFamily="2" charset="2"/>
              <a:buChar char="§"/>
            </a:pPr>
            <a:r>
              <a:rPr lang="en-US" b="1" dirty="0">
                <a:solidFill>
                  <a:srgbClr val="FFFF00"/>
                </a:solidFill>
                <a:latin typeface="Bricolage Grotesque 14pt" panose="020B0605040402000204" pitchFamily="34" charset="0"/>
              </a:rPr>
              <a:t>Kitchen equipment like </a:t>
            </a:r>
            <a:r>
              <a:rPr lang="en-US" dirty="0">
                <a:solidFill>
                  <a:srgbClr val="16DB65"/>
                </a:solidFill>
                <a:latin typeface="Bricolage Grotesque 14pt" panose="020B0605040402000204" pitchFamily="34" charset="0"/>
              </a:rPr>
              <a:t>Kitchen Crockery, Tandoor, Bhatti, BBQ, Griller, Fridge, Exhaust</a:t>
            </a:r>
            <a:r>
              <a:rPr lang="en-US" sz="2000" dirty="0">
                <a:solidFill>
                  <a:srgbClr val="16DB65"/>
                </a:solidFill>
                <a:latin typeface="Bricolage Grotesque 14pt" panose="020B0605040402000204" pitchFamily="34" charset="0"/>
              </a:rPr>
              <a:t> </a:t>
            </a:r>
            <a:r>
              <a:rPr lang="en-US" b="1" dirty="0">
                <a:solidFill>
                  <a:srgbClr val="FFFF00"/>
                </a:solidFill>
                <a:latin typeface="Bricolage Grotesque 14pt" panose="020B0605040402000204" pitchFamily="34" charset="0"/>
              </a:rPr>
              <a:t>needed for QSR are provided. </a:t>
            </a:r>
          </a:p>
          <a:p>
            <a:pPr marL="285750" indent="-285750">
              <a:buFont typeface="Wingdings" panose="05000000000000000000" pitchFamily="2" charset="2"/>
              <a:buChar char="§"/>
            </a:pPr>
            <a:r>
              <a:rPr lang="en-US" b="1" dirty="0">
                <a:solidFill>
                  <a:srgbClr val="FFFF00"/>
                </a:solidFill>
                <a:latin typeface="Bricolage Grotesque 14pt" panose="020B0605040402000204" pitchFamily="34" charset="0"/>
              </a:rPr>
              <a:t>Loan for QSR Franchise is also available.</a:t>
            </a:r>
          </a:p>
          <a:p>
            <a:pPr marL="285750" indent="-285750">
              <a:buFont typeface="Wingdings" panose="05000000000000000000" pitchFamily="2" charset="2"/>
              <a:buChar char="§"/>
            </a:pPr>
            <a:r>
              <a:rPr lang="en-US" b="1" dirty="0">
                <a:solidFill>
                  <a:srgbClr val="FFFF00"/>
                </a:solidFill>
                <a:latin typeface="Bricolage Grotesque 14pt" panose="020B0605040402000204" pitchFamily="34" charset="0"/>
                <a:ea typeface="Roboto" panose="02000000000000000000" pitchFamily="2" charset="0"/>
                <a:cs typeface="Heebo" pitchFamily="2" charset="-79"/>
              </a:rPr>
              <a:t>Additionally, the unique selling proposition (USP) of our franchise offers the following </a:t>
            </a:r>
            <a:r>
              <a:rPr lang="en-US" b="1">
                <a:solidFill>
                  <a:srgbClr val="FFFF00"/>
                </a:solidFill>
                <a:latin typeface="Bricolage Grotesque 14pt" panose="020B0605040402000204" pitchFamily="34" charset="0"/>
                <a:ea typeface="Roboto" panose="02000000000000000000" pitchFamily="2" charset="0"/>
                <a:cs typeface="Heebo" pitchFamily="2" charset="-79"/>
              </a:rPr>
              <a:t>revenue opportunities :- </a:t>
            </a:r>
            <a:endParaRPr lang="en-US" b="1" dirty="0">
              <a:solidFill>
                <a:srgbClr val="FFFF00"/>
              </a:solidFill>
              <a:latin typeface="Bricolage Grotesque 14pt" panose="020B0605040402000204" pitchFamily="34" charset="0"/>
              <a:ea typeface="Roboto" panose="02000000000000000000" pitchFamily="2" charset="0"/>
              <a:cs typeface="Heebo" pitchFamily="2" charset="-79"/>
            </a:endParaRPr>
          </a:p>
        </p:txBody>
      </p:sp>
      <p:sp>
        <p:nvSpPr>
          <p:cNvPr id="7" name="Rectangle 6">
            <a:extLst>
              <a:ext uri="{FF2B5EF4-FFF2-40B4-BE49-F238E27FC236}">
                <a16:creationId xmlns:a16="http://schemas.microsoft.com/office/drawing/2014/main" id="{F8F14494-17BF-2306-007C-0E44E7EC7CEB}"/>
              </a:ext>
            </a:extLst>
          </p:cNvPr>
          <p:cNvSpPr/>
          <p:nvPr/>
        </p:nvSpPr>
        <p:spPr>
          <a:xfrm>
            <a:off x="566685" y="2955149"/>
            <a:ext cx="1599202" cy="933842"/>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rgbClr val="16DB65"/>
              </a:solidFill>
            </a:endParaRPr>
          </a:p>
        </p:txBody>
      </p:sp>
      <p:sp>
        <p:nvSpPr>
          <p:cNvPr id="8" name="Rectangle 7"/>
          <p:cNvSpPr/>
          <p:nvPr/>
        </p:nvSpPr>
        <p:spPr>
          <a:xfrm>
            <a:off x="682602" y="3056869"/>
            <a:ext cx="2443494" cy="1435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0" name="Rectangle 29">
            <a:extLst>
              <a:ext uri="{FF2B5EF4-FFF2-40B4-BE49-F238E27FC236}">
                <a16:creationId xmlns:a16="http://schemas.microsoft.com/office/drawing/2014/main" id="{F8F14494-17BF-2306-007C-0E44E7EC7CEB}"/>
              </a:ext>
            </a:extLst>
          </p:cNvPr>
          <p:cNvSpPr/>
          <p:nvPr/>
        </p:nvSpPr>
        <p:spPr>
          <a:xfrm>
            <a:off x="3346637" y="2910759"/>
            <a:ext cx="1599202" cy="933841"/>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rgbClr val="16DB65"/>
              </a:solidFill>
            </a:endParaRPr>
          </a:p>
        </p:txBody>
      </p:sp>
      <p:sp>
        <p:nvSpPr>
          <p:cNvPr id="32" name="Rectangle 31"/>
          <p:cNvSpPr/>
          <p:nvPr/>
        </p:nvSpPr>
        <p:spPr>
          <a:xfrm>
            <a:off x="3525340" y="3042956"/>
            <a:ext cx="2443494" cy="14351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3" name="TextBox 32"/>
          <p:cNvSpPr txBox="1"/>
          <p:nvPr/>
        </p:nvSpPr>
        <p:spPr>
          <a:xfrm>
            <a:off x="3579646" y="3255965"/>
            <a:ext cx="2378460" cy="1077218"/>
          </a:xfrm>
          <a:prstGeom prst="rect">
            <a:avLst/>
          </a:prstGeom>
          <a:noFill/>
        </p:spPr>
        <p:txBody>
          <a:bodyPr wrap="square" rtlCol="0">
            <a:spAutoFit/>
          </a:bodyPr>
          <a:lstStyle/>
          <a:p>
            <a:pPr algn="ctr"/>
            <a:r>
              <a:rPr lang="en-US" sz="1600" b="1" dirty="0">
                <a:solidFill>
                  <a:srgbClr val="F95050"/>
                </a:solidFill>
                <a:latin typeface="Bricolage Grotesque 14pt" panose="020B0605040402000204" pitchFamily="34" charset="0"/>
              </a:rPr>
              <a:t>The opportunity to sell franchises with a 3% royalty and 25% franchise fee.</a:t>
            </a:r>
            <a:endParaRPr lang="en-US" sz="1600" dirty="0">
              <a:solidFill>
                <a:srgbClr val="F95050"/>
              </a:solidFill>
              <a:latin typeface="Bricolage Grotesque 14pt" panose="020B0605040402000204" pitchFamily="34" charset="0"/>
            </a:endParaRPr>
          </a:p>
        </p:txBody>
      </p:sp>
      <p:sp>
        <p:nvSpPr>
          <p:cNvPr id="35" name="Rectangle 34">
            <a:extLst>
              <a:ext uri="{FF2B5EF4-FFF2-40B4-BE49-F238E27FC236}">
                <a16:creationId xmlns:a16="http://schemas.microsoft.com/office/drawing/2014/main" id="{F8F14494-17BF-2306-007C-0E44E7EC7CEB}"/>
              </a:ext>
            </a:extLst>
          </p:cNvPr>
          <p:cNvSpPr/>
          <p:nvPr/>
        </p:nvSpPr>
        <p:spPr>
          <a:xfrm>
            <a:off x="6126589" y="2923279"/>
            <a:ext cx="1599202" cy="933842"/>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rgbClr val="16DB65"/>
              </a:solidFill>
            </a:endParaRPr>
          </a:p>
        </p:txBody>
      </p:sp>
      <p:sp>
        <p:nvSpPr>
          <p:cNvPr id="36" name="Rectangle 35"/>
          <p:cNvSpPr/>
          <p:nvPr/>
        </p:nvSpPr>
        <p:spPr>
          <a:xfrm>
            <a:off x="6253351" y="2992906"/>
            <a:ext cx="2443494" cy="1435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37" name="TextBox 36"/>
          <p:cNvSpPr txBox="1"/>
          <p:nvPr/>
        </p:nvSpPr>
        <p:spPr>
          <a:xfrm>
            <a:off x="6436257" y="3351827"/>
            <a:ext cx="2156524" cy="584775"/>
          </a:xfrm>
          <a:prstGeom prst="rect">
            <a:avLst/>
          </a:prstGeom>
          <a:noFill/>
        </p:spPr>
        <p:txBody>
          <a:bodyPr wrap="square" rtlCol="0">
            <a:spAutoFit/>
          </a:bodyPr>
          <a:lstStyle/>
          <a:p>
            <a:pPr algn="ctr"/>
            <a:r>
              <a:rPr lang="en-US" sz="1600" b="1" dirty="0">
                <a:solidFill>
                  <a:srgbClr val="F95050"/>
                </a:solidFill>
                <a:latin typeface="Bricolage Grotesque 14pt" panose="020B0605040402000204" pitchFamily="34" charset="0"/>
              </a:rPr>
              <a:t>Billing of trolleys with a 10% royalty.</a:t>
            </a:r>
            <a:endParaRPr lang="en-US" sz="1600" dirty="0">
              <a:solidFill>
                <a:srgbClr val="F95050"/>
              </a:solidFill>
              <a:latin typeface="Bricolage Grotesque 14pt" panose="020B0605040402000204" pitchFamily="34" charset="0"/>
            </a:endParaRPr>
          </a:p>
        </p:txBody>
      </p:sp>
      <p:sp>
        <p:nvSpPr>
          <p:cNvPr id="39" name="Rectangle 38">
            <a:extLst>
              <a:ext uri="{FF2B5EF4-FFF2-40B4-BE49-F238E27FC236}">
                <a16:creationId xmlns:a16="http://schemas.microsoft.com/office/drawing/2014/main" id="{F8F14494-17BF-2306-007C-0E44E7EC7CEB}"/>
              </a:ext>
            </a:extLst>
          </p:cNvPr>
          <p:cNvSpPr/>
          <p:nvPr/>
        </p:nvSpPr>
        <p:spPr>
          <a:xfrm>
            <a:off x="8947538" y="2863071"/>
            <a:ext cx="1599202" cy="933842"/>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rgbClr val="16DB65"/>
              </a:solidFill>
            </a:endParaRPr>
          </a:p>
        </p:txBody>
      </p:sp>
      <p:sp>
        <p:nvSpPr>
          <p:cNvPr id="40" name="Rectangle 39"/>
          <p:cNvSpPr/>
          <p:nvPr/>
        </p:nvSpPr>
        <p:spPr>
          <a:xfrm>
            <a:off x="9110280" y="2955149"/>
            <a:ext cx="2443494" cy="1435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TextBox 40"/>
          <p:cNvSpPr txBox="1"/>
          <p:nvPr/>
        </p:nvSpPr>
        <p:spPr>
          <a:xfrm>
            <a:off x="9155098" y="3228715"/>
            <a:ext cx="2353858" cy="830997"/>
          </a:xfrm>
          <a:prstGeom prst="rect">
            <a:avLst/>
          </a:prstGeom>
          <a:noFill/>
        </p:spPr>
        <p:txBody>
          <a:bodyPr wrap="square" rtlCol="0">
            <a:spAutoFit/>
          </a:bodyPr>
          <a:lstStyle/>
          <a:p>
            <a:pPr algn="ctr"/>
            <a:r>
              <a:rPr lang="en-US" sz="1600" b="1" dirty="0">
                <a:solidFill>
                  <a:srgbClr val="F95050"/>
                </a:solidFill>
                <a:latin typeface="Bricolage Grotesque 14pt" panose="020B0605040402000204" pitchFamily="34" charset="0"/>
              </a:rPr>
              <a:t>Billing of internet kitchens with a 10% royalty.</a:t>
            </a:r>
            <a:endParaRPr lang="en-US" sz="1600" dirty="0">
              <a:solidFill>
                <a:srgbClr val="F95050"/>
              </a:solidFill>
              <a:latin typeface="Bricolage Grotesque 14pt" panose="020B0605040402000204" pitchFamily="34" charset="0"/>
            </a:endParaRPr>
          </a:p>
        </p:txBody>
      </p:sp>
      <p:sp>
        <p:nvSpPr>
          <p:cNvPr id="56" name="Rectangle 55">
            <a:extLst>
              <a:ext uri="{FF2B5EF4-FFF2-40B4-BE49-F238E27FC236}">
                <a16:creationId xmlns:a16="http://schemas.microsoft.com/office/drawing/2014/main" id="{F8F14494-17BF-2306-007C-0E44E7EC7CEB}"/>
              </a:ext>
            </a:extLst>
          </p:cNvPr>
          <p:cNvSpPr/>
          <p:nvPr/>
        </p:nvSpPr>
        <p:spPr>
          <a:xfrm>
            <a:off x="2006446" y="4736678"/>
            <a:ext cx="1599202" cy="933842"/>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6DB65"/>
              </a:solidFill>
            </a:endParaRPr>
          </a:p>
        </p:txBody>
      </p:sp>
      <p:sp>
        <p:nvSpPr>
          <p:cNvPr id="57" name="Rectangle 56"/>
          <p:cNvSpPr/>
          <p:nvPr/>
        </p:nvSpPr>
        <p:spPr>
          <a:xfrm>
            <a:off x="2144242" y="4874029"/>
            <a:ext cx="2443494" cy="1435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2224400" y="5281929"/>
            <a:ext cx="2277176" cy="830997"/>
          </a:xfrm>
          <a:prstGeom prst="rect">
            <a:avLst/>
          </a:prstGeom>
          <a:noFill/>
        </p:spPr>
        <p:txBody>
          <a:bodyPr wrap="square" rtlCol="0">
            <a:spAutoFit/>
          </a:bodyPr>
          <a:lstStyle/>
          <a:p>
            <a:pPr algn="ctr"/>
            <a:r>
              <a:rPr lang="en-US" sz="1600" b="1" dirty="0">
                <a:solidFill>
                  <a:srgbClr val="F95050"/>
                </a:solidFill>
                <a:latin typeface="Bricolage Grotesque 14pt" panose="020B0605040402000204" pitchFamily="34" charset="0"/>
              </a:rPr>
              <a:t>Tiffin services booking with a 10% royalty.</a:t>
            </a:r>
            <a:endParaRPr lang="en-US" sz="1600" dirty="0">
              <a:solidFill>
                <a:srgbClr val="F95050"/>
              </a:solidFill>
              <a:latin typeface="Bricolage Grotesque 14pt" panose="020B0605040402000204" pitchFamily="34" charset="0"/>
            </a:endParaRPr>
          </a:p>
        </p:txBody>
      </p:sp>
      <p:sp>
        <p:nvSpPr>
          <p:cNvPr id="53" name="Rectangle 52">
            <a:extLst>
              <a:ext uri="{FF2B5EF4-FFF2-40B4-BE49-F238E27FC236}">
                <a16:creationId xmlns:a16="http://schemas.microsoft.com/office/drawing/2014/main" id="{F8F14494-17BF-2306-007C-0E44E7EC7CEB}"/>
              </a:ext>
            </a:extLst>
          </p:cNvPr>
          <p:cNvSpPr/>
          <p:nvPr/>
        </p:nvSpPr>
        <p:spPr>
          <a:xfrm>
            <a:off x="4714570" y="4763585"/>
            <a:ext cx="1599202" cy="933842"/>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6DB65"/>
              </a:solidFill>
            </a:endParaRPr>
          </a:p>
        </p:txBody>
      </p:sp>
      <p:sp>
        <p:nvSpPr>
          <p:cNvPr id="54" name="Rectangle 53"/>
          <p:cNvSpPr/>
          <p:nvPr/>
        </p:nvSpPr>
        <p:spPr>
          <a:xfrm>
            <a:off x="4881841" y="4859562"/>
            <a:ext cx="2443494" cy="1435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TextBox 54"/>
          <p:cNvSpPr txBox="1"/>
          <p:nvPr/>
        </p:nvSpPr>
        <p:spPr>
          <a:xfrm>
            <a:off x="5019569" y="5281929"/>
            <a:ext cx="2289077" cy="830997"/>
          </a:xfrm>
          <a:prstGeom prst="rect">
            <a:avLst/>
          </a:prstGeom>
          <a:noFill/>
        </p:spPr>
        <p:txBody>
          <a:bodyPr wrap="square" rtlCol="0">
            <a:spAutoFit/>
          </a:bodyPr>
          <a:lstStyle/>
          <a:p>
            <a:pPr algn="ctr"/>
            <a:r>
              <a:rPr lang="en-US" sz="1600" b="1" dirty="0">
                <a:solidFill>
                  <a:srgbClr val="F95050"/>
                </a:solidFill>
                <a:latin typeface="Bricolage Grotesque 14pt" panose="020B0605040402000204" pitchFamily="34" charset="0"/>
              </a:rPr>
              <a:t>Spices and gravy base selling with 10% royalty.</a:t>
            </a:r>
            <a:endParaRPr lang="en-US" sz="1600" dirty="0">
              <a:solidFill>
                <a:srgbClr val="F95050"/>
              </a:solidFill>
              <a:latin typeface="Bricolage Grotesque 14pt" panose="020B0605040402000204" pitchFamily="34" charset="0"/>
            </a:endParaRPr>
          </a:p>
        </p:txBody>
      </p:sp>
      <p:sp>
        <p:nvSpPr>
          <p:cNvPr id="50" name="Rectangle 49">
            <a:extLst>
              <a:ext uri="{FF2B5EF4-FFF2-40B4-BE49-F238E27FC236}">
                <a16:creationId xmlns:a16="http://schemas.microsoft.com/office/drawing/2014/main" id="{F8F14494-17BF-2306-007C-0E44E7EC7CEB}"/>
              </a:ext>
            </a:extLst>
          </p:cNvPr>
          <p:cNvSpPr/>
          <p:nvPr/>
        </p:nvSpPr>
        <p:spPr>
          <a:xfrm>
            <a:off x="7682968" y="4752096"/>
            <a:ext cx="1599202" cy="933842"/>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6DB65"/>
              </a:solidFill>
            </a:endParaRPr>
          </a:p>
        </p:txBody>
      </p:sp>
      <p:sp>
        <p:nvSpPr>
          <p:cNvPr id="51" name="Rectangle 50"/>
          <p:cNvSpPr/>
          <p:nvPr/>
        </p:nvSpPr>
        <p:spPr>
          <a:xfrm>
            <a:off x="7816049" y="4859561"/>
            <a:ext cx="2443494" cy="1435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p:cNvSpPr txBox="1"/>
          <p:nvPr/>
        </p:nvSpPr>
        <p:spPr>
          <a:xfrm>
            <a:off x="7854517" y="5076780"/>
            <a:ext cx="2366557" cy="830997"/>
          </a:xfrm>
          <a:prstGeom prst="rect">
            <a:avLst/>
          </a:prstGeom>
          <a:noFill/>
        </p:spPr>
        <p:txBody>
          <a:bodyPr wrap="square" rtlCol="0">
            <a:spAutoFit/>
          </a:bodyPr>
          <a:lstStyle/>
          <a:p>
            <a:pPr algn="ctr"/>
            <a:r>
              <a:rPr lang="en-US" sz="1600" b="1" dirty="0">
                <a:solidFill>
                  <a:srgbClr val="F95050"/>
                </a:solidFill>
                <a:latin typeface="Bricolage Grotesque 14pt" panose="020B0605040402000204" pitchFamily="34" charset="0"/>
              </a:rPr>
              <a:t>One CashAqua water bottle SIS franchise with UPOS</a:t>
            </a:r>
            <a:endParaRPr lang="en-US" sz="1600" dirty="0">
              <a:solidFill>
                <a:srgbClr val="F95050"/>
              </a:solidFill>
              <a:latin typeface="Bricolage Grotesque 14pt" panose="020B0605040402000204" pitchFamily="34" charset="0"/>
            </a:endParaRPr>
          </a:p>
        </p:txBody>
      </p:sp>
      <p:sp>
        <p:nvSpPr>
          <p:cNvPr id="2" name="TextBox 1">
            <a:extLst>
              <a:ext uri="{FF2B5EF4-FFF2-40B4-BE49-F238E27FC236}">
                <a16:creationId xmlns:a16="http://schemas.microsoft.com/office/drawing/2014/main" id="{AEC3D402-915C-3AE1-350F-75C798FC9AC4}"/>
              </a:ext>
            </a:extLst>
          </p:cNvPr>
          <p:cNvSpPr txBox="1"/>
          <p:nvPr/>
        </p:nvSpPr>
        <p:spPr>
          <a:xfrm>
            <a:off x="1946446" y="364609"/>
            <a:ext cx="8246558"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6DB65"/>
                </a:solidFill>
                <a:effectLst/>
                <a:uLnTx/>
                <a:uFillTx/>
                <a:latin typeface="Bricolage Grotesque 14pt" panose="020B0605040402000204" pitchFamily="34" charset="0"/>
                <a:ea typeface="Roboto" panose="02000000000000000000" pitchFamily="2" charset="0"/>
                <a:cs typeface="Heebo" pitchFamily="2" charset="-79"/>
              </a:rPr>
              <a:t>QSR Franchise</a:t>
            </a:r>
            <a:endParaRPr lang="en-US" dirty="0"/>
          </a:p>
        </p:txBody>
      </p:sp>
      <p:sp>
        <p:nvSpPr>
          <p:cNvPr id="3" name="Rectangle 2"/>
          <p:cNvSpPr/>
          <p:nvPr/>
        </p:nvSpPr>
        <p:spPr>
          <a:xfrm>
            <a:off x="939330" y="3441623"/>
            <a:ext cx="1883272" cy="830997"/>
          </a:xfrm>
          <a:prstGeom prst="rect">
            <a:avLst/>
          </a:prstGeom>
        </p:spPr>
        <p:txBody>
          <a:bodyPr wrap="square">
            <a:spAutoFit/>
          </a:bodyPr>
          <a:lstStyle/>
          <a:p>
            <a:pPr algn="ctr"/>
            <a:r>
              <a:rPr lang="en-US" sz="1600" b="1" dirty="0">
                <a:solidFill>
                  <a:srgbClr val="F95050"/>
                </a:solidFill>
                <a:latin typeface="Bricolage Grotesque 14pt" panose="020B0605040402000204" pitchFamily="34" charset="0"/>
              </a:rPr>
              <a:t>Self-QSR billing online and in-store.</a:t>
            </a:r>
            <a:endParaRPr lang="en-US" sz="1600" dirty="0">
              <a:solidFill>
                <a:srgbClr val="F95050"/>
              </a:solidFill>
              <a:latin typeface="Bricolage Grotesque 14pt" panose="020B0605040402000204" pitchFamily="34" charset="0"/>
            </a:endParaRPr>
          </a:p>
        </p:txBody>
      </p:sp>
    </p:spTree>
    <p:extLst>
      <p:ext uri="{BB962C8B-B14F-4D97-AF65-F5344CB8AC3E}">
        <p14:creationId xmlns:p14="http://schemas.microsoft.com/office/powerpoint/2010/main" val="2784486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ppt_x"/>
                                          </p:val>
                                        </p:tav>
                                        <p:tav tm="100000">
                                          <p:val>
                                            <p:strVal val="#ppt_x"/>
                                          </p:val>
                                        </p:tav>
                                      </p:tavLst>
                                    </p:anim>
                                    <p:anim calcmode="lin" valueType="num">
                                      <p:cBhvr additive="base">
                                        <p:cTn id="1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fill="hold"/>
                                        <p:tgtEl>
                                          <p:spTgt spid="30"/>
                                        </p:tgtEl>
                                        <p:attrNameLst>
                                          <p:attrName>ppt_x</p:attrName>
                                        </p:attrNameLst>
                                      </p:cBhvr>
                                      <p:tavLst>
                                        <p:tav tm="0">
                                          <p:val>
                                            <p:strVal val="#ppt_x"/>
                                          </p:val>
                                        </p:tav>
                                        <p:tav tm="100000">
                                          <p:val>
                                            <p:strVal val="#ppt_x"/>
                                          </p:val>
                                        </p:tav>
                                      </p:tavLst>
                                    </p:anim>
                                    <p:anim calcmode="lin" valueType="num">
                                      <p:cBhvr additive="base">
                                        <p:cTn id="34" dur="500" fill="hold"/>
                                        <p:tgtEl>
                                          <p:spTgt spid="3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fill="hold"/>
                                        <p:tgtEl>
                                          <p:spTgt spid="32"/>
                                        </p:tgtEl>
                                        <p:attrNameLst>
                                          <p:attrName>ppt_x</p:attrName>
                                        </p:attrNameLst>
                                      </p:cBhvr>
                                      <p:tavLst>
                                        <p:tav tm="0">
                                          <p:val>
                                            <p:strVal val="#ppt_x"/>
                                          </p:val>
                                        </p:tav>
                                        <p:tav tm="100000">
                                          <p:val>
                                            <p:strVal val="#ppt_x"/>
                                          </p:val>
                                        </p:tav>
                                      </p:tavLst>
                                    </p:anim>
                                    <p:anim calcmode="lin" valueType="num">
                                      <p:cBhvr additive="base">
                                        <p:cTn id="38" dur="500" fill="hold"/>
                                        <p:tgtEl>
                                          <p:spTgt spid="3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additive="base">
                                        <p:cTn id="41" dur="500" fill="hold"/>
                                        <p:tgtEl>
                                          <p:spTgt spid="33"/>
                                        </p:tgtEl>
                                        <p:attrNameLst>
                                          <p:attrName>ppt_x</p:attrName>
                                        </p:attrNameLst>
                                      </p:cBhvr>
                                      <p:tavLst>
                                        <p:tav tm="0">
                                          <p:val>
                                            <p:strVal val="#ppt_x"/>
                                          </p:val>
                                        </p:tav>
                                        <p:tav tm="100000">
                                          <p:val>
                                            <p:strVal val="#ppt_x"/>
                                          </p:val>
                                        </p:tav>
                                      </p:tavLst>
                                    </p:anim>
                                    <p:anim calcmode="lin" valueType="num">
                                      <p:cBhvr additive="base">
                                        <p:cTn id="42"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fill="hold"/>
                                        <p:tgtEl>
                                          <p:spTgt spid="35"/>
                                        </p:tgtEl>
                                        <p:attrNameLst>
                                          <p:attrName>ppt_x</p:attrName>
                                        </p:attrNameLst>
                                      </p:cBhvr>
                                      <p:tavLst>
                                        <p:tav tm="0">
                                          <p:val>
                                            <p:strVal val="#ppt_x"/>
                                          </p:val>
                                        </p:tav>
                                        <p:tav tm="100000">
                                          <p:val>
                                            <p:strVal val="#ppt_x"/>
                                          </p:val>
                                        </p:tav>
                                      </p:tavLst>
                                    </p:anim>
                                    <p:anim calcmode="lin" valueType="num">
                                      <p:cBhvr additive="base">
                                        <p:cTn id="48" dur="500" fill="hold"/>
                                        <p:tgtEl>
                                          <p:spTgt spid="3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 calcmode="lin" valueType="num">
                                      <p:cBhvr additive="base">
                                        <p:cTn id="51" dur="500" fill="hold"/>
                                        <p:tgtEl>
                                          <p:spTgt spid="36"/>
                                        </p:tgtEl>
                                        <p:attrNameLst>
                                          <p:attrName>ppt_x</p:attrName>
                                        </p:attrNameLst>
                                      </p:cBhvr>
                                      <p:tavLst>
                                        <p:tav tm="0">
                                          <p:val>
                                            <p:strVal val="#ppt_x"/>
                                          </p:val>
                                        </p:tav>
                                        <p:tav tm="100000">
                                          <p:val>
                                            <p:strVal val="#ppt_x"/>
                                          </p:val>
                                        </p:tav>
                                      </p:tavLst>
                                    </p:anim>
                                    <p:anim calcmode="lin" valueType="num">
                                      <p:cBhvr additive="base">
                                        <p:cTn id="52" dur="500" fill="hold"/>
                                        <p:tgtEl>
                                          <p:spTgt spid="36"/>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 calcmode="lin" valueType="num">
                                      <p:cBhvr additive="base">
                                        <p:cTn id="55" dur="500" fill="hold"/>
                                        <p:tgtEl>
                                          <p:spTgt spid="37"/>
                                        </p:tgtEl>
                                        <p:attrNameLst>
                                          <p:attrName>ppt_x</p:attrName>
                                        </p:attrNameLst>
                                      </p:cBhvr>
                                      <p:tavLst>
                                        <p:tav tm="0">
                                          <p:val>
                                            <p:strVal val="#ppt_x"/>
                                          </p:val>
                                        </p:tav>
                                        <p:tav tm="100000">
                                          <p:val>
                                            <p:strVal val="#ppt_x"/>
                                          </p:val>
                                        </p:tav>
                                      </p:tavLst>
                                    </p:anim>
                                    <p:anim calcmode="lin" valueType="num">
                                      <p:cBhvr additive="base">
                                        <p:cTn id="5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9"/>
                                        </p:tgtEl>
                                        <p:attrNameLst>
                                          <p:attrName>style.visibility</p:attrName>
                                        </p:attrNameLst>
                                      </p:cBhvr>
                                      <p:to>
                                        <p:strVal val="visible"/>
                                      </p:to>
                                    </p:set>
                                    <p:anim calcmode="lin" valueType="num">
                                      <p:cBhvr additive="base">
                                        <p:cTn id="61" dur="500" fill="hold"/>
                                        <p:tgtEl>
                                          <p:spTgt spid="39"/>
                                        </p:tgtEl>
                                        <p:attrNameLst>
                                          <p:attrName>ppt_x</p:attrName>
                                        </p:attrNameLst>
                                      </p:cBhvr>
                                      <p:tavLst>
                                        <p:tav tm="0">
                                          <p:val>
                                            <p:strVal val="#ppt_x"/>
                                          </p:val>
                                        </p:tav>
                                        <p:tav tm="100000">
                                          <p:val>
                                            <p:strVal val="#ppt_x"/>
                                          </p:val>
                                        </p:tav>
                                      </p:tavLst>
                                    </p:anim>
                                    <p:anim calcmode="lin" valueType="num">
                                      <p:cBhvr additive="base">
                                        <p:cTn id="62" dur="500" fill="hold"/>
                                        <p:tgtEl>
                                          <p:spTgt spid="39"/>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anim calcmode="lin" valueType="num">
                                      <p:cBhvr additive="base">
                                        <p:cTn id="65" dur="500" fill="hold"/>
                                        <p:tgtEl>
                                          <p:spTgt spid="40"/>
                                        </p:tgtEl>
                                        <p:attrNameLst>
                                          <p:attrName>ppt_x</p:attrName>
                                        </p:attrNameLst>
                                      </p:cBhvr>
                                      <p:tavLst>
                                        <p:tav tm="0">
                                          <p:val>
                                            <p:strVal val="#ppt_x"/>
                                          </p:val>
                                        </p:tav>
                                        <p:tav tm="100000">
                                          <p:val>
                                            <p:strVal val="#ppt_x"/>
                                          </p:val>
                                        </p:tav>
                                      </p:tavLst>
                                    </p:anim>
                                    <p:anim calcmode="lin" valueType="num">
                                      <p:cBhvr additive="base">
                                        <p:cTn id="66" dur="500" fill="hold"/>
                                        <p:tgtEl>
                                          <p:spTgt spid="40"/>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 calcmode="lin" valueType="num">
                                      <p:cBhvr additive="base">
                                        <p:cTn id="69" dur="500" fill="hold"/>
                                        <p:tgtEl>
                                          <p:spTgt spid="41"/>
                                        </p:tgtEl>
                                        <p:attrNameLst>
                                          <p:attrName>ppt_x</p:attrName>
                                        </p:attrNameLst>
                                      </p:cBhvr>
                                      <p:tavLst>
                                        <p:tav tm="0">
                                          <p:val>
                                            <p:strVal val="#ppt_x"/>
                                          </p:val>
                                        </p:tav>
                                        <p:tav tm="100000">
                                          <p:val>
                                            <p:strVal val="#ppt_x"/>
                                          </p:val>
                                        </p:tav>
                                      </p:tavLst>
                                    </p:anim>
                                    <p:anim calcmode="lin" valueType="num">
                                      <p:cBhvr additive="base">
                                        <p:cTn id="7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56"/>
                                        </p:tgtEl>
                                        <p:attrNameLst>
                                          <p:attrName>style.visibility</p:attrName>
                                        </p:attrNameLst>
                                      </p:cBhvr>
                                      <p:to>
                                        <p:strVal val="visible"/>
                                      </p:to>
                                    </p:set>
                                    <p:anim calcmode="lin" valueType="num">
                                      <p:cBhvr additive="base">
                                        <p:cTn id="75" dur="500" fill="hold"/>
                                        <p:tgtEl>
                                          <p:spTgt spid="56"/>
                                        </p:tgtEl>
                                        <p:attrNameLst>
                                          <p:attrName>ppt_x</p:attrName>
                                        </p:attrNameLst>
                                      </p:cBhvr>
                                      <p:tavLst>
                                        <p:tav tm="0">
                                          <p:val>
                                            <p:strVal val="#ppt_x"/>
                                          </p:val>
                                        </p:tav>
                                        <p:tav tm="100000">
                                          <p:val>
                                            <p:strVal val="#ppt_x"/>
                                          </p:val>
                                        </p:tav>
                                      </p:tavLst>
                                    </p:anim>
                                    <p:anim calcmode="lin" valueType="num">
                                      <p:cBhvr additive="base">
                                        <p:cTn id="76" dur="500" fill="hold"/>
                                        <p:tgtEl>
                                          <p:spTgt spid="56"/>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57"/>
                                        </p:tgtEl>
                                        <p:attrNameLst>
                                          <p:attrName>style.visibility</p:attrName>
                                        </p:attrNameLst>
                                      </p:cBhvr>
                                      <p:to>
                                        <p:strVal val="visible"/>
                                      </p:to>
                                    </p:set>
                                    <p:anim calcmode="lin" valueType="num">
                                      <p:cBhvr additive="base">
                                        <p:cTn id="79" dur="500" fill="hold"/>
                                        <p:tgtEl>
                                          <p:spTgt spid="57"/>
                                        </p:tgtEl>
                                        <p:attrNameLst>
                                          <p:attrName>ppt_x</p:attrName>
                                        </p:attrNameLst>
                                      </p:cBhvr>
                                      <p:tavLst>
                                        <p:tav tm="0">
                                          <p:val>
                                            <p:strVal val="#ppt_x"/>
                                          </p:val>
                                        </p:tav>
                                        <p:tav tm="100000">
                                          <p:val>
                                            <p:strVal val="#ppt_x"/>
                                          </p:val>
                                        </p:tav>
                                      </p:tavLst>
                                    </p:anim>
                                    <p:anim calcmode="lin" valueType="num">
                                      <p:cBhvr additive="base">
                                        <p:cTn id="80" dur="500" fill="hold"/>
                                        <p:tgtEl>
                                          <p:spTgt spid="57"/>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58"/>
                                        </p:tgtEl>
                                        <p:attrNameLst>
                                          <p:attrName>style.visibility</p:attrName>
                                        </p:attrNameLst>
                                      </p:cBhvr>
                                      <p:to>
                                        <p:strVal val="visible"/>
                                      </p:to>
                                    </p:set>
                                    <p:anim calcmode="lin" valueType="num">
                                      <p:cBhvr additive="base">
                                        <p:cTn id="83" dur="500" fill="hold"/>
                                        <p:tgtEl>
                                          <p:spTgt spid="58"/>
                                        </p:tgtEl>
                                        <p:attrNameLst>
                                          <p:attrName>ppt_x</p:attrName>
                                        </p:attrNameLst>
                                      </p:cBhvr>
                                      <p:tavLst>
                                        <p:tav tm="0">
                                          <p:val>
                                            <p:strVal val="#ppt_x"/>
                                          </p:val>
                                        </p:tav>
                                        <p:tav tm="100000">
                                          <p:val>
                                            <p:strVal val="#ppt_x"/>
                                          </p:val>
                                        </p:tav>
                                      </p:tavLst>
                                    </p:anim>
                                    <p:anim calcmode="lin" valueType="num">
                                      <p:cBhvr additive="base">
                                        <p:cTn id="84"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53"/>
                                        </p:tgtEl>
                                        <p:attrNameLst>
                                          <p:attrName>style.visibility</p:attrName>
                                        </p:attrNameLst>
                                      </p:cBhvr>
                                      <p:to>
                                        <p:strVal val="visible"/>
                                      </p:to>
                                    </p:set>
                                    <p:anim calcmode="lin" valueType="num">
                                      <p:cBhvr additive="base">
                                        <p:cTn id="89" dur="500" fill="hold"/>
                                        <p:tgtEl>
                                          <p:spTgt spid="53"/>
                                        </p:tgtEl>
                                        <p:attrNameLst>
                                          <p:attrName>ppt_x</p:attrName>
                                        </p:attrNameLst>
                                      </p:cBhvr>
                                      <p:tavLst>
                                        <p:tav tm="0">
                                          <p:val>
                                            <p:strVal val="#ppt_x"/>
                                          </p:val>
                                        </p:tav>
                                        <p:tav tm="100000">
                                          <p:val>
                                            <p:strVal val="#ppt_x"/>
                                          </p:val>
                                        </p:tav>
                                      </p:tavLst>
                                    </p:anim>
                                    <p:anim calcmode="lin" valueType="num">
                                      <p:cBhvr additive="base">
                                        <p:cTn id="90" dur="500" fill="hold"/>
                                        <p:tgtEl>
                                          <p:spTgt spid="53"/>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54"/>
                                        </p:tgtEl>
                                        <p:attrNameLst>
                                          <p:attrName>style.visibility</p:attrName>
                                        </p:attrNameLst>
                                      </p:cBhvr>
                                      <p:to>
                                        <p:strVal val="visible"/>
                                      </p:to>
                                    </p:set>
                                    <p:anim calcmode="lin" valueType="num">
                                      <p:cBhvr additive="base">
                                        <p:cTn id="93" dur="500" fill="hold"/>
                                        <p:tgtEl>
                                          <p:spTgt spid="54"/>
                                        </p:tgtEl>
                                        <p:attrNameLst>
                                          <p:attrName>ppt_x</p:attrName>
                                        </p:attrNameLst>
                                      </p:cBhvr>
                                      <p:tavLst>
                                        <p:tav tm="0">
                                          <p:val>
                                            <p:strVal val="#ppt_x"/>
                                          </p:val>
                                        </p:tav>
                                        <p:tav tm="100000">
                                          <p:val>
                                            <p:strVal val="#ppt_x"/>
                                          </p:val>
                                        </p:tav>
                                      </p:tavLst>
                                    </p:anim>
                                    <p:anim calcmode="lin" valueType="num">
                                      <p:cBhvr additive="base">
                                        <p:cTn id="94" dur="500" fill="hold"/>
                                        <p:tgtEl>
                                          <p:spTgt spid="54"/>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55"/>
                                        </p:tgtEl>
                                        <p:attrNameLst>
                                          <p:attrName>style.visibility</p:attrName>
                                        </p:attrNameLst>
                                      </p:cBhvr>
                                      <p:to>
                                        <p:strVal val="visible"/>
                                      </p:to>
                                    </p:set>
                                    <p:anim calcmode="lin" valueType="num">
                                      <p:cBhvr additive="base">
                                        <p:cTn id="97" dur="500" fill="hold"/>
                                        <p:tgtEl>
                                          <p:spTgt spid="55"/>
                                        </p:tgtEl>
                                        <p:attrNameLst>
                                          <p:attrName>ppt_x</p:attrName>
                                        </p:attrNameLst>
                                      </p:cBhvr>
                                      <p:tavLst>
                                        <p:tav tm="0">
                                          <p:val>
                                            <p:strVal val="#ppt_x"/>
                                          </p:val>
                                        </p:tav>
                                        <p:tav tm="100000">
                                          <p:val>
                                            <p:strVal val="#ppt_x"/>
                                          </p:val>
                                        </p:tav>
                                      </p:tavLst>
                                    </p:anim>
                                    <p:anim calcmode="lin" valueType="num">
                                      <p:cBhvr additive="base">
                                        <p:cTn id="98"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50"/>
                                        </p:tgtEl>
                                        <p:attrNameLst>
                                          <p:attrName>style.visibility</p:attrName>
                                        </p:attrNameLst>
                                      </p:cBhvr>
                                      <p:to>
                                        <p:strVal val="visible"/>
                                      </p:to>
                                    </p:set>
                                    <p:anim calcmode="lin" valueType="num">
                                      <p:cBhvr additive="base">
                                        <p:cTn id="103" dur="500" fill="hold"/>
                                        <p:tgtEl>
                                          <p:spTgt spid="50"/>
                                        </p:tgtEl>
                                        <p:attrNameLst>
                                          <p:attrName>ppt_x</p:attrName>
                                        </p:attrNameLst>
                                      </p:cBhvr>
                                      <p:tavLst>
                                        <p:tav tm="0">
                                          <p:val>
                                            <p:strVal val="#ppt_x"/>
                                          </p:val>
                                        </p:tav>
                                        <p:tav tm="100000">
                                          <p:val>
                                            <p:strVal val="#ppt_x"/>
                                          </p:val>
                                        </p:tav>
                                      </p:tavLst>
                                    </p:anim>
                                    <p:anim calcmode="lin" valueType="num">
                                      <p:cBhvr additive="base">
                                        <p:cTn id="104" dur="500" fill="hold"/>
                                        <p:tgtEl>
                                          <p:spTgt spid="50"/>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51"/>
                                        </p:tgtEl>
                                        <p:attrNameLst>
                                          <p:attrName>style.visibility</p:attrName>
                                        </p:attrNameLst>
                                      </p:cBhvr>
                                      <p:to>
                                        <p:strVal val="visible"/>
                                      </p:to>
                                    </p:set>
                                    <p:anim calcmode="lin" valueType="num">
                                      <p:cBhvr additive="base">
                                        <p:cTn id="107" dur="500" fill="hold"/>
                                        <p:tgtEl>
                                          <p:spTgt spid="51"/>
                                        </p:tgtEl>
                                        <p:attrNameLst>
                                          <p:attrName>ppt_x</p:attrName>
                                        </p:attrNameLst>
                                      </p:cBhvr>
                                      <p:tavLst>
                                        <p:tav tm="0">
                                          <p:val>
                                            <p:strVal val="#ppt_x"/>
                                          </p:val>
                                        </p:tav>
                                        <p:tav tm="100000">
                                          <p:val>
                                            <p:strVal val="#ppt_x"/>
                                          </p:val>
                                        </p:tav>
                                      </p:tavLst>
                                    </p:anim>
                                    <p:anim calcmode="lin" valueType="num">
                                      <p:cBhvr additive="base">
                                        <p:cTn id="108" dur="500" fill="hold"/>
                                        <p:tgtEl>
                                          <p:spTgt spid="51"/>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52"/>
                                        </p:tgtEl>
                                        <p:attrNameLst>
                                          <p:attrName>style.visibility</p:attrName>
                                        </p:attrNameLst>
                                      </p:cBhvr>
                                      <p:to>
                                        <p:strVal val="visible"/>
                                      </p:to>
                                    </p:set>
                                    <p:anim calcmode="lin" valueType="num">
                                      <p:cBhvr additive="base">
                                        <p:cTn id="111" dur="500" fill="hold"/>
                                        <p:tgtEl>
                                          <p:spTgt spid="52"/>
                                        </p:tgtEl>
                                        <p:attrNameLst>
                                          <p:attrName>ppt_x</p:attrName>
                                        </p:attrNameLst>
                                      </p:cBhvr>
                                      <p:tavLst>
                                        <p:tav tm="0">
                                          <p:val>
                                            <p:strVal val="#ppt_x"/>
                                          </p:val>
                                        </p:tav>
                                        <p:tav tm="100000">
                                          <p:val>
                                            <p:strVal val="#ppt_x"/>
                                          </p:val>
                                        </p:tav>
                                      </p:tavLst>
                                    </p:anim>
                                    <p:anim calcmode="lin" valueType="num">
                                      <p:cBhvr additive="base">
                                        <p:cTn id="112"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7" grpId="0" animBg="1"/>
      <p:bldP spid="8" grpId="0" animBg="1"/>
      <p:bldP spid="30" grpId="0" animBg="1"/>
      <p:bldP spid="32" grpId="0" animBg="1"/>
      <p:bldP spid="33" grpId="0"/>
      <p:bldP spid="35" grpId="0" animBg="1"/>
      <p:bldP spid="36" grpId="0" animBg="1"/>
      <p:bldP spid="37" grpId="0"/>
      <p:bldP spid="39" grpId="0" animBg="1"/>
      <p:bldP spid="40" grpId="0" animBg="1"/>
      <p:bldP spid="41" grpId="0"/>
      <p:bldP spid="56" grpId="0" animBg="1"/>
      <p:bldP spid="57" grpId="0" animBg="1"/>
      <p:bldP spid="58" grpId="0"/>
      <p:bldP spid="53" grpId="0" animBg="1"/>
      <p:bldP spid="54" grpId="0" animBg="1"/>
      <p:bldP spid="55" grpId="0"/>
      <p:bldP spid="50" grpId="0" animBg="1"/>
      <p:bldP spid="51" grpId="0" animBg="1"/>
      <p:bldP spid="52" grpId="0"/>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3" name="Picture 22"/>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Effect>
                      <a14:brightnessContrast bright="-20000"/>
                    </a14:imgEffect>
                  </a14:imgLayer>
                </a14:imgProps>
              </a:ext>
              <a:ext uri="{28A0092B-C50C-407E-A947-70E740481C1C}">
                <a14:useLocalDpi xmlns:a14="http://schemas.microsoft.com/office/drawing/2010/main" val="0"/>
              </a:ext>
            </a:extLst>
          </a:blip>
          <a:srcRect t="16416"/>
          <a:stretch/>
        </p:blipFill>
        <p:spPr>
          <a:xfrm>
            <a:off x="0" y="81652"/>
            <a:ext cx="12192000" cy="5441718"/>
          </a:xfrm>
          <a:prstGeom prst="rect">
            <a:avLst/>
          </a:prstGeom>
          <a:blipFill>
            <a:blip r:embed="rId4"/>
            <a:stretch>
              <a:fillRect/>
            </a:stretch>
          </a:blipFill>
        </p:spPr>
      </p:pic>
      <p:sp>
        <p:nvSpPr>
          <p:cNvPr id="4" name="Rectangle 3"/>
          <p:cNvSpPr/>
          <p:nvPr/>
        </p:nvSpPr>
        <p:spPr>
          <a:xfrm>
            <a:off x="0" y="3644976"/>
            <a:ext cx="12192000" cy="3086024"/>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B1C45F8-40C5-657A-8F6A-87E23F35D73B}"/>
              </a:ext>
            </a:extLst>
          </p:cNvPr>
          <p:cNvSpPr txBox="1"/>
          <p:nvPr/>
        </p:nvSpPr>
        <p:spPr>
          <a:xfrm>
            <a:off x="3040295" y="380342"/>
            <a:ext cx="5889522" cy="1128514"/>
          </a:xfrm>
          <a:prstGeom prst="rect">
            <a:avLst/>
          </a:prstGeom>
          <a:noFill/>
        </p:spPr>
        <p:txBody>
          <a:bodyPr wrap="square" rtlCol="0">
            <a:spAutoFit/>
          </a:bodyPr>
          <a:lstStyle/>
          <a:p>
            <a:pPr algn="ctr">
              <a:lnSpc>
                <a:spcPts val="4000"/>
              </a:lnSpc>
            </a:pP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QSR Franchise</a:t>
            </a:r>
          </a:p>
          <a:p>
            <a:pPr algn="ctr">
              <a:lnSpc>
                <a:spcPts val="4000"/>
              </a:lnSpc>
            </a:pP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YEILD</a:t>
            </a:r>
          </a:p>
        </p:txBody>
      </p:sp>
      <p:grpSp>
        <p:nvGrpSpPr>
          <p:cNvPr id="24" name="Group 23"/>
          <p:cNvGrpSpPr/>
          <p:nvPr/>
        </p:nvGrpSpPr>
        <p:grpSpPr>
          <a:xfrm>
            <a:off x="367307" y="2050197"/>
            <a:ext cx="2641392" cy="2592914"/>
            <a:chOff x="367307" y="2632075"/>
            <a:chExt cx="2641392" cy="2592914"/>
          </a:xfrm>
        </p:grpSpPr>
        <p:sp>
          <p:nvSpPr>
            <p:cNvPr id="17" name="Rounded Rectangle 16"/>
            <p:cNvSpPr/>
            <p:nvPr/>
          </p:nvSpPr>
          <p:spPr>
            <a:xfrm>
              <a:off x="367307" y="2632075"/>
              <a:ext cx="2641392" cy="259291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 name="TextBox 1"/>
            <p:cNvSpPr txBox="1"/>
            <p:nvPr/>
          </p:nvSpPr>
          <p:spPr>
            <a:xfrm>
              <a:off x="547478" y="2924659"/>
              <a:ext cx="2281049" cy="523220"/>
            </a:xfrm>
            <a:prstGeom prst="rect">
              <a:avLst/>
            </a:prstGeom>
            <a:noFill/>
          </p:spPr>
          <p:txBody>
            <a:bodyPr wrap="square" rtlCol="0">
              <a:spAutoFit/>
            </a:bodyPr>
            <a:lstStyle/>
            <a:p>
              <a:pPr algn="ctr"/>
              <a:r>
                <a:rPr lang="en-US" sz="2800" b="1" u="sng" dirty="0">
                  <a:solidFill>
                    <a:srgbClr val="F95050"/>
                  </a:solidFill>
                  <a:latin typeface="Bricolage Grotesque 14pt" panose="020B0605040402000204" pitchFamily="34" charset="0"/>
                </a:rPr>
                <a:t>Investment</a:t>
              </a:r>
            </a:p>
          </p:txBody>
        </p:sp>
        <p:sp>
          <p:nvSpPr>
            <p:cNvPr id="7" name="TextBox 6"/>
            <p:cNvSpPr txBox="1"/>
            <p:nvPr/>
          </p:nvSpPr>
          <p:spPr>
            <a:xfrm>
              <a:off x="728549" y="3642078"/>
              <a:ext cx="1918908" cy="584775"/>
            </a:xfrm>
            <a:prstGeom prst="rect">
              <a:avLst/>
            </a:prstGeom>
            <a:noFill/>
          </p:spPr>
          <p:txBody>
            <a:bodyPr wrap="square" rtlCol="0">
              <a:spAutoFit/>
            </a:bodyPr>
            <a:lstStyle/>
            <a:p>
              <a:pPr algn="ctr"/>
              <a:r>
                <a:rPr lang="en-US" sz="3200" dirty="0">
                  <a:latin typeface="Arial" panose="020B0604020202020204" pitchFamily="34" charset="0"/>
                  <a:cs typeface="Arial" panose="020B0604020202020204" pitchFamily="34" charset="0"/>
                </a:rPr>
                <a:t>₹</a:t>
              </a:r>
              <a:r>
                <a:rPr lang="en-US" sz="3200" b="1" dirty="0">
                  <a:latin typeface="Bricolage Grotesque 14pt" panose="020B0605040402000204" pitchFamily="34" charset="0"/>
                </a:rPr>
                <a:t>16 lac</a:t>
              </a:r>
            </a:p>
          </p:txBody>
        </p:sp>
      </p:grpSp>
      <p:grpSp>
        <p:nvGrpSpPr>
          <p:cNvPr id="25" name="Group 24"/>
          <p:cNvGrpSpPr/>
          <p:nvPr/>
        </p:nvGrpSpPr>
        <p:grpSpPr>
          <a:xfrm>
            <a:off x="3298220" y="2050197"/>
            <a:ext cx="2641392" cy="2592914"/>
            <a:chOff x="3298220" y="2632075"/>
            <a:chExt cx="2641392" cy="2592914"/>
          </a:xfrm>
        </p:grpSpPr>
        <p:sp>
          <p:nvSpPr>
            <p:cNvPr id="10" name="Rounded Rectangle 9"/>
            <p:cNvSpPr/>
            <p:nvPr/>
          </p:nvSpPr>
          <p:spPr>
            <a:xfrm>
              <a:off x="3298220" y="2632075"/>
              <a:ext cx="2641392" cy="259291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1" name="TextBox 10"/>
            <p:cNvSpPr txBox="1"/>
            <p:nvPr/>
          </p:nvSpPr>
          <p:spPr>
            <a:xfrm>
              <a:off x="3665360" y="3663653"/>
              <a:ext cx="1918908" cy="1015663"/>
            </a:xfrm>
            <a:prstGeom prst="rect">
              <a:avLst/>
            </a:prstGeom>
            <a:noFill/>
          </p:spPr>
          <p:txBody>
            <a:bodyPr wrap="square" rtlCol="0">
              <a:spAutoFit/>
            </a:bodyPr>
            <a:lstStyle/>
            <a:p>
              <a:pPr algn="ctr"/>
              <a:r>
                <a:rPr lang="en-US" sz="3600" b="1" dirty="0">
                  <a:latin typeface="Bricolage Grotesque 14pt" panose="020B0605040402000204" pitchFamily="34" charset="0"/>
                </a:rPr>
                <a:t>12 to 15</a:t>
              </a:r>
            </a:p>
            <a:p>
              <a:pPr algn="ctr"/>
              <a:r>
                <a:rPr lang="en-US" sz="2400" b="1" dirty="0">
                  <a:latin typeface="Bricolage Grotesque 14pt" panose="020B0605040402000204" pitchFamily="34" charset="0"/>
                </a:rPr>
                <a:t>Months*</a:t>
              </a:r>
            </a:p>
          </p:txBody>
        </p:sp>
        <p:sp>
          <p:nvSpPr>
            <p:cNvPr id="12" name="TextBox 11"/>
            <p:cNvSpPr txBox="1"/>
            <p:nvPr/>
          </p:nvSpPr>
          <p:spPr>
            <a:xfrm>
              <a:off x="4213021" y="2924659"/>
              <a:ext cx="811789" cy="523220"/>
            </a:xfrm>
            <a:prstGeom prst="rect">
              <a:avLst/>
            </a:prstGeom>
            <a:noFill/>
          </p:spPr>
          <p:txBody>
            <a:bodyPr wrap="square" rtlCol="0">
              <a:spAutoFit/>
            </a:bodyPr>
            <a:lstStyle/>
            <a:p>
              <a:pPr algn="ctr"/>
              <a:r>
                <a:rPr lang="en-US" sz="2800" b="1" u="sng" dirty="0">
                  <a:solidFill>
                    <a:srgbClr val="F95050"/>
                  </a:solidFill>
                  <a:latin typeface="Bricolage Grotesque 14pt" panose="020B0605040402000204" pitchFamily="34" charset="0"/>
                </a:rPr>
                <a:t>ROI</a:t>
              </a:r>
            </a:p>
          </p:txBody>
        </p:sp>
      </p:grpSp>
      <p:grpSp>
        <p:nvGrpSpPr>
          <p:cNvPr id="26" name="Group 25"/>
          <p:cNvGrpSpPr/>
          <p:nvPr/>
        </p:nvGrpSpPr>
        <p:grpSpPr>
          <a:xfrm>
            <a:off x="6217614" y="2050197"/>
            <a:ext cx="2652911" cy="2592914"/>
            <a:chOff x="6217614" y="2632075"/>
            <a:chExt cx="2652911" cy="2592914"/>
          </a:xfrm>
        </p:grpSpPr>
        <p:sp>
          <p:nvSpPr>
            <p:cNvPr id="14" name="Rounded Rectangle 13"/>
            <p:cNvSpPr/>
            <p:nvPr/>
          </p:nvSpPr>
          <p:spPr>
            <a:xfrm>
              <a:off x="6229133" y="2632075"/>
              <a:ext cx="2641392" cy="259291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6" name="TextBox 15"/>
            <p:cNvSpPr txBox="1"/>
            <p:nvPr/>
          </p:nvSpPr>
          <p:spPr>
            <a:xfrm>
              <a:off x="6472863" y="2924659"/>
              <a:ext cx="2153931" cy="523220"/>
            </a:xfrm>
            <a:prstGeom prst="rect">
              <a:avLst/>
            </a:prstGeom>
            <a:noFill/>
          </p:spPr>
          <p:txBody>
            <a:bodyPr wrap="square" rtlCol="0">
              <a:spAutoFit/>
            </a:bodyPr>
            <a:lstStyle/>
            <a:p>
              <a:pPr algn="ctr"/>
              <a:r>
                <a:rPr lang="en-US" sz="2800" b="1" u="sng" dirty="0">
                  <a:solidFill>
                    <a:srgbClr val="F95050"/>
                  </a:solidFill>
                  <a:latin typeface="Bricolage Grotesque 14pt" panose="020B0605040402000204" pitchFamily="34" charset="0"/>
                </a:rPr>
                <a:t>Breakeven</a:t>
              </a:r>
            </a:p>
          </p:txBody>
        </p:sp>
        <p:grpSp>
          <p:nvGrpSpPr>
            <p:cNvPr id="3" name="Group 2"/>
            <p:cNvGrpSpPr/>
            <p:nvPr/>
          </p:nvGrpSpPr>
          <p:grpSpPr>
            <a:xfrm>
              <a:off x="6217614" y="3608232"/>
              <a:ext cx="2580358" cy="1210669"/>
              <a:chOff x="6217614" y="3524848"/>
              <a:chExt cx="2580358" cy="1210669"/>
            </a:xfrm>
          </p:grpSpPr>
          <p:sp>
            <p:nvSpPr>
              <p:cNvPr id="15" name="TextBox 14"/>
              <p:cNvSpPr txBox="1"/>
              <p:nvPr/>
            </p:nvSpPr>
            <p:spPr>
              <a:xfrm>
                <a:off x="6590375" y="3524848"/>
                <a:ext cx="1918908" cy="584775"/>
              </a:xfrm>
              <a:prstGeom prst="rect">
                <a:avLst/>
              </a:prstGeom>
              <a:noFill/>
            </p:spPr>
            <p:txBody>
              <a:bodyPr wrap="square" rtlCol="0">
                <a:spAutoFit/>
              </a:bodyPr>
              <a:lstStyle/>
              <a:p>
                <a:pPr algn="ctr"/>
                <a:r>
                  <a:rPr lang="en-US" sz="3200" b="1" dirty="0">
                    <a:latin typeface="Bricolage Grotesque 14pt" panose="020B0605040402000204" pitchFamily="34" charset="0"/>
                  </a:rPr>
                  <a:t>After</a:t>
                </a:r>
              </a:p>
            </p:txBody>
          </p:sp>
          <p:sp>
            <p:nvSpPr>
              <p:cNvPr id="18" name="TextBox 17"/>
              <p:cNvSpPr txBox="1"/>
              <p:nvPr/>
            </p:nvSpPr>
            <p:spPr>
              <a:xfrm>
                <a:off x="6217614" y="4366185"/>
                <a:ext cx="2580358" cy="369332"/>
              </a:xfrm>
              <a:prstGeom prst="rect">
                <a:avLst/>
              </a:prstGeom>
              <a:noFill/>
            </p:spPr>
            <p:txBody>
              <a:bodyPr wrap="square" rtlCol="0">
                <a:spAutoFit/>
              </a:bodyPr>
              <a:lstStyle/>
              <a:p>
                <a:pPr algn="ctr"/>
                <a:r>
                  <a:rPr lang="en-US" dirty="0">
                    <a:latin typeface="Bricolage Grotesque 14pt" panose="020B0605040402000204" pitchFamily="34" charset="0"/>
                  </a:rPr>
                  <a:t>Of opening an outlet*</a:t>
                </a:r>
              </a:p>
            </p:txBody>
          </p:sp>
          <p:sp>
            <p:nvSpPr>
              <p:cNvPr id="19" name="TextBox 18"/>
              <p:cNvSpPr txBox="1"/>
              <p:nvPr/>
            </p:nvSpPr>
            <p:spPr>
              <a:xfrm>
                <a:off x="6590375" y="3899497"/>
                <a:ext cx="1918908" cy="584775"/>
              </a:xfrm>
              <a:prstGeom prst="rect">
                <a:avLst/>
              </a:prstGeom>
              <a:noFill/>
            </p:spPr>
            <p:txBody>
              <a:bodyPr wrap="square" rtlCol="0">
                <a:spAutoFit/>
              </a:bodyPr>
              <a:lstStyle/>
              <a:p>
                <a:pPr algn="ctr"/>
                <a:r>
                  <a:rPr lang="en-US" sz="3200" b="1" dirty="0">
                    <a:latin typeface="Bricolage Grotesque 14pt" panose="020B0605040402000204" pitchFamily="34" charset="0"/>
                  </a:rPr>
                  <a:t>6 Month</a:t>
                </a:r>
              </a:p>
            </p:txBody>
          </p:sp>
        </p:grpSp>
      </p:grpSp>
      <p:grpSp>
        <p:nvGrpSpPr>
          <p:cNvPr id="27" name="Group 26"/>
          <p:cNvGrpSpPr/>
          <p:nvPr/>
        </p:nvGrpSpPr>
        <p:grpSpPr>
          <a:xfrm>
            <a:off x="9157503" y="2050197"/>
            <a:ext cx="2641392" cy="2592914"/>
            <a:chOff x="9157503" y="2632075"/>
            <a:chExt cx="2641392" cy="2592914"/>
          </a:xfrm>
        </p:grpSpPr>
        <p:sp>
          <p:nvSpPr>
            <p:cNvPr id="20" name="Rounded Rectangle 19"/>
            <p:cNvSpPr/>
            <p:nvPr/>
          </p:nvSpPr>
          <p:spPr>
            <a:xfrm>
              <a:off x="9157503" y="2632075"/>
              <a:ext cx="2641392" cy="259291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1" name="TextBox 20"/>
            <p:cNvSpPr txBox="1"/>
            <p:nvPr/>
          </p:nvSpPr>
          <p:spPr>
            <a:xfrm>
              <a:off x="9518744" y="3632875"/>
              <a:ext cx="1918907" cy="584775"/>
            </a:xfrm>
            <a:prstGeom prst="rect">
              <a:avLst/>
            </a:prstGeom>
            <a:noFill/>
          </p:spPr>
          <p:txBody>
            <a:bodyPr wrap="square" rtlCol="0">
              <a:spAutoFit/>
            </a:bodyPr>
            <a:lstStyle/>
            <a:p>
              <a:pPr algn="ctr"/>
              <a:r>
                <a:rPr lang="en-US" sz="3200" b="1" dirty="0">
                  <a:latin typeface="Bricolage Grotesque 14pt" panose="020B0605040402000204" pitchFamily="34" charset="0"/>
                </a:rPr>
                <a:t>35%</a:t>
              </a:r>
            </a:p>
          </p:txBody>
        </p:sp>
        <p:sp>
          <p:nvSpPr>
            <p:cNvPr id="22" name="TextBox 21"/>
            <p:cNvSpPr txBox="1"/>
            <p:nvPr/>
          </p:nvSpPr>
          <p:spPr>
            <a:xfrm>
              <a:off x="9406290" y="2924659"/>
              <a:ext cx="2111957" cy="523220"/>
            </a:xfrm>
            <a:prstGeom prst="rect">
              <a:avLst/>
            </a:prstGeom>
            <a:noFill/>
          </p:spPr>
          <p:txBody>
            <a:bodyPr wrap="square" rtlCol="0">
              <a:spAutoFit/>
            </a:bodyPr>
            <a:lstStyle/>
            <a:p>
              <a:pPr algn="ctr"/>
              <a:r>
                <a:rPr lang="en-US" sz="2800" b="1" u="sng" dirty="0">
                  <a:solidFill>
                    <a:srgbClr val="F95050"/>
                  </a:solidFill>
                  <a:latin typeface="Bricolage Grotesque 14pt" panose="020B0605040402000204" pitchFamily="34" charset="0"/>
                </a:rPr>
                <a:t>Gross Profit</a:t>
              </a:r>
            </a:p>
          </p:txBody>
        </p:sp>
      </p:grpSp>
      <p:sp>
        <p:nvSpPr>
          <p:cNvPr id="31" name="TextBox 30">
            <a:extLst>
              <a:ext uri="{FF2B5EF4-FFF2-40B4-BE49-F238E27FC236}">
                <a16:creationId xmlns:a16="http://schemas.microsoft.com/office/drawing/2014/main" id="{4B1C45F8-40C5-657A-8F6A-87E23F35D73B}"/>
              </a:ext>
            </a:extLst>
          </p:cNvPr>
          <p:cNvSpPr txBox="1"/>
          <p:nvPr/>
        </p:nvSpPr>
        <p:spPr>
          <a:xfrm rot="16200000">
            <a:off x="11157922" y="2771765"/>
            <a:ext cx="1643192" cy="200055"/>
          </a:xfrm>
          <a:prstGeom prst="rect">
            <a:avLst/>
          </a:prstGeom>
          <a:noFill/>
        </p:spPr>
        <p:txBody>
          <a:bodyPr wrap="square" rtlCol="0">
            <a:spAutoFit/>
          </a:bodyPr>
          <a:lstStyle/>
          <a:p>
            <a:pPr algn="ctr"/>
            <a:r>
              <a:rPr lang="en-US" sz="700" dirty="0">
                <a:solidFill>
                  <a:schemeClr val="bg1"/>
                </a:solidFill>
                <a:latin typeface="Bricolage Grotesque 14pt" panose="020B0605040402000204" pitchFamily="34" charset="0"/>
                <a:ea typeface="Roboto" panose="02000000000000000000" pitchFamily="2" charset="0"/>
                <a:cs typeface="Heebo" pitchFamily="2" charset="-79"/>
              </a:rPr>
              <a:t>*T&amp;C Applied, Actuals may vary</a:t>
            </a:r>
          </a:p>
        </p:txBody>
      </p:sp>
      <p:sp>
        <p:nvSpPr>
          <p:cNvPr id="33" name="Rounded Rectangle 32"/>
          <p:cNvSpPr/>
          <p:nvPr/>
        </p:nvSpPr>
        <p:spPr>
          <a:xfrm>
            <a:off x="367307" y="5219897"/>
            <a:ext cx="11431588" cy="115778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29" name="TextBox 28">
            <a:extLst>
              <a:ext uri="{FF2B5EF4-FFF2-40B4-BE49-F238E27FC236}">
                <a16:creationId xmlns:a16="http://schemas.microsoft.com/office/drawing/2014/main" id="{4B1C45F8-40C5-657A-8F6A-87E23F35D73B}"/>
              </a:ext>
            </a:extLst>
          </p:cNvPr>
          <p:cNvSpPr txBox="1"/>
          <p:nvPr/>
        </p:nvSpPr>
        <p:spPr>
          <a:xfrm>
            <a:off x="995504" y="5344315"/>
            <a:ext cx="4276712" cy="523220"/>
          </a:xfrm>
          <a:prstGeom prst="rect">
            <a:avLst/>
          </a:prstGeom>
          <a:noFill/>
        </p:spPr>
        <p:txBody>
          <a:bodyPr wrap="square" rtlCol="0">
            <a:spAutoFit/>
          </a:bodyPr>
          <a:lstStyle/>
          <a:p>
            <a:pPr algn="ctr"/>
            <a:r>
              <a:rPr lang="en-US" sz="2800" b="1" dirty="0">
                <a:solidFill>
                  <a:srgbClr val="F95050"/>
                </a:solidFill>
                <a:latin typeface="Bricolage Grotesque 14pt" panose="020B0605040402000204" pitchFamily="34" charset="0"/>
                <a:ea typeface="Roboto" panose="02000000000000000000" pitchFamily="2" charset="0"/>
                <a:cs typeface="Heebo" pitchFamily="2" charset="-79"/>
              </a:rPr>
              <a:t>UPOS – The Digital Mall </a:t>
            </a:r>
          </a:p>
        </p:txBody>
      </p:sp>
      <p:sp>
        <p:nvSpPr>
          <p:cNvPr id="30" name="TextBox 29">
            <a:extLst>
              <a:ext uri="{FF2B5EF4-FFF2-40B4-BE49-F238E27FC236}">
                <a16:creationId xmlns:a16="http://schemas.microsoft.com/office/drawing/2014/main" id="{4B1C45F8-40C5-657A-8F6A-87E23F35D73B}"/>
              </a:ext>
            </a:extLst>
          </p:cNvPr>
          <p:cNvSpPr txBox="1"/>
          <p:nvPr/>
        </p:nvSpPr>
        <p:spPr>
          <a:xfrm>
            <a:off x="1242910" y="5890853"/>
            <a:ext cx="3781900" cy="307777"/>
          </a:xfrm>
          <a:prstGeom prst="rect">
            <a:avLst/>
          </a:prstGeom>
          <a:noFill/>
        </p:spPr>
        <p:txBody>
          <a:bodyPr wrap="square" rtlCol="0">
            <a:spAutoFit/>
          </a:bodyPr>
          <a:lstStyle/>
          <a:p>
            <a:pPr algn="ctr"/>
            <a:r>
              <a:rPr lang="en-US" sz="1400" b="1" dirty="0">
                <a:solidFill>
                  <a:schemeClr val="tx1">
                    <a:lumMod val="85000"/>
                    <a:lumOff val="15000"/>
                  </a:schemeClr>
                </a:solidFill>
                <a:latin typeface="Bricolage Grotesque 14pt" panose="020B0605040402000204" pitchFamily="34" charset="0"/>
                <a:ea typeface="Roboto" panose="02000000000000000000" pitchFamily="2" charset="0"/>
                <a:cs typeface="Heebo" pitchFamily="2" charset="-79"/>
              </a:rPr>
              <a:t>With 20 </a:t>
            </a:r>
            <a:r>
              <a:rPr lang="en-US" sz="1400" b="1" dirty="0" err="1">
                <a:solidFill>
                  <a:schemeClr val="tx1">
                    <a:lumMod val="85000"/>
                    <a:lumOff val="15000"/>
                  </a:schemeClr>
                </a:solidFill>
                <a:latin typeface="Bricolage Grotesque 14pt" panose="020B0605040402000204" pitchFamily="34" charset="0"/>
                <a:ea typeface="Roboto" panose="02000000000000000000" pitchFamily="2" charset="0"/>
                <a:cs typeface="Heebo" pitchFamily="2" charset="-79"/>
              </a:rPr>
              <a:t>Crores</a:t>
            </a:r>
            <a:r>
              <a:rPr lang="en-US" sz="1400" b="1" dirty="0">
                <a:solidFill>
                  <a:schemeClr val="tx1">
                    <a:lumMod val="85000"/>
                    <a:lumOff val="15000"/>
                  </a:schemeClr>
                </a:solidFill>
                <a:latin typeface="Bricolage Grotesque 14pt" panose="020B0605040402000204" pitchFamily="34" charset="0"/>
                <a:ea typeface="Roboto" panose="02000000000000000000" pitchFamily="2" charset="0"/>
                <a:cs typeface="Heebo" pitchFamily="2" charset="-79"/>
              </a:rPr>
              <a:t> + Products &amp; Services</a:t>
            </a:r>
          </a:p>
        </p:txBody>
      </p:sp>
      <p:sp>
        <p:nvSpPr>
          <p:cNvPr id="38" name="TextBox 37">
            <a:extLst>
              <a:ext uri="{FF2B5EF4-FFF2-40B4-BE49-F238E27FC236}">
                <a16:creationId xmlns:a16="http://schemas.microsoft.com/office/drawing/2014/main" id="{4B1C45F8-40C5-657A-8F6A-87E23F35D73B}"/>
              </a:ext>
            </a:extLst>
          </p:cNvPr>
          <p:cNvSpPr txBox="1"/>
          <p:nvPr/>
        </p:nvSpPr>
        <p:spPr>
          <a:xfrm>
            <a:off x="7183395" y="5339785"/>
            <a:ext cx="3684736" cy="523220"/>
          </a:xfrm>
          <a:prstGeom prst="rect">
            <a:avLst/>
          </a:prstGeom>
          <a:noFill/>
        </p:spPr>
        <p:txBody>
          <a:bodyPr wrap="square" rtlCol="0">
            <a:spAutoFit/>
          </a:bodyPr>
          <a:lstStyle/>
          <a:p>
            <a:pPr algn="ctr"/>
            <a:r>
              <a:rPr lang="en-US" sz="2800" b="1" dirty="0">
                <a:solidFill>
                  <a:srgbClr val="F95050"/>
                </a:solidFill>
                <a:latin typeface="Bricolage Grotesque 14pt" panose="020B0605040402000204" pitchFamily="34" charset="0"/>
                <a:ea typeface="Roboto" panose="02000000000000000000" pitchFamily="2" charset="0"/>
                <a:cs typeface="Heebo" pitchFamily="2" charset="-79"/>
              </a:rPr>
              <a:t>Tapri Ki Tafri (chai)</a:t>
            </a:r>
          </a:p>
        </p:txBody>
      </p:sp>
      <p:sp>
        <p:nvSpPr>
          <p:cNvPr id="39" name="TextBox 38">
            <a:extLst>
              <a:ext uri="{FF2B5EF4-FFF2-40B4-BE49-F238E27FC236}">
                <a16:creationId xmlns:a16="http://schemas.microsoft.com/office/drawing/2014/main" id="{4B1C45F8-40C5-657A-8F6A-87E23F35D73B}"/>
              </a:ext>
            </a:extLst>
          </p:cNvPr>
          <p:cNvSpPr txBox="1"/>
          <p:nvPr/>
        </p:nvSpPr>
        <p:spPr>
          <a:xfrm>
            <a:off x="7183395" y="5783131"/>
            <a:ext cx="3684736" cy="523220"/>
          </a:xfrm>
          <a:prstGeom prst="rect">
            <a:avLst/>
          </a:prstGeom>
          <a:noFill/>
        </p:spPr>
        <p:txBody>
          <a:bodyPr wrap="square" rtlCol="0">
            <a:spAutoFit/>
          </a:bodyPr>
          <a:lstStyle/>
          <a:p>
            <a:pPr algn="ctr"/>
            <a:r>
              <a:rPr lang="en-US" sz="1400" b="1" dirty="0">
                <a:solidFill>
                  <a:schemeClr val="tx1">
                    <a:lumMod val="85000"/>
                    <a:lumOff val="15000"/>
                  </a:schemeClr>
                </a:solidFill>
                <a:latin typeface="Bricolage Grotesque 14pt" panose="020B0605040402000204" pitchFamily="34" charset="0"/>
                <a:ea typeface="Roboto" panose="02000000000000000000" pitchFamily="2" charset="0"/>
                <a:cs typeface="Heebo" pitchFamily="2" charset="-79"/>
              </a:rPr>
              <a:t>with all QSR Franchise Complimentary</a:t>
            </a:r>
          </a:p>
          <a:p>
            <a:pPr algn="ctr"/>
            <a:r>
              <a:rPr lang="en-US" sz="1400" b="1" dirty="0">
                <a:solidFill>
                  <a:schemeClr val="tx1">
                    <a:lumMod val="85000"/>
                    <a:lumOff val="15000"/>
                  </a:schemeClr>
                </a:solidFill>
                <a:latin typeface="Bricolage Grotesque 14pt" panose="020B0605040402000204" pitchFamily="34" charset="0"/>
                <a:ea typeface="Roboto" panose="02000000000000000000" pitchFamily="2" charset="0"/>
                <a:cs typeface="Heebo" pitchFamily="2" charset="-79"/>
              </a:rPr>
              <a:t>at </a:t>
            </a:r>
            <a:r>
              <a:rPr lang="en-US" sz="1400" b="1" dirty="0">
                <a:solidFill>
                  <a:srgbClr val="16DB65"/>
                </a:solidFill>
                <a:latin typeface="Bricolage Grotesque 14pt" panose="020B0605040402000204" pitchFamily="34" charset="0"/>
                <a:ea typeface="Roboto" panose="02000000000000000000" pitchFamily="2" charset="0"/>
                <a:cs typeface="Heebo" pitchFamily="2" charset="-79"/>
              </a:rPr>
              <a:t>just 1 Lakh Extra</a:t>
            </a:r>
            <a:r>
              <a:rPr lang="en-US" sz="1400" b="1" dirty="0">
                <a:solidFill>
                  <a:schemeClr val="tx1">
                    <a:lumMod val="85000"/>
                    <a:lumOff val="15000"/>
                  </a:schemeClr>
                </a:solidFill>
                <a:latin typeface="Bricolage Grotesque 14pt" panose="020B0605040402000204" pitchFamily="34" charset="0"/>
                <a:ea typeface="Roboto" panose="02000000000000000000" pitchFamily="2" charset="0"/>
                <a:cs typeface="Heebo" pitchFamily="2" charset="-79"/>
              </a:rPr>
              <a:t> (optional)</a:t>
            </a:r>
          </a:p>
        </p:txBody>
      </p:sp>
      <p:cxnSp>
        <p:nvCxnSpPr>
          <p:cNvPr id="42" name="Straight Connector 41"/>
          <p:cNvCxnSpPr>
            <a:endCxn id="33" idx="2"/>
          </p:cNvCxnSpPr>
          <p:nvPr/>
        </p:nvCxnSpPr>
        <p:spPr>
          <a:xfrm flipH="1">
            <a:off x="6083101" y="5219897"/>
            <a:ext cx="12899" cy="1157781"/>
          </a:xfrm>
          <a:prstGeom prst="line">
            <a:avLst/>
          </a:prstGeom>
          <a:ln w="28575">
            <a:solidFill>
              <a:srgbClr val="F95050"/>
            </a:solidFill>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5832389" y="4975194"/>
            <a:ext cx="527222" cy="527222"/>
          </a:xfrm>
          <a:prstGeom prst="ellipse">
            <a:avLst/>
          </a:prstGeom>
          <a:solidFill>
            <a:srgbClr val="F9505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4B1C45F8-40C5-657A-8F6A-87E23F35D73B}"/>
              </a:ext>
            </a:extLst>
          </p:cNvPr>
          <p:cNvSpPr txBox="1"/>
          <p:nvPr/>
        </p:nvSpPr>
        <p:spPr>
          <a:xfrm>
            <a:off x="5885080" y="4775425"/>
            <a:ext cx="421840" cy="923330"/>
          </a:xfrm>
          <a:prstGeom prst="rect">
            <a:avLst/>
          </a:prstGeom>
          <a:noFill/>
        </p:spPr>
        <p:txBody>
          <a:bodyPr wrap="square" rtlCol="0">
            <a:spAutoFit/>
          </a:bodyPr>
          <a:lstStyle/>
          <a:p>
            <a:pPr algn="ctr"/>
            <a:r>
              <a:rPr lang="en-US" sz="5400" b="1" dirty="0">
                <a:solidFill>
                  <a:schemeClr val="bg1"/>
                </a:solidFill>
                <a:latin typeface="Bricolage Grotesque 14pt" panose="020B0605040402000204" pitchFamily="34" charset="0"/>
                <a:ea typeface="Roboto" panose="02000000000000000000" pitchFamily="2" charset="0"/>
                <a:cs typeface="Heebo" pitchFamily="2" charset="-79"/>
              </a:rPr>
              <a:t>+</a:t>
            </a:r>
          </a:p>
        </p:txBody>
      </p:sp>
      <p:sp>
        <p:nvSpPr>
          <p:cNvPr id="35" name="TextBox 34"/>
          <p:cNvSpPr txBox="1"/>
          <p:nvPr/>
        </p:nvSpPr>
        <p:spPr>
          <a:xfrm>
            <a:off x="535503" y="3611129"/>
            <a:ext cx="2394498" cy="738664"/>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a:t>
            </a:r>
            <a:r>
              <a:rPr lang="en-US" sz="1400" b="1" dirty="0">
                <a:latin typeface="Bricolage Grotesque 14pt" panose="020B0605040402000204" pitchFamily="34" charset="0"/>
              </a:rPr>
              <a:t>6 lac (Franchise Fees)</a:t>
            </a:r>
          </a:p>
          <a:p>
            <a:pPr algn="ctr"/>
            <a:r>
              <a:rPr lang="en-US" sz="1400" b="1" dirty="0">
                <a:latin typeface="Bricolage Grotesque 14pt" panose="020B0605040402000204" pitchFamily="34" charset="0"/>
              </a:rPr>
              <a:t>+ </a:t>
            </a:r>
            <a:r>
              <a:rPr lang="en-US" sz="1400" dirty="0">
                <a:latin typeface="Arial" panose="020B0604020202020204" pitchFamily="34" charset="0"/>
                <a:cs typeface="Arial" panose="020B0604020202020204" pitchFamily="34" charset="0"/>
              </a:rPr>
              <a:t>₹</a:t>
            </a:r>
            <a:r>
              <a:rPr lang="en-US" sz="1400" b="1" dirty="0">
                <a:latin typeface="Bricolage Grotesque 14pt" panose="020B0605040402000204" pitchFamily="34" charset="0"/>
              </a:rPr>
              <a:t>10 lac (10 Lac or actual whichever is higher)</a:t>
            </a:r>
          </a:p>
        </p:txBody>
      </p:sp>
    </p:spTree>
    <p:extLst>
      <p:ext uri="{BB962C8B-B14F-4D97-AF65-F5344CB8AC3E}">
        <p14:creationId xmlns:p14="http://schemas.microsoft.com/office/powerpoint/2010/main" val="2327436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 calcmode="lin" valueType="num">
                                      <p:cBhvr additive="base">
                                        <p:cTn id="17" dur="500" fill="hold"/>
                                        <p:tgtEl>
                                          <p:spTgt spid="35"/>
                                        </p:tgtEl>
                                        <p:attrNameLst>
                                          <p:attrName>ppt_x</p:attrName>
                                        </p:attrNameLst>
                                      </p:cBhvr>
                                      <p:tavLst>
                                        <p:tav tm="0">
                                          <p:val>
                                            <p:strVal val="#ppt_x"/>
                                          </p:val>
                                        </p:tav>
                                        <p:tav tm="100000">
                                          <p:val>
                                            <p:strVal val="#ppt_x"/>
                                          </p:val>
                                        </p:tav>
                                      </p:tavLst>
                                    </p:anim>
                                    <p:anim calcmode="lin" valueType="num">
                                      <p:cBhvr additive="base">
                                        <p:cTn id="1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fill="hold"/>
                                        <p:tgtEl>
                                          <p:spTgt spid="25"/>
                                        </p:tgtEl>
                                        <p:attrNameLst>
                                          <p:attrName>ppt_x</p:attrName>
                                        </p:attrNameLst>
                                      </p:cBhvr>
                                      <p:tavLst>
                                        <p:tav tm="0">
                                          <p:val>
                                            <p:strVal val="#ppt_x"/>
                                          </p:val>
                                        </p:tav>
                                        <p:tav tm="100000">
                                          <p:val>
                                            <p:strVal val="#ppt_x"/>
                                          </p:val>
                                        </p:tav>
                                      </p:tavLst>
                                    </p:anim>
                                    <p:anim calcmode="lin" valueType="num">
                                      <p:cBhvr additive="base">
                                        <p:cTn id="2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fill="hold"/>
                                        <p:tgtEl>
                                          <p:spTgt spid="26"/>
                                        </p:tgtEl>
                                        <p:attrNameLst>
                                          <p:attrName>ppt_x</p:attrName>
                                        </p:attrNameLst>
                                      </p:cBhvr>
                                      <p:tavLst>
                                        <p:tav tm="0">
                                          <p:val>
                                            <p:strVal val="#ppt_x"/>
                                          </p:val>
                                        </p:tav>
                                        <p:tav tm="100000">
                                          <p:val>
                                            <p:strVal val="#ppt_x"/>
                                          </p:val>
                                        </p:tav>
                                      </p:tavLst>
                                    </p:anim>
                                    <p:anim calcmode="lin" valueType="num">
                                      <p:cBhvr additive="base">
                                        <p:cTn id="3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 calcmode="lin" valueType="num">
                                      <p:cBhvr additive="base">
                                        <p:cTn id="35" dur="500" fill="hold"/>
                                        <p:tgtEl>
                                          <p:spTgt spid="27"/>
                                        </p:tgtEl>
                                        <p:attrNameLst>
                                          <p:attrName>ppt_x</p:attrName>
                                        </p:attrNameLst>
                                      </p:cBhvr>
                                      <p:tavLst>
                                        <p:tav tm="0">
                                          <p:val>
                                            <p:strVal val="#ppt_x"/>
                                          </p:val>
                                        </p:tav>
                                        <p:tav tm="100000">
                                          <p:val>
                                            <p:strVal val="#ppt_x"/>
                                          </p:val>
                                        </p:tav>
                                      </p:tavLst>
                                    </p:anim>
                                    <p:anim calcmode="lin" valueType="num">
                                      <p:cBhvr additive="base">
                                        <p:cTn id="3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additive="base">
                                        <p:cTn id="41" dur="500" fill="hold"/>
                                        <p:tgtEl>
                                          <p:spTgt spid="33"/>
                                        </p:tgtEl>
                                        <p:attrNameLst>
                                          <p:attrName>ppt_x</p:attrName>
                                        </p:attrNameLst>
                                      </p:cBhvr>
                                      <p:tavLst>
                                        <p:tav tm="0">
                                          <p:val>
                                            <p:strVal val="#ppt_x"/>
                                          </p:val>
                                        </p:tav>
                                        <p:tav tm="100000">
                                          <p:val>
                                            <p:strVal val="#ppt_x"/>
                                          </p:val>
                                        </p:tav>
                                      </p:tavLst>
                                    </p:anim>
                                    <p:anim calcmode="lin" valueType="num">
                                      <p:cBhvr additive="base">
                                        <p:cTn id="42" dur="500" fill="hold"/>
                                        <p:tgtEl>
                                          <p:spTgt spid="3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 calcmode="lin" valueType="num">
                                      <p:cBhvr additive="base">
                                        <p:cTn id="45" dur="500" fill="hold"/>
                                        <p:tgtEl>
                                          <p:spTgt spid="29"/>
                                        </p:tgtEl>
                                        <p:attrNameLst>
                                          <p:attrName>ppt_x</p:attrName>
                                        </p:attrNameLst>
                                      </p:cBhvr>
                                      <p:tavLst>
                                        <p:tav tm="0">
                                          <p:val>
                                            <p:strVal val="#ppt_x"/>
                                          </p:val>
                                        </p:tav>
                                        <p:tav tm="100000">
                                          <p:val>
                                            <p:strVal val="#ppt_x"/>
                                          </p:val>
                                        </p:tav>
                                      </p:tavLst>
                                    </p:anim>
                                    <p:anim calcmode="lin" valueType="num">
                                      <p:cBhvr additive="base">
                                        <p:cTn id="46" dur="500" fill="hold"/>
                                        <p:tgtEl>
                                          <p:spTgt spid="29"/>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 calcmode="lin" valueType="num">
                                      <p:cBhvr additive="base">
                                        <p:cTn id="49" dur="500" fill="hold"/>
                                        <p:tgtEl>
                                          <p:spTgt spid="30"/>
                                        </p:tgtEl>
                                        <p:attrNameLst>
                                          <p:attrName>ppt_x</p:attrName>
                                        </p:attrNameLst>
                                      </p:cBhvr>
                                      <p:tavLst>
                                        <p:tav tm="0">
                                          <p:val>
                                            <p:strVal val="#ppt_x"/>
                                          </p:val>
                                        </p:tav>
                                        <p:tav tm="100000">
                                          <p:val>
                                            <p:strVal val="#ppt_x"/>
                                          </p:val>
                                        </p:tav>
                                      </p:tavLst>
                                    </p:anim>
                                    <p:anim calcmode="lin" valueType="num">
                                      <p:cBhvr additive="base">
                                        <p:cTn id="50" dur="500" fill="hold"/>
                                        <p:tgtEl>
                                          <p:spTgt spid="30"/>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42"/>
                                        </p:tgtEl>
                                        <p:attrNameLst>
                                          <p:attrName>style.visibility</p:attrName>
                                        </p:attrNameLst>
                                      </p:cBhvr>
                                      <p:to>
                                        <p:strVal val="visible"/>
                                      </p:to>
                                    </p:set>
                                    <p:anim calcmode="lin" valueType="num">
                                      <p:cBhvr additive="base">
                                        <p:cTn id="53" dur="500" fill="hold"/>
                                        <p:tgtEl>
                                          <p:spTgt spid="42"/>
                                        </p:tgtEl>
                                        <p:attrNameLst>
                                          <p:attrName>ppt_x</p:attrName>
                                        </p:attrNameLst>
                                      </p:cBhvr>
                                      <p:tavLst>
                                        <p:tav tm="0">
                                          <p:val>
                                            <p:strVal val="#ppt_x"/>
                                          </p:val>
                                        </p:tav>
                                        <p:tav tm="100000">
                                          <p:val>
                                            <p:strVal val="#ppt_x"/>
                                          </p:val>
                                        </p:tav>
                                      </p:tavLst>
                                    </p:anim>
                                    <p:anim calcmode="lin" valueType="num">
                                      <p:cBhvr additive="base">
                                        <p:cTn id="54" dur="500" fill="hold"/>
                                        <p:tgtEl>
                                          <p:spTgt spid="42"/>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8">
                                            <p:txEl>
                                              <p:pRg st="0" end="0"/>
                                            </p:txEl>
                                          </p:spTgt>
                                        </p:tgtEl>
                                        <p:attrNameLst>
                                          <p:attrName>style.visibility</p:attrName>
                                        </p:attrNameLst>
                                      </p:cBhvr>
                                      <p:to>
                                        <p:strVal val="visible"/>
                                      </p:to>
                                    </p:set>
                                    <p:anim calcmode="lin" valueType="num">
                                      <p:cBhvr additive="base">
                                        <p:cTn id="57"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ppt_x"/>
                                          </p:val>
                                        </p:tav>
                                        <p:tav tm="100000">
                                          <p:val>
                                            <p:strVal val="#ppt_x"/>
                                          </p:val>
                                        </p:tav>
                                      </p:tavLst>
                                    </p:anim>
                                    <p:anim calcmode="lin" valueType="num">
                                      <p:cBhvr additive="base">
                                        <p:cTn id="62" dur="500" fill="hold"/>
                                        <p:tgtEl>
                                          <p:spTgt spid="28"/>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9"/>
                                        </p:tgtEl>
                                        <p:attrNameLst>
                                          <p:attrName>style.visibility</p:attrName>
                                        </p:attrNameLst>
                                      </p:cBhvr>
                                      <p:to>
                                        <p:strVal val="visible"/>
                                      </p:to>
                                    </p:set>
                                    <p:anim calcmode="lin" valueType="num">
                                      <p:cBhvr additive="base">
                                        <p:cTn id="65" dur="500" fill="hold"/>
                                        <p:tgtEl>
                                          <p:spTgt spid="9"/>
                                        </p:tgtEl>
                                        <p:attrNameLst>
                                          <p:attrName>ppt_x</p:attrName>
                                        </p:attrNameLst>
                                      </p:cBhvr>
                                      <p:tavLst>
                                        <p:tav tm="0">
                                          <p:val>
                                            <p:strVal val="#ppt_x"/>
                                          </p:val>
                                        </p:tav>
                                        <p:tav tm="100000">
                                          <p:val>
                                            <p:strVal val="#ppt_x"/>
                                          </p:val>
                                        </p:tav>
                                      </p:tavLst>
                                    </p:anim>
                                    <p:anim calcmode="lin" valueType="num">
                                      <p:cBhvr additive="base">
                                        <p:cTn id="66" dur="500" fill="hold"/>
                                        <p:tgtEl>
                                          <p:spTgt spid="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anim calcmode="lin" valueType="num">
                                      <p:cBhvr additive="base">
                                        <p:cTn id="69" dur="500" fill="hold"/>
                                        <p:tgtEl>
                                          <p:spTgt spid="38"/>
                                        </p:tgtEl>
                                        <p:attrNameLst>
                                          <p:attrName>ppt_x</p:attrName>
                                        </p:attrNameLst>
                                      </p:cBhvr>
                                      <p:tavLst>
                                        <p:tav tm="0">
                                          <p:val>
                                            <p:strVal val="#ppt_x"/>
                                          </p:val>
                                        </p:tav>
                                        <p:tav tm="100000">
                                          <p:val>
                                            <p:strVal val="#ppt_x"/>
                                          </p:val>
                                        </p:tav>
                                      </p:tavLst>
                                    </p:anim>
                                    <p:anim calcmode="lin" valueType="num">
                                      <p:cBhvr additive="base">
                                        <p:cTn id="70" dur="500" fill="hold"/>
                                        <p:tgtEl>
                                          <p:spTgt spid="38"/>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anim calcmode="lin" valueType="num">
                                      <p:cBhvr additive="base">
                                        <p:cTn id="73" dur="500" fill="hold"/>
                                        <p:tgtEl>
                                          <p:spTgt spid="39"/>
                                        </p:tgtEl>
                                        <p:attrNameLst>
                                          <p:attrName>ppt_x</p:attrName>
                                        </p:attrNameLst>
                                      </p:cBhvr>
                                      <p:tavLst>
                                        <p:tav tm="0">
                                          <p:val>
                                            <p:strVal val="#ppt_x"/>
                                          </p:val>
                                        </p:tav>
                                        <p:tav tm="100000">
                                          <p:val>
                                            <p:strVal val="#ppt_x"/>
                                          </p:val>
                                        </p:tav>
                                      </p:tavLst>
                                    </p:anim>
                                    <p:anim calcmode="lin" valueType="num">
                                      <p:cBhvr additive="base">
                                        <p:cTn id="74"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3" grpId="0" animBg="1"/>
      <p:bldP spid="29" grpId="0"/>
      <p:bldP spid="30" grpId="0"/>
      <p:bldP spid="38" grpId="0"/>
      <p:bldP spid="39" grpId="0"/>
      <p:bldP spid="9" grpId="0" animBg="1"/>
      <p:bldP spid="28" grpId="0"/>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3731" y="951402"/>
            <a:ext cx="10564538" cy="1169551"/>
          </a:xfrm>
          <a:prstGeom prst="rect">
            <a:avLst/>
          </a:prstGeom>
          <a:noFill/>
        </p:spPr>
        <p:txBody>
          <a:bodyPr wrap="square" rtlCol="0">
            <a:spAutoFit/>
          </a:bodyPr>
          <a:lstStyle/>
          <a:p>
            <a:pPr algn="ctr"/>
            <a:r>
              <a:rPr lang="en-US" sz="1400" dirty="0">
                <a:solidFill>
                  <a:schemeClr val="bg1"/>
                </a:solidFill>
                <a:latin typeface="Bricolage Grotesque 14pt" panose="020B0605040402000204" pitchFamily="34" charset="0"/>
              </a:rPr>
              <a:t>Assuming that a </a:t>
            </a:r>
            <a:r>
              <a:rPr lang="en-US" sz="1400" b="1" dirty="0">
                <a:solidFill>
                  <a:srgbClr val="16DB65"/>
                </a:solidFill>
                <a:latin typeface="Bricolage Grotesque 14pt" panose="020B0605040402000204" pitchFamily="34" charset="0"/>
              </a:rPr>
              <a:t>minimum of 300 orders </a:t>
            </a:r>
            <a:r>
              <a:rPr lang="en-US" sz="1400" dirty="0">
                <a:solidFill>
                  <a:schemeClr val="bg1"/>
                </a:solidFill>
                <a:latin typeface="Bricolage Grotesque 14pt" panose="020B0605040402000204" pitchFamily="34" charset="0"/>
              </a:rPr>
              <a:t>are placed daily, including walk-ins and online orders, with a minimum ticket size of </a:t>
            </a:r>
            <a:r>
              <a:rPr lang="en-US" sz="1200" b="1" dirty="0">
                <a:solidFill>
                  <a:srgbClr val="FFFF00"/>
                </a:solidFill>
                <a:latin typeface="Arial" panose="020B0604020202020204" pitchFamily="34" charset="0"/>
                <a:cs typeface="Arial" panose="020B0604020202020204" pitchFamily="34" charset="0"/>
              </a:rPr>
              <a:t>₹</a:t>
            </a:r>
            <a:r>
              <a:rPr lang="en-US" sz="1400" b="1" dirty="0">
                <a:solidFill>
                  <a:srgbClr val="FFFF00"/>
                </a:solidFill>
                <a:latin typeface="Bricolage Grotesque 14pt" panose="020B0605040402000204" pitchFamily="34" charset="0"/>
              </a:rPr>
              <a:t>150 per order</a:t>
            </a:r>
            <a:r>
              <a:rPr lang="en-US" sz="1400" b="1" dirty="0">
                <a:solidFill>
                  <a:schemeClr val="bg1"/>
                </a:solidFill>
                <a:latin typeface="Bricolage Grotesque 14pt" panose="020B0605040402000204" pitchFamily="34" charset="0"/>
              </a:rPr>
              <a:t>, </a:t>
            </a:r>
            <a:r>
              <a:rPr lang="en-US" sz="1400" dirty="0">
                <a:solidFill>
                  <a:schemeClr val="bg1"/>
                </a:solidFill>
                <a:latin typeface="Bricolage Grotesque 14pt" panose="020B0605040402000204" pitchFamily="34" charset="0"/>
              </a:rPr>
              <a:t>resulting in a total of </a:t>
            </a:r>
            <a:r>
              <a:rPr lang="en-US" sz="1400" b="1" dirty="0">
                <a:solidFill>
                  <a:srgbClr val="FFFF00"/>
                </a:solidFill>
                <a:latin typeface="Bricolage Grotesque 14pt" panose="020B0605040402000204" pitchFamily="34" charset="0"/>
              </a:rPr>
              <a:t>30 (Days)  x  300 = 9000 orders </a:t>
            </a:r>
            <a:r>
              <a:rPr lang="en-US" sz="1400" b="1" dirty="0">
                <a:solidFill>
                  <a:srgbClr val="16DB65"/>
                </a:solidFill>
                <a:latin typeface="Bricolage Grotesque 14pt" panose="020B0605040402000204" pitchFamily="34" charset="0"/>
              </a:rPr>
              <a:t>in a month</a:t>
            </a:r>
            <a:r>
              <a:rPr lang="en-US" sz="1400" dirty="0">
                <a:solidFill>
                  <a:schemeClr val="bg1"/>
                </a:solidFill>
                <a:latin typeface="Bricolage Grotesque 14pt" panose="020B0605040402000204" pitchFamily="34" charset="0"/>
              </a:rPr>
              <a:t>, generating a total </a:t>
            </a:r>
          </a:p>
          <a:p>
            <a:pPr algn="ctr"/>
            <a:r>
              <a:rPr lang="en-US" sz="1400" b="1" dirty="0">
                <a:solidFill>
                  <a:srgbClr val="16DB65"/>
                </a:solidFill>
                <a:latin typeface="Bricolage Grotesque 14pt" panose="020B0605040402000204" pitchFamily="34" charset="0"/>
              </a:rPr>
              <a:t>monthly</a:t>
            </a:r>
            <a:r>
              <a:rPr lang="en-US" sz="1400" b="1" dirty="0">
                <a:solidFill>
                  <a:schemeClr val="bg1"/>
                </a:solidFill>
                <a:latin typeface="Bricolage Grotesque 14pt" panose="020B0605040402000204" pitchFamily="34" charset="0"/>
              </a:rPr>
              <a:t> </a:t>
            </a:r>
            <a:r>
              <a:rPr lang="en-US" sz="1400" b="1" dirty="0">
                <a:solidFill>
                  <a:srgbClr val="16DB65"/>
                </a:solidFill>
                <a:latin typeface="Bricolage Grotesque 14pt" panose="020B0605040402000204" pitchFamily="34" charset="0"/>
              </a:rPr>
              <a:t>revenue of  = 9000 x ₹150 =  (a) </a:t>
            </a:r>
            <a:r>
              <a:rPr lang="en-US" sz="1200" b="1" dirty="0">
                <a:solidFill>
                  <a:srgbClr val="16DB65"/>
                </a:solidFill>
                <a:latin typeface="Arial" panose="020B0604020202020204" pitchFamily="34" charset="0"/>
                <a:cs typeface="Arial" panose="020B0604020202020204" pitchFamily="34" charset="0"/>
              </a:rPr>
              <a:t>₹</a:t>
            </a:r>
            <a:r>
              <a:rPr lang="en-US" sz="1400" b="1" dirty="0">
                <a:solidFill>
                  <a:srgbClr val="16DB65"/>
                </a:solidFill>
                <a:latin typeface="Bricolage Grotesque 14pt" panose="020B0605040402000204" pitchFamily="34" charset="0"/>
              </a:rPr>
              <a:t>13,50,000 </a:t>
            </a:r>
          </a:p>
          <a:p>
            <a:pPr algn="ctr"/>
            <a:endParaRPr lang="en-US" sz="1400" dirty="0">
              <a:solidFill>
                <a:srgbClr val="16DB65"/>
              </a:solidFill>
              <a:latin typeface="Bricolage Grotesque 14pt" panose="020B0605040402000204" pitchFamily="34" charset="0"/>
            </a:endParaRPr>
          </a:p>
          <a:p>
            <a:pPr algn="ctr"/>
            <a:r>
              <a:rPr lang="en-US" sz="1400" dirty="0">
                <a:solidFill>
                  <a:schemeClr val="bg1"/>
                </a:solidFill>
                <a:latin typeface="Bricolage Grotesque 14pt" panose="020B0605040402000204" pitchFamily="34" charset="0"/>
              </a:rPr>
              <a:t>Considering the food margin to be 50% , the approximate food cost expense will be </a:t>
            </a:r>
            <a:r>
              <a:rPr lang="en-US" sz="1400" b="1" dirty="0">
                <a:solidFill>
                  <a:srgbClr val="16DB65"/>
                </a:solidFill>
                <a:latin typeface="Bricolage Grotesque 14pt" panose="020B0605040402000204" pitchFamily="34" charset="0"/>
              </a:rPr>
              <a:t>(b) </a:t>
            </a:r>
            <a:r>
              <a:rPr lang="en-US" sz="1200" b="1" dirty="0">
                <a:solidFill>
                  <a:srgbClr val="16DB65"/>
                </a:solidFill>
                <a:latin typeface="Arial" panose="020B0604020202020204" pitchFamily="34" charset="0"/>
                <a:cs typeface="Arial" panose="020B0604020202020204" pitchFamily="34" charset="0"/>
              </a:rPr>
              <a:t>₹</a:t>
            </a:r>
            <a:r>
              <a:rPr lang="en-US" sz="1400" b="1" dirty="0">
                <a:solidFill>
                  <a:srgbClr val="16DB65"/>
                </a:solidFill>
                <a:latin typeface="Bricolage Grotesque 14pt" panose="020B0605040402000204" pitchFamily="34" charset="0"/>
              </a:rPr>
              <a:t>6,75,000</a:t>
            </a:r>
          </a:p>
        </p:txBody>
      </p:sp>
      <p:sp>
        <p:nvSpPr>
          <p:cNvPr id="5" name="TextBox 4">
            <a:extLst>
              <a:ext uri="{FF2B5EF4-FFF2-40B4-BE49-F238E27FC236}">
                <a16:creationId xmlns:a16="http://schemas.microsoft.com/office/drawing/2014/main" id="{4B1C45F8-40C5-657A-8F6A-87E23F35D73B}"/>
              </a:ext>
            </a:extLst>
          </p:cNvPr>
          <p:cNvSpPr txBox="1"/>
          <p:nvPr/>
        </p:nvSpPr>
        <p:spPr>
          <a:xfrm>
            <a:off x="2158316" y="243516"/>
            <a:ext cx="7455243" cy="707886"/>
          </a:xfrm>
          <a:prstGeom prst="rect">
            <a:avLst/>
          </a:prstGeom>
          <a:noFill/>
        </p:spPr>
        <p:txBody>
          <a:bodyPr wrap="square" rtlCol="0">
            <a:spAutoFit/>
          </a:bodyPr>
          <a:lstStyle/>
          <a:p>
            <a:pPr algn="ct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Monthly Potential </a:t>
            </a: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Earning of QSR</a:t>
            </a:r>
          </a:p>
        </p:txBody>
      </p:sp>
      <p:graphicFrame>
        <p:nvGraphicFramePr>
          <p:cNvPr id="35" name="Table 34"/>
          <p:cNvGraphicFramePr>
            <a:graphicFrameLocks noGrp="1"/>
          </p:cNvGraphicFramePr>
          <p:nvPr>
            <p:extLst>
              <p:ext uri="{D42A27DB-BD31-4B8C-83A1-F6EECF244321}">
                <p14:modId xmlns:p14="http://schemas.microsoft.com/office/powerpoint/2010/main" val="4294552512"/>
              </p:ext>
            </p:extLst>
          </p:nvPr>
        </p:nvGraphicFramePr>
        <p:xfrm>
          <a:off x="2732834" y="2792036"/>
          <a:ext cx="6726332" cy="2302999"/>
        </p:xfrm>
        <a:graphic>
          <a:graphicData uri="http://schemas.openxmlformats.org/drawingml/2006/table">
            <a:tbl>
              <a:tblPr bandRow="1">
                <a:tableStyleId>{5C22544A-7EE6-4342-B048-85BDC9FD1C3A}</a:tableStyleId>
              </a:tblPr>
              <a:tblGrid>
                <a:gridCol w="4677129">
                  <a:extLst>
                    <a:ext uri="{9D8B030D-6E8A-4147-A177-3AD203B41FA5}">
                      <a16:colId xmlns:a16="http://schemas.microsoft.com/office/drawing/2014/main" val="20000"/>
                    </a:ext>
                  </a:extLst>
                </a:gridCol>
                <a:gridCol w="2049203">
                  <a:extLst>
                    <a:ext uri="{9D8B030D-6E8A-4147-A177-3AD203B41FA5}">
                      <a16:colId xmlns:a16="http://schemas.microsoft.com/office/drawing/2014/main" val="20001"/>
                    </a:ext>
                  </a:extLst>
                </a:gridCol>
              </a:tblGrid>
              <a:tr h="31780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Bricolage Grotesque 14pt" panose="020B0605040402000204" pitchFamily="34" charset="0"/>
                        </a:rPr>
                        <a:t>Additional operating expenses amount to</a:t>
                      </a:r>
                    </a:p>
                  </a:txBody>
                  <a:tcPr>
                    <a:lnR w="28575" cap="flat" cmpd="sng" algn="ctr">
                      <a:solidFill>
                        <a:schemeClr val="bg1"/>
                      </a:solidFill>
                      <a:prstDash val="solid"/>
                      <a:round/>
                      <a:headEnd type="none" w="med" len="med"/>
                      <a:tailEnd type="none" w="med" len="med"/>
                    </a:lnR>
                    <a:solidFill>
                      <a:srgbClr val="F95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bg1"/>
                          </a:solidFill>
                          <a:latin typeface="Bricolage Grotesque 14pt" panose="020B0605040402000204" pitchFamily="34" charset="0"/>
                        </a:rPr>
                        <a:t>(d) </a:t>
                      </a:r>
                      <a:r>
                        <a:rPr lang="en-US" sz="1600" b="1" dirty="0">
                          <a:solidFill>
                            <a:schemeClr val="bg1"/>
                          </a:solidFill>
                          <a:latin typeface="Arial" panose="020B0604020202020204" pitchFamily="34" charset="0"/>
                          <a:cs typeface="Arial" panose="020B0604020202020204" pitchFamily="34" charset="0"/>
                        </a:rPr>
                        <a:t>₹</a:t>
                      </a:r>
                      <a:r>
                        <a:rPr lang="en-US" sz="1600" b="1" dirty="0">
                          <a:solidFill>
                            <a:schemeClr val="bg1"/>
                          </a:solidFill>
                          <a:latin typeface="Bricolage Grotesque 14pt" panose="020B0605040402000204" pitchFamily="34" charset="0"/>
                          <a:cs typeface="Arial" panose="020B0604020202020204" pitchFamily="34" charset="0"/>
                        </a:rPr>
                        <a:t>2</a:t>
                      </a:r>
                      <a:r>
                        <a:rPr lang="en-US" sz="1600" b="1" dirty="0">
                          <a:solidFill>
                            <a:schemeClr val="bg1"/>
                          </a:solidFill>
                          <a:latin typeface="Bricolage Grotesque 14pt" panose="020B0605040402000204" pitchFamily="34" charset="0"/>
                        </a:rPr>
                        <a:t>,23,500</a:t>
                      </a:r>
                    </a:p>
                  </a:txBody>
                  <a:tcPr>
                    <a:lnL w="28575" cap="flat" cmpd="sng" algn="ctr">
                      <a:solidFill>
                        <a:schemeClr val="bg1"/>
                      </a:solidFill>
                      <a:prstDash val="solid"/>
                      <a:round/>
                      <a:headEnd type="none" w="med" len="med"/>
                      <a:tailEnd type="none" w="med" len="med"/>
                    </a:lnL>
                    <a:solidFill>
                      <a:srgbClr val="F95050"/>
                    </a:solidFill>
                  </a:tcPr>
                </a:tc>
                <a:extLst>
                  <a:ext uri="{0D108BD9-81ED-4DB2-BD59-A6C34878D82A}">
                    <a16:rowId xmlns:a16="http://schemas.microsoft.com/office/drawing/2014/main" val="10000"/>
                  </a:ext>
                </a:extLst>
              </a:tr>
              <a:tr h="264836">
                <a:tc>
                  <a:txBody>
                    <a:bodyPr/>
                    <a:lstStyle/>
                    <a:p>
                      <a:r>
                        <a:rPr lang="en-US" sz="1200" dirty="0">
                          <a:solidFill>
                            <a:schemeClr val="bg1"/>
                          </a:solidFill>
                          <a:latin typeface="Arial" panose="020B0604020202020204" pitchFamily="34" charset="0"/>
                          <a:cs typeface="Arial" panose="020B0604020202020204" pitchFamily="34" charset="0"/>
                        </a:rPr>
                        <a:t>Salaries &amp; Wages</a:t>
                      </a:r>
                      <a:endParaRPr lang="en-US" sz="1200" dirty="0"/>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₹60,000</a:t>
                      </a:r>
                      <a:endParaRPr lang="en-US" sz="1200" dirty="0"/>
                    </a:p>
                  </a:txBody>
                  <a:tcPr>
                    <a:noFill/>
                  </a:tcPr>
                </a:tc>
                <a:extLst>
                  <a:ext uri="{0D108BD9-81ED-4DB2-BD59-A6C34878D82A}">
                    <a16:rowId xmlns:a16="http://schemas.microsoft.com/office/drawing/2014/main" val="10001"/>
                  </a:ext>
                </a:extLst>
              </a:tr>
              <a:tr h="2648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Rent (Fixed)/ Management/Office Expense</a:t>
                      </a:r>
                      <a:endParaRPr lang="en-US" sz="1200" dirty="0"/>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₹25,000</a:t>
                      </a:r>
                    </a:p>
                  </a:txBody>
                  <a:tcPr>
                    <a:noFill/>
                  </a:tcPr>
                </a:tc>
                <a:extLst>
                  <a:ext uri="{0D108BD9-81ED-4DB2-BD59-A6C34878D82A}">
                    <a16:rowId xmlns:a16="http://schemas.microsoft.com/office/drawing/2014/main" val="10002"/>
                  </a:ext>
                </a:extLst>
              </a:tr>
              <a:tr h="264836">
                <a:tc>
                  <a:txBody>
                    <a:bodyPr/>
                    <a:lstStyle/>
                    <a:p>
                      <a:r>
                        <a:rPr lang="en-US" sz="1200" dirty="0">
                          <a:solidFill>
                            <a:schemeClr val="bg1"/>
                          </a:solidFill>
                          <a:latin typeface="Arial" panose="020B0604020202020204" pitchFamily="34" charset="0"/>
                          <a:cs typeface="Arial" panose="020B0604020202020204" pitchFamily="34" charset="0"/>
                        </a:rPr>
                        <a:t>Energy &amp; Utilities/Wood</a:t>
                      </a:r>
                      <a:endParaRPr lang="en-US" sz="1200" dirty="0"/>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₹50,000</a:t>
                      </a:r>
                    </a:p>
                  </a:txBody>
                  <a:tcPr>
                    <a:noFill/>
                  </a:tcPr>
                </a:tc>
                <a:extLst>
                  <a:ext uri="{0D108BD9-81ED-4DB2-BD59-A6C34878D82A}">
                    <a16:rowId xmlns:a16="http://schemas.microsoft.com/office/drawing/2014/main" val="10004"/>
                  </a:ext>
                </a:extLst>
              </a:tr>
              <a:tr h="264836">
                <a:tc>
                  <a:txBody>
                    <a:bodyPr/>
                    <a:lstStyle/>
                    <a:p>
                      <a:r>
                        <a:rPr lang="en-US" sz="1200" dirty="0">
                          <a:solidFill>
                            <a:schemeClr val="bg1"/>
                          </a:solidFill>
                          <a:latin typeface="Arial" panose="020B0604020202020204" pitchFamily="34" charset="0"/>
                          <a:cs typeface="Arial" panose="020B0604020202020204" pitchFamily="34" charset="0"/>
                        </a:rPr>
                        <a:t>Operating Cost/Packaging etc</a:t>
                      </a:r>
                      <a:endParaRPr lang="en-US" sz="1200" dirty="0"/>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₹25,000</a:t>
                      </a:r>
                    </a:p>
                  </a:txBody>
                  <a:tcPr>
                    <a:noFill/>
                  </a:tcPr>
                </a:tc>
                <a:extLst>
                  <a:ext uri="{0D108BD9-81ED-4DB2-BD59-A6C34878D82A}">
                    <a16:rowId xmlns:a16="http://schemas.microsoft.com/office/drawing/2014/main" val="10005"/>
                  </a:ext>
                </a:extLst>
              </a:tr>
              <a:tr h="264836">
                <a:tc>
                  <a:txBody>
                    <a:bodyPr/>
                    <a:lstStyle/>
                    <a:p>
                      <a:r>
                        <a:rPr lang="en-US" sz="1200" dirty="0">
                          <a:solidFill>
                            <a:schemeClr val="bg1"/>
                          </a:solidFill>
                          <a:latin typeface="Arial" panose="020B0604020202020204" pitchFamily="34" charset="0"/>
                          <a:cs typeface="Arial" panose="020B0604020202020204" pitchFamily="34" charset="0"/>
                        </a:rPr>
                        <a:t>Marketing Cost/ Finance Cost/ Maintenance</a:t>
                      </a:r>
                      <a:endParaRPr lang="en-US" sz="1200" dirty="0"/>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₹50,000</a:t>
                      </a:r>
                    </a:p>
                  </a:txBody>
                  <a:tcPr>
                    <a:noFill/>
                  </a:tcPr>
                </a:tc>
                <a:extLst>
                  <a:ext uri="{0D108BD9-81ED-4DB2-BD59-A6C34878D82A}">
                    <a16:rowId xmlns:a16="http://schemas.microsoft.com/office/drawing/2014/main" val="10006"/>
                  </a:ext>
                </a:extLst>
              </a:tr>
              <a:tr h="291319">
                <a:tc>
                  <a:txBody>
                    <a:bodyPr/>
                    <a:lstStyle/>
                    <a:p>
                      <a:r>
                        <a:rPr lang="en-US" sz="1400" dirty="0">
                          <a:solidFill>
                            <a:schemeClr val="bg1"/>
                          </a:solidFill>
                          <a:latin typeface="Arial" panose="020B0604020202020204" pitchFamily="34" charset="0"/>
                          <a:cs typeface="Arial" panose="020B0604020202020204" pitchFamily="34" charset="0"/>
                        </a:rPr>
                        <a:t>Marketing expenses (1% of the billing amount)</a:t>
                      </a:r>
                      <a:endParaRPr lang="en-US" sz="1400" dirty="0">
                        <a:latin typeface="Arial" panose="020B0604020202020204" pitchFamily="34" charset="0"/>
                        <a:cs typeface="Arial" panose="020B0604020202020204" pitchFamily="34"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₹13,500</a:t>
                      </a:r>
                    </a:p>
                  </a:txBody>
                  <a:tcPr>
                    <a:noFill/>
                  </a:tcPr>
                </a:tc>
                <a:extLst>
                  <a:ext uri="{0D108BD9-81ED-4DB2-BD59-A6C34878D82A}">
                    <a16:rowId xmlns:a16="http://schemas.microsoft.com/office/drawing/2014/main" val="3806465358"/>
                  </a:ext>
                </a:extLst>
              </a:tr>
              <a:tr h="291319">
                <a:tc>
                  <a:txBody>
                    <a:bodyPr/>
                    <a:lstStyle/>
                    <a:p>
                      <a:endParaRPr lang="en-US" sz="1200" dirty="0">
                        <a:solidFill>
                          <a:schemeClr val="bg1"/>
                        </a:solidFill>
                        <a:latin typeface="Arial" panose="020B0604020202020204" pitchFamily="34" charset="0"/>
                        <a:cs typeface="Arial" panose="020B0604020202020204" pitchFamily="34"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bg1"/>
                        </a:solidFill>
                        <a:latin typeface="Arial" panose="020B0604020202020204" pitchFamily="34" charset="0"/>
                        <a:cs typeface="Arial" panose="020B0604020202020204" pitchFamily="34" charset="0"/>
                      </a:endParaRPr>
                    </a:p>
                  </a:txBody>
                  <a:tcPr>
                    <a:noFill/>
                  </a:tcPr>
                </a:tc>
                <a:extLst>
                  <a:ext uri="{0D108BD9-81ED-4DB2-BD59-A6C34878D82A}">
                    <a16:rowId xmlns:a16="http://schemas.microsoft.com/office/drawing/2014/main" val="3306295559"/>
                  </a:ext>
                </a:extLst>
              </a:tr>
            </a:tbl>
          </a:graphicData>
        </a:graphic>
      </p:graphicFrame>
      <p:sp>
        <p:nvSpPr>
          <p:cNvPr id="40" name="Rectangle 39"/>
          <p:cNvSpPr/>
          <p:nvPr/>
        </p:nvSpPr>
        <p:spPr>
          <a:xfrm>
            <a:off x="1367481" y="2245099"/>
            <a:ext cx="9457038" cy="369332"/>
          </a:xfrm>
          <a:prstGeom prst="rect">
            <a:avLst/>
          </a:prstGeom>
        </p:spPr>
        <p:txBody>
          <a:bodyPr wrap="square">
            <a:spAutoFit/>
          </a:bodyPr>
          <a:lstStyle/>
          <a:p>
            <a:pPr algn="ctr"/>
            <a:r>
              <a:rPr lang="en-US" b="1" dirty="0">
                <a:solidFill>
                  <a:srgbClr val="FFFF00"/>
                </a:solidFill>
                <a:latin typeface="Bricolage Grotesque 14pt" panose="020B0605040402000204" pitchFamily="34" charset="0"/>
              </a:rPr>
              <a:t>Thus, the monthly gross</a:t>
            </a:r>
            <a:r>
              <a:rPr lang="en-US" dirty="0">
                <a:solidFill>
                  <a:schemeClr val="bg1"/>
                </a:solidFill>
                <a:latin typeface="Bricolage Grotesque 14pt" panose="020B0605040402000204" pitchFamily="34" charset="0"/>
              </a:rPr>
              <a:t> </a:t>
            </a:r>
            <a:r>
              <a:rPr lang="en-US" b="1" dirty="0">
                <a:solidFill>
                  <a:srgbClr val="FFFF00"/>
                </a:solidFill>
                <a:latin typeface="Bricolage Grotesque 14pt" panose="020B0605040402000204" pitchFamily="34" charset="0"/>
              </a:rPr>
              <a:t>margin will be </a:t>
            </a:r>
            <a:r>
              <a:rPr lang="en-US" dirty="0">
                <a:solidFill>
                  <a:srgbClr val="FFFF00"/>
                </a:solidFill>
                <a:latin typeface="Bricolage Grotesque 14pt" panose="020B0605040402000204" pitchFamily="34" charset="0"/>
              </a:rPr>
              <a:t>(a) </a:t>
            </a:r>
            <a:r>
              <a:rPr lang="en-US" b="1" dirty="0">
                <a:solidFill>
                  <a:srgbClr val="FFFF00"/>
                </a:solidFill>
                <a:latin typeface="Arial" panose="020B0604020202020204" pitchFamily="34" charset="0"/>
                <a:cs typeface="Arial" panose="020B0604020202020204" pitchFamily="34" charset="0"/>
              </a:rPr>
              <a:t>₹</a:t>
            </a:r>
            <a:r>
              <a:rPr lang="en-US" b="1" dirty="0">
                <a:solidFill>
                  <a:srgbClr val="FFFF00"/>
                </a:solidFill>
                <a:latin typeface="Bricolage Grotesque 14pt" panose="020B0605040402000204" pitchFamily="34" charset="0"/>
              </a:rPr>
              <a:t>13,50,000  -  </a:t>
            </a:r>
            <a:r>
              <a:rPr lang="en-US" dirty="0">
                <a:solidFill>
                  <a:srgbClr val="FFFF00"/>
                </a:solidFill>
                <a:latin typeface="Bricolage Grotesque 14pt" panose="020B0605040402000204" pitchFamily="34" charset="0"/>
              </a:rPr>
              <a:t>(b) </a:t>
            </a:r>
            <a:r>
              <a:rPr lang="en-US" b="1" dirty="0">
                <a:solidFill>
                  <a:srgbClr val="FFFF00"/>
                </a:solidFill>
                <a:latin typeface="Arial" panose="020B0604020202020204" pitchFamily="34" charset="0"/>
                <a:cs typeface="Arial" panose="020B0604020202020204" pitchFamily="34" charset="0"/>
              </a:rPr>
              <a:t>₹</a:t>
            </a:r>
            <a:r>
              <a:rPr lang="en-US" b="1" dirty="0">
                <a:solidFill>
                  <a:srgbClr val="FFFF00"/>
                </a:solidFill>
                <a:latin typeface="Bricolage Grotesque 14pt" panose="020B0605040402000204" pitchFamily="34" charset="0"/>
              </a:rPr>
              <a:t>6,75,000  =  </a:t>
            </a:r>
            <a:r>
              <a:rPr lang="en-US" dirty="0">
                <a:solidFill>
                  <a:srgbClr val="FFFF00"/>
                </a:solidFill>
                <a:latin typeface="Bricolage Grotesque 14pt" panose="020B0605040402000204" pitchFamily="34" charset="0"/>
              </a:rPr>
              <a:t>(c) </a:t>
            </a:r>
            <a:r>
              <a:rPr lang="en-US" b="1" dirty="0">
                <a:solidFill>
                  <a:srgbClr val="FFFF00"/>
                </a:solidFill>
                <a:latin typeface="Arial" panose="020B0604020202020204" pitchFamily="34" charset="0"/>
                <a:cs typeface="Arial" panose="020B0604020202020204" pitchFamily="34" charset="0"/>
              </a:rPr>
              <a:t>₹</a:t>
            </a:r>
            <a:r>
              <a:rPr lang="en-US" b="1" dirty="0">
                <a:solidFill>
                  <a:srgbClr val="FFFF00"/>
                </a:solidFill>
                <a:latin typeface="Bricolage Grotesque 14pt" panose="020B0605040402000204" pitchFamily="34" charset="0"/>
              </a:rPr>
              <a:t>6,75,000</a:t>
            </a:r>
          </a:p>
        </p:txBody>
      </p:sp>
      <p:sp>
        <p:nvSpPr>
          <p:cNvPr id="10" name="Rectangle 9">
            <a:extLst>
              <a:ext uri="{FF2B5EF4-FFF2-40B4-BE49-F238E27FC236}">
                <a16:creationId xmlns:a16="http://schemas.microsoft.com/office/drawing/2014/main" id="{5C40F596-BBEB-6BC7-789C-FB7AF2BE86DE}"/>
              </a:ext>
            </a:extLst>
          </p:cNvPr>
          <p:cNvSpPr/>
          <p:nvPr/>
        </p:nvSpPr>
        <p:spPr>
          <a:xfrm>
            <a:off x="1367481" y="2245099"/>
            <a:ext cx="9457038" cy="422791"/>
          </a:xfrm>
          <a:prstGeom prst="rect">
            <a:avLst/>
          </a:prstGeom>
          <a:noFill/>
          <a:ln w="9525">
            <a:solidFill>
              <a:srgbClr val="16DB65"/>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Open Sans" panose="020B0606030504020204" pitchFamily="34" charset="0"/>
            </a:endParaRPr>
          </a:p>
        </p:txBody>
      </p:sp>
      <p:sp>
        <p:nvSpPr>
          <p:cNvPr id="2" name="TextBox 1">
            <a:extLst>
              <a:ext uri="{FF2B5EF4-FFF2-40B4-BE49-F238E27FC236}">
                <a16:creationId xmlns:a16="http://schemas.microsoft.com/office/drawing/2014/main" id="{15C7D016-98F3-D0FF-4F5B-4D73E0C29E0F}"/>
              </a:ext>
            </a:extLst>
          </p:cNvPr>
          <p:cNvSpPr txBox="1"/>
          <p:nvPr/>
        </p:nvSpPr>
        <p:spPr>
          <a:xfrm>
            <a:off x="8500871" y="6315809"/>
            <a:ext cx="4300151" cy="230832"/>
          </a:xfrm>
          <a:prstGeom prst="rect">
            <a:avLst/>
          </a:prstGeom>
          <a:noFill/>
        </p:spPr>
        <p:txBody>
          <a:bodyPr wrap="square" rtlCol="0">
            <a:spAutoFit/>
          </a:bodyPr>
          <a:lstStyle/>
          <a:p>
            <a:pPr algn="ctr"/>
            <a:r>
              <a:rPr lang="en-US" sz="900" b="1" dirty="0">
                <a:solidFill>
                  <a:srgbClr val="F95050"/>
                </a:solidFill>
                <a:latin typeface="Bricolage Grotesque 14pt" panose="020B0605040402000204" pitchFamily="34" charset="0"/>
              </a:rPr>
              <a:t>This figure is only for illustration purpose actuals may vary </a:t>
            </a:r>
          </a:p>
        </p:txBody>
      </p:sp>
      <p:grpSp>
        <p:nvGrpSpPr>
          <p:cNvPr id="3" name="Group 2">
            <a:extLst>
              <a:ext uri="{FF2B5EF4-FFF2-40B4-BE49-F238E27FC236}">
                <a16:creationId xmlns:a16="http://schemas.microsoft.com/office/drawing/2014/main" id="{D90017BC-5FB5-3E22-B6BD-8B68B9FE55DE}"/>
              </a:ext>
            </a:extLst>
          </p:cNvPr>
          <p:cNvGrpSpPr/>
          <p:nvPr/>
        </p:nvGrpSpPr>
        <p:grpSpPr>
          <a:xfrm>
            <a:off x="1717589" y="5344706"/>
            <a:ext cx="8756822" cy="937884"/>
            <a:chOff x="766032" y="4778854"/>
            <a:chExt cx="16150361" cy="1729758"/>
          </a:xfrm>
        </p:grpSpPr>
        <p:sp>
          <p:nvSpPr>
            <p:cNvPr id="6" name="Rectangle 5">
              <a:extLst>
                <a:ext uri="{FF2B5EF4-FFF2-40B4-BE49-F238E27FC236}">
                  <a16:creationId xmlns:a16="http://schemas.microsoft.com/office/drawing/2014/main" id="{2EBE2234-34CC-919D-F1B6-FB75B9D1E20C}"/>
                </a:ext>
              </a:extLst>
            </p:cNvPr>
            <p:cNvSpPr/>
            <p:nvPr/>
          </p:nvSpPr>
          <p:spPr>
            <a:xfrm>
              <a:off x="766032" y="5356196"/>
              <a:ext cx="1238245" cy="1152416"/>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0DB7576-B7A7-49E5-E966-B03A9AE88E3B}"/>
                </a:ext>
              </a:extLst>
            </p:cNvPr>
            <p:cNvSpPr/>
            <p:nvPr/>
          </p:nvSpPr>
          <p:spPr>
            <a:xfrm>
              <a:off x="874758" y="4778854"/>
              <a:ext cx="16041635" cy="1616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01CD1A66-8510-EB68-7CD6-23DA4F01B188}"/>
              </a:ext>
            </a:extLst>
          </p:cNvPr>
          <p:cNvSpPr txBox="1"/>
          <p:nvPr/>
        </p:nvSpPr>
        <p:spPr>
          <a:xfrm>
            <a:off x="1881059" y="5414929"/>
            <a:ext cx="8534400" cy="707886"/>
          </a:xfrm>
          <a:prstGeom prst="rect">
            <a:avLst/>
          </a:prstGeom>
          <a:noFill/>
        </p:spPr>
        <p:txBody>
          <a:bodyPr wrap="square" rtlCol="0">
            <a:spAutoFit/>
          </a:bodyPr>
          <a:lstStyle/>
          <a:p>
            <a:pPr algn="ctr"/>
            <a:r>
              <a:rPr lang="en-US" sz="2000" b="1" dirty="0">
                <a:solidFill>
                  <a:srgbClr val="060607"/>
                </a:solidFill>
                <a:latin typeface="Bricolage Grotesque 14pt" panose="020B0605040402000204" pitchFamily="34" charset="0"/>
              </a:rPr>
              <a:t>Therefore, the net profit from the QSR operation alone is</a:t>
            </a:r>
          </a:p>
          <a:p>
            <a:pPr algn="ctr"/>
            <a:r>
              <a:rPr lang="pt-BR" sz="2000" dirty="0">
                <a:solidFill>
                  <a:schemeClr val="tx1">
                    <a:lumMod val="65000"/>
                    <a:lumOff val="35000"/>
                  </a:schemeClr>
                </a:solidFill>
                <a:latin typeface="Arial" panose="020B0604020202020204" pitchFamily="34" charset="0"/>
                <a:cs typeface="Arial" panose="020B0604020202020204" pitchFamily="34" charset="0"/>
              </a:rPr>
              <a:t>(c)</a:t>
            </a:r>
            <a:r>
              <a:rPr lang="pt-BR" sz="2000" dirty="0">
                <a:solidFill>
                  <a:srgbClr val="F95050"/>
                </a:solidFill>
                <a:latin typeface="Arial" panose="020B0604020202020204" pitchFamily="34" charset="0"/>
                <a:cs typeface="Arial" panose="020B0604020202020204" pitchFamily="34" charset="0"/>
              </a:rPr>
              <a:t>₹</a:t>
            </a:r>
            <a:r>
              <a:rPr lang="pt-BR" sz="2000" b="1" dirty="0">
                <a:solidFill>
                  <a:srgbClr val="F95050"/>
                </a:solidFill>
                <a:latin typeface="Arial" panose="020B0604020202020204" pitchFamily="34" charset="0"/>
                <a:cs typeface="Arial" panose="020B0604020202020204" pitchFamily="34" charset="0"/>
              </a:rPr>
              <a:t>6,75,000 – </a:t>
            </a:r>
            <a:r>
              <a:rPr lang="pt-BR" sz="2000" dirty="0">
                <a:solidFill>
                  <a:schemeClr val="tx1">
                    <a:lumMod val="65000"/>
                    <a:lumOff val="35000"/>
                  </a:schemeClr>
                </a:solidFill>
                <a:latin typeface="Arial" panose="020B0604020202020204" pitchFamily="34" charset="0"/>
                <a:cs typeface="Arial" panose="020B0604020202020204" pitchFamily="34" charset="0"/>
              </a:rPr>
              <a:t>(d)</a:t>
            </a:r>
            <a:r>
              <a:rPr lang="pt-BR" sz="2000" dirty="0">
                <a:solidFill>
                  <a:srgbClr val="F95050"/>
                </a:solidFill>
                <a:latin typeface="Arial" panose="020B0604020202020204" pitchFamily="34" charset="0"/>
                <a:cs typeface="Arial" panose="020B0604020202020204" pitchFamily="34" charset="0"/>
              </a:rPr>
              <a:t>₹</a:t>
            </a:r>
            <a:r>
              <a:rPr lang="pt-BR" sz="2000" b="1" dirty="0">
                <a:solidFill>
                  <a:srgbClr val="F95050"/>
                </a:solidFill>
                <a:latin typeface="Arial" panose="020B0604020202020204" pitchFamily="34" charset="0"/>
                <a:cs typeface="Arial" panose="020B0604020202020204" pitchFamily="34" charset="0"/>
              </a:rPr>
              <a:t>2,23,500 = </a:t>
            </a:r>
            <a:r>
              <a:rPr lang="pt-BR" sz="2000" b="1" dirty="0">
                <a:solidFill>
                  <a:srgbClr val="16DB65"/>
                </a:solidFill>
                <a:latin typeface="Arial" panose="020B0604020202020204" pitchFamily="34" charset="0"/>
                <a:cs typeface="Arial" panose="020B0604020202020204" pitchFamily="34" charset="0"/>
              </a:rPr>
              <a:t>(i)</a:t>
            </a:r>
            <a:r>
              <a:rPr lang="pt-BR" sz="2000" dirty="0">
                <a:solidFill>
                  <a:srgbClr val="F95050"/>
                </a:solidFill>
                <a:latin typeface="Arial" panose="020B0604020202020204" pitchFamily="34" charset="0"/>
                <a:cs typeface="Arial" panose="020B0604020202020204" pitchFamily="34" charset="0"/>
              </a:rPr>
              <a:t>₹</a:t>
            </a:r>
            <a:r>
              <a:rPr lang="pt-BR" sz="2000" b="1" dirty="0">
                <a:solidFill>
                  <a:srgbClr val="F95050"/>
                </a:solidFill>
                <a:latin typeface="Arial" panose="020B0604020202020204" pitchFamily="34" charset="0"/>
                <a:cs typeface="Arial" panose="020B0604020202020204" pitchFamily="34" charset="0"/>
              </a:rPr>
              <a:t>4,51,500/- </a:t>
            </a:r>
            <a:r>
              <a:rPr lang="pt-BR" sz="1200" b="1" dirty="0">
                <a:solidFill>
                  <a:srgbClr val="F95050"/>
                </a:solidFill>
                <a:latin typeface="Arial" panose="020B0604020202020204" pitchFamily="34" charset="0"/>
                <a:cs typeface="Arial" panose="020B0604020202020204" pitchFamily="34" charset="0"/>
              </a:rPr>
              <a:t>(Approx)</a:t>
            </a:r>
            <a:endParaRPr lang="en-US" sz="2000" b="1" dirty="0">
              <a:solidFill>
                <a:srgbClr val="F95050"/>
              </a:solidFill>
              <a:latin typeface="Bricolage Grotesque 14pt" panose="020B0605040402000204" pitchFamily="34" charset="0"/>
            </a:endParaRPr>
          </a:p>
        </p:txBody>
      </p:sp>
    </p:spTree>
    <p:extLst>
      <p:ext uri="{BB962C8B-B14F-4D97-AF65-F5344CB8AC3E}">
        <p14:creationId xmlns:p14="http://schemas.microsoft.com/office/powerpoint/2010/main" val="3430937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 calcmode="lin" valueType="num">
                                      <p:cBhvr additive="base">
                                        <p:cTn id="23" dur="500" fill="hold"/>
                                        <p:tgtEl>
                                          <p:spTgt spid="40"/>
                                        </p:tgtEl>
                                        <p:attrNameLst>
                                          <p:attrName>ppt_x</p:attrName>
                                        </p:attrNameLst>
                                      </p:cBhvr>
                                      <p:tavLst>
                                        <p:tav tm="0">
                                          <p:val>
                                            <p:strVal val="#ppt_x"/>
                                          </p:val>
                                        </p:tav>
                                        <p:tav tm="100000">
                                          <p:val>
                                            <p:strVal val="#ppt_x"/>
                                          </p:val>
                                        </p:tav>
                                      </p:tavLst>
                                    </p:anim>
                                    <p:anim calcmode="lin" valueType="num">
                                      <p:cBhvr additive="base">
                                        <p:cTn id="2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additive="base">
                                        <p:cTn id="29" dur="500" fill="hold"/>
                                        <p:tgtEl>
                                          <p:spTgt spid="35"/>
                                        </p:tgtEl>
                                        <p:attrNameLst>
                                          <p:attrName>ppt_x</p:attrName>
                                        </p:attrNameLst>
                                      </p:cBhvr>
                                      <p:tavLst>
                                        <p:tav tm="0">
                                          <p:val>
                                            <p:strVal val="#ppt_x"/>
                                          </p:val>
                                        </p:tav>
                                        <p:tav tm="100000">
                                          <p:val>
                                            <p:strVal val="#ppt_x"/>
                                          </p:val>
                                        </p:tav>
                                      </p:tavLst>
                                    </p:anim>
                                    <p:anim calcmode="lin" valueType="num">
                                      <p:cBhvr additive="base">
                                        <p:cTn id="3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additive="base">
                                        <p:cTn id="39" dur="500" fill="hold"/>
                                        <p:tgtEl>
                                          <p:spTgt spid="2"/>
                                        </p:tgtEl>
                                        <p:attrNameLst>
                                          <p:attrName>ppt_x</p:attrName>
                                        </p:attrNameLst>
                                      </p:cBhvr>
                                      <p:tavLst>
                                        <p:tav tm="0">
                                          <p:val>
                                            <p:strVal val="1+#ppt_w/2"/>
                                          </p:val>
                                        </p:tav>
                                        <p:tav tm="100000">
                                          <p:val>
                                            <p:strVal val="#ppt_x"/>
                                          </p:val>
                                        </p:tav>
                                      </p:tavLst>
                                    </p:anim>
                                    <p:anim calcmode="lin" valueType="num">
                                      <p:cBhvr additive="base">
                                        <p:cTn id="40" dur="500" fill="hold"/>
                                        <p:tgtEl>
                                          <p:spTgt spid="2"/>
                                        </p:tgtEl>
                                        <p:attrNameLst>
                                          <p:attrName>ppt_y</p:attrName>
                                        </p:attrNameLst>
                                      </p:cBhvr>
                                      <p:tavLst>
                                        <p:tav tm="0">
                                          <p:val>
                                            <p:strVal val="#ppt_y"/>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40" grpId="0"/>
      <p:bldP spid="10" grpId="0" animBg="1"/>
      <p:bldP spid="2"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1C45F8-40C5-657A-8F6A-87E23F35D73B}"/>
              </a:ext>
            </a:extLst>
          </p:cNvPr>
          <p:cNvSpPr txBox="1"/>
          <p:nvPr/>
        </p:nvSpPr>
        <p:spPr>
          <a:xfrm>
            <a:off x="2751438" y="258010"/>
            <a:ext cx="6689124" cy="707886"/>
          </a:xfrm>
          <a:prstGeom prst="rect">
            <a:avLst/>
          </a:prstGeom>
          <a:noFill/>
        </p:spPr>
        <p:txBody>
          <a:bodyPr wrap="square" rtlCol="0">
            <a:spAutoFit/>
          </a:bodyPr>
          <a:lstStyle/>
          <a:p>
            <a:pPr algn="ct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Extra Potential </a:t>
            </a: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Earning of QSR</a:t>
            </a:r>
          </a:p>
        </p:txBody>
      </p:sp>
      <p:sp>
        <p:nvSpPr>
          <p:cNvPr id="2" name="Rectangle 1"/>
          <p:cNvSpPr/>
          <p:nvPr/>
        </p:nvSpPr>
        <p:spPr>
          <a:xfrm>
            <a:off x="1191470" y="1129566"/>
            <a:ext cx="9365407" cy="461665"/>
          </a:xfrm>
          <a:prstGeom prst="rect">
            <a:avLst/>
          </a:prstGeom>
        </p:spPr>
        <p:txBody>
          <a:bodyPr wrap="square">
            <a:spAutoFit/>
          </a:bodyPr>
          <a:lstStyle/>
          <a:p>
            <a:pPr algn="ctr"/>
            <a:r>
              <a:rPr lang="en-US" sz="2400" b="1" dirty="0">
                <a:solidFill>
                  <a:schemeClr val="bg1"/>
                </a:solidFill>
                <a:latin typeface="Bricolage Grotesque 14pt" panose="020B0605040402000204" pitchFamily="34" charset="0"/>
              </a:rPr>
              <a:t>Keep in mind that there may be other sources of income as well</a:t>
            </a:r>
          </a:p>
        </p:txBody>
      </p:sp>
      <p:graphicFrame>
        <p:nvGraphicFramePr>
          <p:cNvPr id="3" name="Table 2"/>
          <p:cNvGraphicFramePr>
            <a:graphicFrameLocks noGrp="1"/>
          </p:cNvGraphicFramePr>
          <p:nvPr>
            <p:extLst>
              <p:ext uri="{D42A27DB-BD31-4B8C-83A1-F6EECF244321}">
                <p14:modId xmlns:p14="http://schemas.microsoft.com/office/powerpoint/2010/main" val="210591686"/>
              </p:ext>
            </p:extLst>
          </p:nvPr>
        </p:nvGraphicFramePr>
        <p:xfrm>
          <a:off x="1362504" y="2504699"/>
          <a:ext cx="9466992" cy="2225040"/>
        </p:xfrm>
        <a:graphic>
          <a:graphicData uri="http://schemas.openxmlformats.org/drawingml/2006/table">
            <a:tbl>
              <a:tblPr firstRow="1" lastRow="1" bandRow="1">
                <a:tableStyleId>{5C22544A-7EE6-4342-B048-85BDC9FD1C3A}</a:tableStyleId>
              </a:tblPr>
              <a:tblGrid>
                <a:gridCol w="5071247">
                  <a:extLst>
                    <a:ext uri="{9D8B030D-6E8A-4147-A177-3AD203B41FA5}">
                      <a16:colId xmlns:a16="http://schemas.microsoft.com/office/drawing/2014/main" val="20000"/>
                    </a:ext>
                  </a:extLst>
                </a:gridCol>
                <a:gridCol w="1637741">
                  <a:extLst>
                    <a:ext uri="{9D8B030D-6E8A-4147-A177-3AD203B41FA5}">
                      <a16:colId xmlns:a16="http://schemas.microsoft.com/office/drawing/2014/main" val="20001"/>
                    </a:ext>
                  </a:extLst>
                </a:gridCol>
                <a:gridCol w="2758004">
                  <a:extLst>
                    <a:ext uri="{9D8B030D-6E8A-4147-A177-3AD203B41FA5}">
                      <a16:colId xmlns:a16="http://schemas.microsoft.com/office/drawing/2014/main" val="20002"/>
                    </a:ext>
                  </a:extLst>
                </a:gridCol>
              </a:tblGrid>
              <a:tr h="370840">
                <a:tc>
                  <a:txBody>
                    <a:bodyPr/>
                    <a:lstStyle/>
                    <a:p>
                      <a:pPr algn="ctr"/>
                      <a:r>
                        <a:rPr lang="en-US" dirty="0">
                          <a:solidFill>
                            <a:srgbClr val="F95050"/>
                          </a:solidFill>
                        </a:rPr>
                        <a:t>Heads</a:t>
                      </a:r>
                    </a:p>
                  </a:txBody>
                  <a:tcPr>
                    <a:solidFill>
                      <a:schemeClr val="bg1">
                        <a:lumMod val="85000"/>
                      </a:schemeClr>
                    </a:solidFill>
                  </a:tcPr>
                </a:tc>
                <a:tc>
                  <a:txBody>
                    <a:bodyPr/>
                    <a:lstStyle/>
                    <a:p>
                      <a:pPr algn="ctr"/>
                      <a:r>
                        <a:rPr lang="en-US" dirty="0">
                          <a:solidFill>
                            <a:srgbClr val="F95050"/>
                          </a:solidFill>
                        </a:rPr>
                        <a:t>Monthly</a:t>
                      </a:r>
                    </a:p>
                  </a:txBody>
                  <a:tcPr>
                    <a:solidFill>
                      <a:schemeClr val="bg1">
                        <a:lumMod val="85000"/>
                      </a:schemeClr>
                    </a:solidFill>
                  </a:tcPr>
                </a:tc>
                <a:tc>
                  <a:txBody>
                    <a:bodyPr/>
                    <a:lstStyle/>
                    <a:p>
                      <a:pPr algn="ctr"/>
                      <a:r>
                        <a:rPr lang="en-US" dirty="0">
                          <a:solidFill>
                            <a:srgbClr val="F95050"/>
                          </a:solidFill>
                        </a:rPr>
                        <a:t>Details</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r>
                        <a:rPr lang="en-US" dirty="0">
                          <a:solidFill>
                            <a:schemeClr val="bg1"/>
                          </a:solidFill>
                        </a:rPr>
                        <a:t>10% Royalty from </a:t>
                      </a:r>
                      <a:r>
                        <a:rPr lang="en-US" b="1" dirty="0">
                          <a:solidFill>
                            <a:srgbClr val="16DB65"/>
                          </a:solidFill>
                        </a:rPr>
                        <a:t>Trolley</a:t>
                      </a:r>
                      <a:r>
                        <a:rPr lang="en-US" dirty="0">
                          <a:solidFill>
                            <a:schemeClr val="bg1"/>
                          </a:solidFill>
                        </a:rPr>
                        <a:t> on Actual sales</a:t>
                      </a:r>
                    </a:p>
                  </a:txBody>
                  <a:tcPr>
                    <a:noFill/>
                  </a:tcPr>
                </a:tc>
                <a:tc>
                  <a:txBody>
                    <a:bodyPr/>
                    <a:lstStyle/>
                    <a:p>
                      <a:pPr algn="ctr"/>
                      <a:r>
                        <a:rPr lang="en-US" sz="1600" dirty="0">
                          <a:solidFill>
                            <a:schemeClr val="bg1"/>
                          </a:solidFill>
                          <a:latin typeface="Arial" panose="020B0604020202020204" pitchFamily="34" charset="0"/>
                          <a:cs typeface="Arial" panose="020B0604020202020204" pitchFamily="34" charset="0"/>
                        </a:rPr>
                        <a:t>₹</a:t>
                      </a:r>
                      <a:r>
                        <a:rPr lang="en-US" dirty="0">
                          <a:solidFill>
                            <a:schemeClr val="bg1"/>
                          </a:solidFill>
                        </a:rPr>
                        <a:t>30000/-</a:t>
                      </a:r>
                    </a:p>
                  </a:txBody>
                  <a:tcPr>
                    <a:noFill/>
                  </a:tcPr>
                </a:tc>
                <a:tc>
                  <a:txBody>
                    <a:bodyPr/>
                    <a:lstStyle/>
                    <a:p>
                      <a:r>
                        <a:rPr lang="en-US" sz="1400" dirty="0">
                          <a:solidFill>
                            <a:schemeClr val="bg1"/>
                          </a:solidFill>
                        </a:rPr>
                        <a:t>On Expected Sale 3 Lac pm</a:t>
                      </a:r>
                    </a:p>
                  </a:txBody>
                  <a:tcPr>
                    <a:noFill/>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10% Royalty from </a:t>
                      </a:r>
                      <a:r>
                        <a:rPr lang="en-US" b="1" dirty="0">
                          <a:solidFill>
                            <a:srgbClr val="16DB65"/>
                          </a:solidFill>
                        </a:rPr>
                        <a:t>Internet Kitchen </a:t>
                      </a:r>
                      <a:r>
                        <a:rPr lang="en-US" dirty="0">
                          <a:solidFill>
                            <a:schemeClr val="bg1"/>
                          </a:solidFill>
                        </a:rPr>
                        <a:t>on Actual sales</a:t>
                      </a:r>
                    </a:p>
                  </a:txBody>
                  <a:tcPr>
                    <a:noFill/>
                  </a:tcPr>
                </a:tc>
                <a:tc>
                  <a:txBody>
                    <a:bodyPr/>
                    <a:lstStyle/>
                    <a:p>
                      <a:pPr algn="ctr"/>
                      <a:r>
                        <a:rPr lang="en-US" sz="1600" dirty="0">
                          <a:solidFill>
                            <a:schemeClr val="bg1"/>
                          </a:solidFill>
                          <a:latin typeface="Arial" panose="020B0604020202020204" pitchFamily="34" charset="0"/>
                          <a:cs typeface="Arial" panose="020B0604020202020204" pitchFamily="34" charset="0"/>
                        </a:rPr>
                        <a:t>₹</a:t>
                      </a:r>
                      <a:r>
                        <a:rPr lang="en-US" dirty="0">
                          <a:solidFill>
                            <a:schemeClr val="bg1"/>
                          </a:solidFill>
                        </a:rPr>
                        <a:t>60,000/-</a:t>
                      </a:r>
                      <a:endParaRPr lang="en-US" dirty="0"/>
                    </a:p>
                  </a:txBody>
                  <a:tcP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On Expected Sale 6 Lac pm</a:t>
                      </a:r>
                    </a:p>
                  </a:txBody>
                  <a:tcPr>
                    <a:no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10% Royalty from </a:t>
                      </a:r>
                      <a:r>
                        <a:rPr lang="en-US" b="1" dirty="0">
                          <a:solidFill>
                            <a:srgbClr val="16DB65"/>
                          </a:solidFill>
                        </a:rPr>
                        <a:t>Tiffin Box </a:t>
                      </a:r>
                      <a:r>
                        <a:rPr lang="en-US" dirty="0">
                          <a:solidFill>
                            <a:schemeClr val="bg1"/>
                          </a:solidFill>
                        </a:rPr>
                        <a:t>on Actual sales</a:t>
                      </a:r>
                    </a:p>
                  </a:txBody>
                  <a:tcPr>
                    <a:noFill/>
                  </a:tcPr>
                </a:tc>
                <a:tc>
                  <a:txBody>
                    <a:bodyPr/>
                    <a:lstStyle/>
                    <a:p>
                      <a:pPr algn="ctr"/>
                      <a:r>
                        <a:rPr lang="en-US" sz="1600" dirty="0">
                          <a:solidFill>
                            <a:schemeClr val="bg1"/>
                          </a:solidFill>
                          <a:latin typeface="Arial" panose="020B0604020202020204" pitchFamily="34" charset="0"/>
                          <a:cs typeface="Arial" panose="020B0604020202020204" pitchFamily="34" charset="0"/>
                        </a:rPr>
                        <a:t>₹</a:t>
                      </a:r>
                      <a:r>
                        <a:rPr lang="en-US" dirty="0">
                          <a:solidFill>
                            <a:schemeClr val="bg1"/>
                          </a:solidFill>
                        </a:rPr>
                        <a:t>15,000/-</a:t>
                      </a:r>
                      <a:endParaRPr lang="en-US" dirty="0"/>
                    </a:p>
                  </a:txBody>
                  <a:tcP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On Expected Sale 1.5 Lac pm</a:t>
                      </a:r>
                    </a:p>
                  </a:txBody>
                  <a:tcPr>
                    <a:noFill/>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10% Royalty from </a:t>
                      </a:r>
                      <a:r>
                        <a:rPr lang="en-US" b="1" dirty="0">
                          <a:solidFill>
                            <a:srgbClr val="16DB65"/>
                          </a:solidFill>
                        </a:rPr>
                        <a:t>Gravy Mix </a:t>
                      </a:r>
                      <a:r>
                        <a:rPr lang="en-US" dirty="0">
                          <a:solidFill>
                            <a:schemeClr val="bg1"/>
                          </a:solidFill>
                        </a:rPr>
                        <a:t>on Actual sales</a:t>
                      </a:r>
                    </a:p>
                  </a:txBody>
                  <a:tcPr>
                    <a:lnB w="38100" cmpd="sng">
                      <a:noFill/>
                    </a:lnB>
                    <a:noFill/>
                  </a:tcPr>
                </a:tc>
                <a:tc>
                  <a:txBody>
                    <a:bodyPr/>
                    <a:lstStyle/>
                    <a:p>
                      <a:pPr algn="ctr"/>
                      <a:r>
                        <a:rPr lang="en-US" sz="1600" dirty="0">
                          <a:solidFill>
                            <a:schemeClr val="bg1"/>
                          </a:solidFill>
                          <a:latin typeface="Arial" panose="020B0604020202020204" pitchFamily="34" charset="0"/>
                          <a:cs typeface="Arial" panose="020B0604020202020204" pitchFamily="34" charset="0"/>
                        </a:rPr>
                        <a:t>₹</a:t>
                      </a:r>
                      <a:r>
                        <a:rPr lang="en-US" dirty="0">
                          <a:solidFill>
                            <a:schemeClr val="bg1"/>
                          </a:solidFill>
                        </a:rPr>
                        <a:t>4500/-</a:t>
                      </a:r>
                      <a:endParaRPr lang="en-US" dirty="0"/>
                    </a:p>
                  </a:txBody>
                  <a:tcPr>
                    <a:lnB w="38100" cmpd="sng">
                      <a:noFill/>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On Expected Sale 0.45 Lac pm</a:t>
                      </a:r>
                    </a:p>
                  </a:txBody>
                  <a:tcPr>
                    <a:lnB w="38100" cmpd="sng">
                      <a:noFill/>
                    </a:lnB>
                    <a:noFill/>
                  </a:tcPr>
                </a:tc>
                <a:extLst>
                  <a:ext uri="{0D108BD9-81ED-4DB2-BD59-A6C34878D82A}">
                    <a16:rowId xmlns:a16="http://schemas.microsoft.com/office/drawing/2014/main" val="10004"/>
                  </a:ext>
                </a:extLst>
              </a:tr>
              <a:tr h="370840">
                <a:tc>
                  <a:txBody>
                    <a:bodyPr/>
                    <a:lstStyle/>
                    <a:p>
                      <a:r>
                        <a:rPr lang="en-US" dirty="0"/>
                        <a:t>Total</a:t>
                      </a:r>
                    </a:p>
                  </a:txBody>
                  <a:tcPr>
                    <a:lnL w="12700" cmpd="sng">
                      <a:noFill/>
                    </a:lnL>
                    <a:lnR w="1270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F95050"/>
                    </a:solidFill>
                  </a:tcPr>
                </a:tc>
                <a:tc>
                  <a:txBody>
                    <a:bodyPr/>
                    <a:lstStyle/>
                    <a:p>
                      <a:pPr algn="ctr"/>
                      <a:r>
                        <a:rPr lang="en-US" sz="1600" b="1" dirty="0">
                          <a:solidFill>
                            <a:srgbClr val="16DB65"/>
                          </a:solidFill>
                          <a:latin typeface="Arial" panose="020B0604020202020204" pitchFamily="34" charset="0"/>
                          <a:cs typeface="Arial" panose="020B0604020202020204" pitchFamily="34" charset="0"/>
                        </a:rPr>
                        <a:t>(ii) </a:t>
                      </a:r>
                      <a:r>
                        <a:rPr lang="en-US" sz="1600" b="0" dirty="0">
                          <a:solidFill>
                            <a:schemeClr val="bg1"/>
                          </a:solidFill>
                          <a:latin typeface="Arial" panose="020B0604020202020204" pitchFamily="34" charset="0"/>
                          <a:cs typeface="Arial" panose="020B0604020202020204" pitchFamily="34" charset="0"/>
                        </a:rPr>
                        <a:t>₹</a:t>
                      </a:r>
                      <a:r>
                        <a:rPr lang="en-US" dirty="0"/>
                        <a:t>1,09,500/-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F95050"/>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F95050"/>
                    </a:solidFill>
                  </a:tcPr>
                </a:tc>
                <a:extLst>
                  <a:ext uri="{0D108BD9-81ED-4DB2-BD59-A6C34878D82A}">
                    <a16:rowId xmlns:a16="http://schemas.microsoft.com/office/drawing/2014/main" val="10005"/>
                  </a:ext>
                </a:extLst>
              </a:tr>
            </a:tbl>
          </a:graphicData>
        </a:graphic>
      </p:graphicFrame>
      <p:sp>
        <p:nvSpPr>
          <p:cNvPr id="15" name="Rectangle 14"/>
          <p:cNvSpPr/>
          <p:nvPr/>
        </p:nvSpPr>
        <p:spPr>
          <a:xfrm>
            <a:off x="2043578" y="1754901"/>
            <a:ext cx="7661190" cy="400110"/>
          </a:xfrm>
          <a:prstGeom prst="rect">
            <a:avLst/>
          </a:prstGeom>
        </p:spPr>
        <p:txBody>
          <a:bodyPr wrap="square">
            <a:spAutoFit/>
          </a:bodyPr>
          <a:lstStyle/>
          <a:p>
            <a:pPr algn="ctr"/>
            <a:r>
              <a:rPr lang="en-US" sz="2000" b="1" i="1" dirty="0">
                <a:solidFill>
                  <a:srgbClr val="FFFF00"/>
                </a:solidFill>
                <a:latin typeface="Bricolage Grotesque 14pt" panose="020B0605040402000204" pitchFamily="34" charset="0"/>
              </a:rPr>
              <a:t>Other Income to QSR by Our Other Products</a:t>
            </a:r>
          </a:p>
        </p:txBody>
      </p:sp>
      <p:grpSp>
        <p:nvGrpSpPr>
          <p:cNvPr id="6" name="Group 5">
            <a:extLst>
              <a:ext uri="{FF2B5EF4-FFF2-40B4-BE49-F238E27FC236}">
                <a16:creationId xmlns:a16="http://schemas.microsoft.com/office/drawing/2014/main" id="{28CEA282-7650-BF1C-FE3B-CA6D7431B2FB}"/>
              </a:ext>
            </a:extLst>
          </p:cNvPr>
          <p:cNvGrpSpPr/>
          <p:nvPr/>
        </p:nvGrpSpPr>
        <p:grpSpPr>
          <a:xfrm>
            <a:off x="575266" y="5176366"/>
            <a:ext cx="11348032" cy="933682"/>
            <a:chOff x="-1611854" y="8506044"/>
            <a:chExt cx="20929375" cy="1722008"/>
          </a:xfrm>
        </p:grpSpPr>
        <p:sp>
          <p:nvSpPr>
            <p:cNvPr id="7" name="Rectangle 6">
              <a:extLst>
                <a:ext uri="{FF2B5EF4-FFF2-40B4-BE49-F238E27FC236}">
                  <a16:creationId xmlns:a16="http://schemas.microsoft.com/office/drawing/2014/main" id="{3161372E-736C-7D09-CC17-56A7E87D77DF}"/>
                </a:ext>
              </a:extLst>
            </p:cNvPr>
            <p:cNvSpPr/>
            <p:nvPr/>
          </p:nvSpPr>
          <p:spPr>
            <a:xfrm>
              <a:off x="-1611854" y="9075636"/>
              <a:ext cx="1238245" cy="1152416"/>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F234ADA-F564-BF13-9818-D9C3607A2CBD}"/>
                </a:ext>
              </a:extLst>
            </p:cNvPr>
            <p:cNvSpPr/>
            <p:nvPr/>
          </p:nvSpPr>
          <p:spPr>
            <a:xfrm>
              <a:off x="-1469399" y="8506044"/>
              <a:ext cx="20786920" cy="1616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i="0" u="none" strike="noStrike" kern="1200" baseline="0" dirty="0">
                  <a:solidFill>
                    <a:srgbClr val="92D050"/>
                  </a:solidFill>
                  <a:effectLst/>
                  <a:latin typeface="Bricolage Grotesque 14pt" panose="020B0605040402000204"/>
                </a:rPr>
                <a:t>Expected Net Monthly Profit </a:t>
              </a:r>
              <a:r>
                <a:rPr lang="en-US" sz="1800" b="1" i="0" u="none" strike="noStrike" kern="1200" dirty="0">
                  <a:solidFill>
                    <a:srgbClr val="FF0000"/>
                  </a:solidFill>
                  <a:effectLst/>
                  <a:latin typeface="Bricolage Grotesque 14pt" panose="020B0605040402000204"/>
                </a:rPr>
                <a:t>(</a:t>
              </a:r>
              <a:r>
                <a:rPr lang="en-US" sz="1800" b="1" i="0" u="none" strike="noStrike" kern="1200" dirty="0" err="1">
                  <a:solidFill>
                    <a:srgbClr val="FF0000"/>
                  </a:solidFill>
                  <a:effectLst/>
                  <a:latin typeface="Bricolage Grotesque 14pt" panose="020B0605040402000204"/>
                </a:rPr>
                <a:t>i</a:t>
              </a:r>
              <a:r>
                <a:rPr lang="en-US" sz="1800" b="1" i="0" u="none" strike="noStrike" kern="1200" dirty="0">
                  <a:solidFill>
                    <a:srgbClr val="FF0000"/>
                  </a:solidFill>
                  <a:effectLst/>
                  <a:latin typeface="Bricolage Grotesque 14pt" panose="020B0605040402000204"/>
                </a:rPr>
                <a:t>)</a:t>
              </a:r>
              <a:r>
                <a:rPr lang="en-US" sz="1800" b="0" i="0" u="none" strike="noStrike" kern="1200" baseline="0" dirty="0">
                  <a:solidFill>
                    <a:srgbClr val="FF0000"/>
                  </a:solidFill>
                  <a:effectLst/>
                  <a:latin typeface="Bricolage Grotesque 14pt" panose="020B0605040402000204"/>
                </a:rPr>
                <a:t> </a:t>
              </a:r>
              <a:r>
                <a:rPr lang="pt-BR" sz="1800" b="0" i="0" u="none" strike="noStrike" kern="1200" dirty="0">
                  <a:solidFill>
                    <a:srgbClr val="92D050"/>
                  </a:solidFill>
                  <a:effectLst/>
                  <a:latin typeface="Arial" panose="020B0604020202020204" pitchFamily="34" charset="0"/>
                  <a:cs typeface="Arial" panose="020B0604020202020204" pitchFamily="34" charset="0"/>
                </a:rPr>
                <a:t>₹</a:t>
              </a:r>
              <a:r>
                <a:rPr lang="en-US" sz="1800" b="1" i="0" u="none" strike="noStrike" kern="1200" baseline="0" dirty="0">
                  <a:solidFill>
                    <a:srgbClr val="92D050"/>
                  </a:solidFill>
                  <a:effectLst/>
                  <a:latin typeface="Bricolage Grotesque 14pt" panose="020B0605040402000204"/>
                </a:rPr>
                <a:t>4,51,500 </a:t>
              </a:r>
              <a:r>
                <a:rPr lang="en-US" sz="1800" b="1" i="0" u="none" strike="noStrike" kern="1200" dirty="0">
                  <a:solidFill>
                    <a:srgbClr val="92D050"/>
                  </a:solidFill>
                  <a:effectLst/>
                  <a:latin typeface="Bricolage Grotesque 14pt" panose="020B0605040402000204"/>
                </a:rPr>
                <a:t>+ Other Income </a:t>
              </a:r>
              <a:r>
                <a:rPr lang="en-US" sz="1800" b="1" i="0" u="none" strike="noStrike" kern="1200" dirty="0">
                  <a:solidFill>
                    <a:srgbClr val="FF0000"/>
                  </a:solidFill>
                  <a:effectLst/>
                  <a:latin typeface="Bricolage Grotesque 14pt" panose="020B0605040402000204"/>
                </a:rPr>
                <a:t>(ii) </a:t>
              </a:r>
              <a:r>
                <a:rPr lang="pt-BR" sz="1800" b="0" i="0" u="none" strike="noStrike" kern="1200" dirty="0">
                  <a:solidFill>
                    <a:srgbClr val="92D050"/>
                  </a:solidFill>
                  <a:effectLst/>
                  <a:latin typeface="Arial" panose="020B0604020202020204" pitchFamily="34" charset="0"/>
                  <a:cs typeface="Arial" panose="020B0604020202020204" pitchFamily="34" charset="0"/>
                </a:rPr>
                <a:t>₹</a:t>
              </a:r>
              <a:r>
                <a:rPr lang="en-US" sz="1800" b="1" i="0" u="none" strike="noStrike" kern="1200" dirty="0">
                  <a:solidFill>
                    <a:srgbClr val="92D050"/>
                  </a:solidFill>
                  <a:effectLst/>
                  <a:latin typeface="Bricolage Grotesque 14pt" panose="020B0605040402000204"/>
                </a:rPr>
                <a:t>1,09,500  </a:t>
              </a:r>
              <a:r>
                <a:rPr lang="en-US" sz="1800" b="1" i="0" u="none" strike="noStrike" kern="1200" dirty="0">
                  <a:solidFill>
                    <a:srgbClr val="F95050"/>
                  </a:solidFill>
                  <a:effectLst/>
                  <a:latin typeface="Bricolage Grotesque 14pt" panose="020B0605040402000204"/>
                </a:rPr>
                <a:t>= </a:t>
              </a:r>
              <a:r>
                <a:rPr lang="en-US" sz="1800" b="0" i="0" u="none" strike="noStrike" kern="1200" dirty="0">
                  <a:solidFill>
                    <a:srgbClr val="FF0000"/>
                  </a:solidFill>
                  <a:effectLst/>
                  <a:latin typeface="Arial" panose="020B0604020202020204" pitchFamily="34" charset="0"/>
                  <a:cs typeface="Arial" panose="020B0604020202020204" pitchFamily="34" charset="0"/>
                </a:rPr>
                <a:t>₹</a:t>
              </a:r>
              <a:r>
                <a:rPr lang="en-US" sz="1800" b="1" i="0" u="none" strike="noStrike" kern="1200" dirty="0">
                  <a:solidFill>
                    <a:srgbClr val="FF0000"/>
                  </a:solidFill>
                  <a:effectLst/>
                  <a:latin typeface="Calibri" panose="020F0502020204030204" pitchFamily="34" charset="0"/>
                </a:rPr>
                <a:t>5,61,000/- pm</a:t>
              </a:r>
              <a:endParaRPr lang="en-IN" sz="1800" b="0" i="0" u="none" strike="noStrike" dirty="0">
                <a:solidFill>
                  <a:srgbClr val="FF0000"/>
                </a:solidFill>
                <a:effectLst/>
                <a:latin typeface="Arial" panose="020B0604020202020204" pitchFamily="34" charset="0"/>
              </a:endParaRPr>
            </a:p>
          </p:txBody>
        </p:sp>
      </p:grpSp>
      <p:sp>
        <p:nvSpPr>
          <p:cNvPr id="4" name="TextBox 3">
            <a:extLst>
              <a:ext uri="{FF2B5EF4-FFF2-40B4-BE49-F238E27FC236}">
                <a16:creationId xmlns:a16="http://schemas.microsoft.com/office/drawing/2014/main" id="{C2CC5123-FB69-5D89-71AB-5A79FE8F38FC}"/>
              </a:ext>
            </a:extLst>
          </p:cNvPr>
          <p:cNvSpPr txBox="1"/>
          <p:nvPr/>
        </p:nvSpPr>
        <p:spPr>
          <a:xfrm>
            <a:off x="8500871" y="6315809"/>
            <a:ext cx="4300151" cy="230832"/>
          </a:xfrm>
          <a:prstGeom prst="rect">
            <a:avLst/>
          </a:prstGeom>
          <a:noFill/>
        </p:spPr>
        <p:txBody>
          <a:bodyPr wrap="square" rtlCol="0">
            <a:spAutoFit/>
          </a:bodyPr>
          <a:lstStyle/>
          <a:p>
            <a:pPr algn="ctr"/>
            <a:r>
              <a:rPr lang="en-US" sz="900" b="1" dirty="0">
                <a:solidFill>
                  <a:srgbClr val="F95050"/>
                </a:solidFill>
                <a:latin typeface="Bricolage Grotesque 14pt" panose="020B0605040402000204" pitchFamily="34" charset="0"/>
              </a:rPr>
              <a:t>This figure is only for illustration purpose actuals may vary </a:t>
            </a:r>
          </a:p>
        </p:txBody>
      </p:sp>
    </p:spTree>
    <p:extLst>
      <p:ext uri="{BB962C8B-B14F-4D97-AF65-F5344CB8AC3E}">
        <p14:creationId xmlns:p14="http://schemas.microsoft.com/office/powerpoint/2010/main" val="21336885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1+#ppt_w/2"/>
                                          </p:val>
                                        </p:tav>
                                        <p:tav tm="100000">
                                          <p:val>
                                            <p:strVal val="#ppt_x"/>
                                          </p:val>
                                        </p:tav>
                                      </p:tavLst>
                                    </p:anim>
                                    <p:anim calcmode="lin" valueType="num">
                                      <p:cBhvr additive="base">
                                        <p:cTn id="3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15"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94034" y="444267"/>
            <a:ext cx="490374" cy="490374"/>
          </a:xfrm>
          <a:prstGeom prst="rect">
            <a:avLst/>
          </a:prstGeom>
        </p:spPr>
      </p:pic>
      <p:sp>
        <p:nvSpPr>
          <p:cNvPr id="3" name="Right Triangle 2"/>
          <p:cNvSpPr/>
          <p:nvPr/>
        </p:nvSpPr>
        <p:spPr>
          <a:xfrm>
            <a:off x="0"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Triangle 29"/>
          <p:cNvSpPr/>
          <p:nvPr/>
        </p:nvSpPr>
        <p:spPr>
          <a:xfrm rot="-5400000">
            <a:off x="10396069"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4B1C45F8-40C5-657A-8F6A-87E23F35D73B}"/>
              </a:ext>
            </a:extLst>
          </p:cNvPr>
          <p:cNvSpPr txBox="1"/>
          <p:nvPr/>
        </p:nvSpPr>
        <p:spPr>
          <a:xfrm>
            <a:off x="1886467" y="444267"/>
            <a:ext cx="8419068" cy="1173398"/>
          </a:xfrm>
          <a:prstGeom prst="rect">
            <a:avLst/>
          </a:prstGeom>
          <a:noFill/>
        </p:spPr>
        <p:txBody>
          <a:bodyPr wrap="square" rtlCol="0">
            <a:spAutoFit/>
          </a:bodyPr>
          <a:lstStyle/>
          <a:p>
            <a:pPr algn="ctr">
              <a:lnSpc>
                <a:spcPts val="4200"/>
              </a:lnSpc>
            </a:pP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Multiple Brands:</a:t>
            </a:r>
          </a:p>
          <a:p>
            <a:pPr algn="ctr">
              <a:lnSpc>
                <a:spcPts val="4200"/>
              </a:lnSpc>
            </a:pP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QSR &amp; Trolley (VEG)</a:t>
            </a:r>
          </a:p>
        </p:txBody>
      </p:sp>
      <p:sp>
        <p:nvSpPr>
          <p:cNvPr id="47" name="Rounded Rectangle 46"/>
          <p:cNvSpPr/>
          <p:nvPr/>
        </p:nvSpPr>
        <p:spPr>
          <a:xfrm>
            <a:off x="398331" y="1964326"/>
            <a:ext cx="1400838" cy="1375128"/>
          </a:xfrm>
          <a:prstGeom prst="roundRect">
            <a:avLst/>
          </a:prstGeom>
          <a:blipFill dpi="0" rotWithShape="1">
            <a:blip r:embed="rId3"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3" name="Rounded Rectangle 52"/>
          <p:cNvSpPr/>
          <p:nvPr/>
        </p:nvSpPr>
        <p:spPr>
          <a:xfrm>
            <a:off x="2064081" y="1964326"/>
            <a:ext cx="1400838" cy="1375128"/>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4" name="Rounded Rectangle 53"/>
          <p:cNvSpPr/>
          <p:nvPr/>
        </p:nvSpPr>
        <p:spPr>
          <a:xfrm>
            <a:off x="3729832" y="1964326"/>
            <a:ext cx="1400838" cy="1375128"/>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5" name="Rounded Rectangle 54"/>
          <p:cNvSpPr/>
          <p:nvPr/>
        </p:nvSpPr>
        <p:spPr>
          <a:xfrm>
            <a:off x="5395582" y="1964326"/>
            <a:ext cx="1400838" cy="1375128"/>
          </a:xfrm>
          <a:prstGeom prst="roundRect">
            <a:avLst/>
          </a:prstGeom>
          <a:blipFill dpi="0" rotWithShape="1">
            <a:blip r:embed="rId6"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6" name="Rounded Rectangle 55"/>
          <p:cNvSpPr/>
          <p:nvPr/>
        </p:nvSpPr>
        <p:spPr>
          <a:xfrm>
            <a:off x="7061332" y="1964326"/>
            <a:ext cx="1400838" cy="1375128"/>
          </a:xfrm>
          <a:prstGeom prst="roundRect">
            <a:avLst/>
          </a:prstGeom>
          <a:blipFill dpi="0" rotWithShape="1">
            <a:blip r:embed="rId7"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7" name="Rounded Rectangle 56"/>
          <p:cNvSpPr/>
          <p:nvPr/>
        </p:nvSpPr>
        <p:spPr>
          <a:xfrm>
            <a:off x="8727083" y="1964326"/>
            <a:ext cx="1400838" cy="1375128"/>
          </a:xfrm>
          <a:prstGeom prst="roundRect">
            <a:avLst/>
          </a:prstGeom>
          <a:blipFill dpi="0" rotWithShape="1">
            <a:blip r:embed="rId8" cstate="print">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solidFill>
                <a:srgbClr val="000000"/>
              </a:solidFill>
            </a:endParaRPr>
          </a:p>
        </p:txBody>
      </p:sp>
      <p:sp>
        <p:nvSpPr>
          <p:cNvPr id="58" name="Rounded Rectangle 57"/>
          <p:cNvSpPr/>
          <p:nvPr/>
        </p:nvSpPr>
        <p:spPr>
          <a:xfrm>
            <a:off x="10392832" y="1964326"/>
            <a:ext cx="1400838" cy="1375128"/>
          </a:xfrm>
          <a:prstGeom prst="roundRect">
            <a:avLst/>
          </a:prstGeom>
          <a:blipFill>
            <a:blip r:embed="rId9"/>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9" name="Rounded Rectangle 58"/>
          <p:cNvSpPr/>
          <p:nvPr/>
        </p:nvSpPr>
        <p:spPr>
          <a:xfrm>
            <a:off x="441609" y="3616550"/>
            <a:ext cx="1400838" cy="1375128"/>
          </a:xfrm>
          <a:prstGeom prst="roundRect">
            <a:avLst/>
          </a:prstGeom>
          <a:blipFill dpi="0" rotWithShape="1">
            <a:blip r:embed="rId10" cstate="print">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0" name="Rounded Rectangle 59"/>
          <p:cNvSpPr/>
          <p:nvPr/>
        </p:nvSpPr>
        <p:spPr>
          <a:xfrm>
            <a:off x="2072122" y="3616550"/>
            <a:ext cx="1400838" cy="1375128"/>
          </a:xfrm>
          <a:prstGeom prst="roundRect">
            <a:avLst/>
          </a:prstGeom>
          <a:blipFill dpi="0" rotWithShape="1">
            <a:blip r:embed="rId11"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2" name="Rounded Rectangle 61"/>
          <p:cNvSpPr/>
          <p:nvPr/>
        </p:nvSpPr>
        <p:spPr>
          <a:xfrm>
            <a:off x="5438398" y="3690450"/>
            <a:ext cx="1400838" cy="1375128"/>
          </a:xfrm>
          <a:prstGeom prst="roundRect">
            <a:avLst/>
          </a:prstGeom>
          <a:blipFill dpi="0" rotWithShape="1">
            <a:blip r:embed="rId12"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3" name="Rounded Rectangle 62"/>
          <p:cNvSpPr/>
          <p:nvPr/>
        </p:nvSpPr>
        <p:spPr>
          <a:xfrm>
            <a:off x="7115427" y="3661175"/>
            <a:ext cx="1400838" cy="1375128"/>
          </a:xfrm>
          <a:prstGeom prst="roundRect">
            <a:avLst/>
          </a:prstGeom>
          <a:blipFill dpi="0" rotWithShape="1">
            <a:blip r:embed="rId13" cstate="print">
              <a:extLst>
                <a:ext uri="{28A0092B-C50C-407E-A947-70E740481C1C}">
                  <a14:useLocalDpi xmlns:a14="http://schemas.microsoft.com/office/drawing/2010/main" val="0"/>
                </a:ext>
              </a:extLst>
            </a:blip>
            <a:srcRect/>
            <a:stretch>
              <a:fillRect/>
            </a:stretch>
          </a:blipFill>
          <a:ln w="1270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4" name="Rounded Rectangle 63"/>
          <p:cNvSpPr/>
          <p:nvPr/>
        </p:nvSpPr>
        <p:spPr>
          <a:xfrm>
            <a:off x="8740844" y="3686115"/>
            <a:ext cx="1400838" cy="1375128"/>
          </a:xfrm>
          <a:prstGeom prst="roundRect">
            <a:avLst/>
          </a:prstGeom>
          <a:blipFill dpi="0" rotWithShape="1">
            <a:blip r:embed="rId14"/>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5" name="TextBox 64">
            <a:extLst>
              <a:ext uri="{FF2B5EF4-FFF2-40B4-BE49-F238E27FC236}">
                <a16:creationId xmlns:a16="http://schemas.microsoft.com/office/drawing/2014/main" id="{4B1C45F8-40C5-657A-8F6A-87E23F35D73B}"/>
              </a:ext>
            </a:extLst>
          </p:cNvPr>
          <p:cNvSpPr txBox="1"/>
          <p:nvPr/>
        </p:nvSpPr>
        <p:spPr>
          <a:xfrm>
            <a:off x="4712043" y="5510064"/>
            <a:ext cx="2767914" cy="461665"/>
          </a:xfrm>
          <a:prstGeom prst="rect">
            <a:avLst/>
          </a:prstGeom>
          <a:noFill/>
        </p:spPr>
        <p:txBody>
          <a:bodyPr wrap="square" rtlCol="0">
            <a:spAutoFit/>
          </a:bodyPr>
          <a:lstStyle/>
          <a:p>
            <a:pPr algn="ctr"/>
            <a:r>
              <a:rPr lang="en-US" sz="2400" b="1" dirty="0">
                <a:solidFill>
                  <a:schemeClr val="bg1"/>
                </a:solidFill>
                <a:latin typeface="Bricolage Grotesque 14pt" panose="020B0605040402000204" pitchFamily="34" charset="0"/>
                <a:ea typeface="Roboto" panose="02000000000000000000" pitchFamily="2" charset="0"/>
                <a:cs typeface="Heebo" pitchFamily="2" charset="-79"/>
              </a:rPr>
              <a:t>Choose Yours!</a:t>
            </a:r>
            <a:endParaRPr lang="en-US" sz="2400" b="1" dirty="0">
              <a:solidFill>
                <a:srgbClr val="16DB65"/>
              </a:solidFill>
              <a:latin typeface="Bricolage Grotesque 14pt" panose="020B0605040402000204" pitchFamily="34" charset="0"/>
              <a:ea typeface="Roboto" panose="02000000000000000000" pitchFamily="2" charset="0"/>
              <a:cs typeface="Heebo" pitchFamily="2" charset="-79"/>
            </a:endParaRPr>
          </a:p>
        </p:txBody>
      </p:sp>
      <p:sp>
        <p:nvSpPr>
          <p:cNvPr id="2" name="TextBox 1">
            <a:extLst>
              <a:ext uri="{FF2B5EF4-FFF2-40B4-BE49-F238E27FC236}">
                <a16:creationId xmlns:a16="http://schemas.microsoft.com/office/drawing/2014/main" id="{BFA40ECD-1DDB-D9EB-20ED-1CAB912969D9}"/>
              </a:ext>
            </a:extLst>
          </p:cNvPr>
          <p:cNvSpPr txBox="1"/>
          <p:nvPr/>
        </p:nvSpPr>
        <p:spPr>
          <a:xfrm>
            <a:off x="4206863" y="5971729"/>
            <a:ext cx="3863907" cy="369332"/>
          </a:xfrm>
          <a:prstGeom prst="rect">
            <a:avLst/>
          </a:prstGeom>
          <a:noFill/>
        </p:spPr>
        <p:txBody>
          <a:bodyPr wrap="square" rtlCol="0">
            <a:spAutoFit/>
          </a:bodyPr>
          <a:lstStyle/>
          <a:p>
            <a:pPr algn="ctr"/>
            <a:r>
              <a:rPr lang="en-US" b="1" dirty="0">
                <a:solidFill>
                  <a:srgbClr val="FFBA00"/>
                </a:solidFill>
              </a:rPr>
              <a:t>FOFO, FOCO or Whitelisting Model</a:t>
            </a:r>
          </a:p>
        </p:txBody>
      </p:sp>
      <p:sp>
        <p:nvSpPr>
          <p:cNvPr id="20" name="Rounded Rectangle 19"/>
          <p:cNvSpPr/>
          <p:nvPr/>
        </p:nvSpPr>
        <p:spPr>
          <a:xfrm>
            <a:off x="3729832" y="3666869"/>
            <a:ext cx="1400838" cy="1375128"/>
          </a:xfrm>
          <a:prstGeom prst="roundRect">
            <a:avLst/>
          </a:prstGeom>
          <a:blipFill dpi="0" rotWithShape="1">
            <a:blip r:embed="rId1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 name="Rounded Rectangle 16">
            <a:extLst>
              <a:ext uri="{FF2B5EF4-FFF2-40B4-BE49-F238E27FC236}">
                <a16:creationId xmlns:a16="http://schemas.microsoft.com/office/drawing/2014/main" id="{989D9D78-66A2-DE83-10E9-D2D0173844B7}"/>
              </a:ext>
            </a:extLst>
          </p:cNvPr>
          <p:cNvSpPr/>
          <p:nvPr/>
        </p:nvSpPr>
        <p:spPr>
          <a:xfrm>
            <a:off x="10417873" y="3690450"/>
            <a:ext cx="1400838" cy="1370793"/>
          </a:xfrm>
          <a:prstGeom prst="roundRect">
            <a:avLst/>
          </a:prstGeom>
          <a:blipFill dpi="0" rotWithShape="1">
            <a:blip r:embed="rId16"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853699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barn(inVertical)">
                                      <p:cBhvr>
                                        <p:cTn id="17" dur="500"/>
                                        <p:tgtEl>
                                          <p:spTgt spid="47"/>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barn(inVertical)">
                                      <p:cBhvr>
                                        <p:cTn id="20" dur="500"/>
                                        <p:tgtEl>
                                          <p:spTgt spid="53"/>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barn(inVertical)">
                                      <p:cBhvr>
                                        <p:cTn id="23" dur="500"/>
                                        <p:tgtEl>
                                          <p:spTgt spid="54"/>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barn(inVertical)">
                                      <p:cBhvr>
                                        <p:cTn id="26" dur="500"/>
                                        <p:tgtEl>
                                          <p:spTgt spid="55"/>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barn(inVertical)">
                                      <p:cBhvr>
                                        <p:cTn id="29" dur="500"/>
                                        <p:tgtEl>
                                          <p:spTgt spid="56"/>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barn(inVertical)">
                                      <p:cBhvr>
                                        <p:cTn id="32" dur="500"/>
                                        <p:tgtEl>
                                          <p:spTgt spid="57"/>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barn(inVertical)">
                                      <p:cBhvr>
                                        <p:cTn id="35" dur="500"/>
                                        <p:tgtEl>
                                          <p:spTgt spid="58"/>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59"/>
                                        </p:tgtEl>
                                        <p:attrNameLst>
                                          <p:attrName>style.visibility</p:attrName>
                                        </p:attrNameLst>
                                      </p:cBhvr>
                                      <p:to>
                                        <p:strVal val="visible"/>
                                      </p:to>
                                    </p:set>
                                    <p:animEffect transition="in" filter="barn(inVertical)">
                                      <p:cBhvr>
                                        <p:cTn id="38" dur="500"/>
                                        <p:tgtEl>
                                          <p:spTgt spid="59"/>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barn(inVertical)">
                                      <p:cBhvr>
                                        <p:cTn id="41" dur="500"/>
                                        <p:tgtEl>
                                          <p:spTgt spid="60"/>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barn(inVertical)">
                                      <p:cBhvr>
                                        <p:cTn id="44" dur="500"/>
                                        <p:tgtEl>
                                          <p:spTgt spid="20"/>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barn(inVertical)">
                                      <p:cBhvr>
                                        <p:cTn id="47" dur="500"/>
                                        <p:tgtEl>
                                          <p:spTgt spid="62"/>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barn(inVertical)">
                                      <p:cBhvr>
                                        <p:cTn id="50" dur="500"/>
                                        <p:tgtEl>
                                          <p:spTgt spid="63"/>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64"/>
                                        </p:tgtEl>
                                        <p:attrNameLst>
                                          <p:attrName>style.visibility</p:attrName>
                                        </p:attrNameLst>
                                      </p:cBhvr>
                                      <p:to>
                                        <p:strVal val="visible"/>
                                      </p:to>
                                    </p:set>
                                    <p:animEffect transition="in" filter="barn(inVertical)">
                                      <p:cBhvr>
                                        <p:cTn id="53" dur="500"/>
                                        <p:tgtEl>
                                          <p:spTgt spid="64"/>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barn(inVertical)">
                                      <p:cBhvr>
                                        <p:cTn id="56" dur="500"/>
                                        <p:tgtEl>
                                          <p:spTgt spid="5"/>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65"/>
                                        </p:tgtEl>
                                        <p:attrNameLst>
                                          <p:attrName>style.visibility</p:attrName>
                                        </p:attrNameLst>
                                      </p:cBhvr>
                                      <p:to>
                                        <p:strVal val="visible"/>
                                      </p:to>
                                    </p:set>
                                    <p:animEffect transition="in" filter="fade">
                                      <p:cBhvr>
                                        <p:cTn id="61" dur="1000"/>
                                        <p:tgtEl>
                                          <p:spTgt spid="65"/>
                                        </p:tgtEl>
                                      </p:cBhvr>
                                    </p:animEffect>
                                    <p:anim calcmode="lin" valueType="num">
                                      <p:cBhvr>
                                        <p:cTn id="62" dur="1000" fill="hold"/>
                                        <p:tgtEl>
                                          <p:spTgt spid="65"/>
                                        </p:tgtEl>
                                        <p:attrNameLst>
                                          <p:attrName>ppt_x</p:attrName>
                                        </p:attrNameLst>
                                      </p:cBhvr>
                                      <p:tavLst>
                                        <p:tav tm="0">
                                          <p:val>
                                            <p:strVal val="#ppt_x"/>
                                          </p:val>
                                        </p:tav>
                                        <p:tav tm="100000">
                                          <p:val>
                                            <p:strVal val="#ppt_x"/>
                                          </p:val>
                                        </p:tav>
                                      </p:tavLst>
                                    </p:anim>
                                    <p:anim calcmode="lin" valueType="num">
                                      <p:cBhvr>
                                        <p:cTn id="63" dur="1000" fill="hold"/>
                                        <p:tgtEl>
                                          <p:spTgt spid="65"/>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2"/>
                                        </p:tgtEl>
                                        <p:attrNameLst>
                                          <p:attrName>style.visibility</p:attrName>
                                        </p:attrNameLst>
                                      </p:cBhvr>
                                      <p:to>
                                        <p:strVal val="visible"/>
                                      </p:to>
                                    </p:set>
                                    <p:animEffect transition="in" filter="fade">
                                      <p:cBhvr>
                                        <p:cTn id="66" dur="1000"/>
                                        <p:tgtEl>
                                          <p:spTgt spid="2"/>
                                        </p:tgtEl>
                                      </p:cBhvr>
                                    </p:animEffect>
                                    <p:anim calcmode="lin" valueType="num">
                                      <p:cBhvr>
                                        <p:cTn id="67" dur="1000" fill="hold"/>
                                        <p:tgtEl>
                                          <p:spTgt spid="2"/>
                                        </p:tgtEl>
                                        <p:attrNameLst>
                                          <p:attrName>ppt_x</p:attrName>
                                        </p:attrNameLst>
                                      </p:cBhvr>
                                      <p:tavLst>
                                        <p:tav tm="0">
                                          <p:val>
                                            <p:strVal val="#ppt_x"/>
                                          </p:val>
                                        </p:tav>
                                        <p:tav tm="100000">
                                          <p:val>
                                            <p:strVal val="#ppt_x"/>
                                          </p:val>
                                        </p:tav>
                                      </p:tavLst>
                                    </p:anim>
                                    <p:anim calcmode="lin" valueType="num">
                                      <p:cBhvr>
                                        <p:cTn id="6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animBg="1"/>
      <p:bldP spid="53" grpId="0" animBg="1"/>
      <p:bldP spid="54" grpId="0" animBg="1"/>
      <p:bldP spid="55" grpId="0" animBg="1"/>
      <p:bldP spid="56" grpId="0" animBg="1"/>
      <p:bldP spid="57" grpId="0" animBg="1"/>
      <p:bldP spid="58" grpId="0" animBg="1"/>
      <p:bldP spid="59" grpId="0" animBg="1"/>
      <p:bldP spid="60" grpId="0" animBg="1"/>
      <p:bldP spid="62" grpId="0" animBg="1"/>
      <p:bldP spid="63" grpId="0" animBg="1"/>
      <p:bldP spid="64" grpId="0" animBg="1"/>
      <p:bldP spid="65" grpId="0"/>
      <p:bldP spid="2" grpId="0"/>
      <p:bldP spid="20"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ight Triangle 2"/>
          <p:cNvSpPr/>
          <p:nvPr/>
        </p:nvSpPr>
        <p:spPr>
          <a:xfrm>
            <a:off x="0"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Triangle 29"/>
          <p:cNvSpPr/>
          <p:nvPr/>
        </p:nvSpPr>
        <p:spPr>
          <a:xfrm rot="-5400000">
            <a:off x="10396069"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B1C45F8-40C5-657A-8F6A-87E23F35D73B}"/>
              </a:ext>
            </a:extLst>
          </p:cNvPr>
          <p:cNvSpPr txBox="1"/>
          <p:nvPr/>
        </p:nvSpPr>
        <p:spPr>
          <a:xfrm>
            <a:off x="4712043" y="5510064"/>
            <a:ext cx="2767914" cy="461665"/>
          </a:xfrm>
          <a:prstGeom prst="rect">
            <a:avLst/>
          </a:prstGeom>
          <a:noFill/>
        </p:spPr>
        <p:txBody>
          <a:bodyPr wrap="square" rtlCol="0">
            <a:spAutoFit/>
          </a:bodyPr>
          <a:lstStyle/>
          <a:p>
            <a:pPr algn="ctr"/>
            <a:r>
              <a:rPr lang="en-US" sz="2400" b="1" dirty="0">
                <a:solidFill>
                  <a:schemeClr val="bg1"/>
                </a:solidFill>
                <a:latin typeface="Bricolage Grotesque 14pt" panose="020B0605040402000204" pitchFamily="34" charset="0"/>
                <a:ea typeface="Roboto" panose="02000000000000000000" pitchFamily="2" charset="0"/>
                <a:cs typeface="Heebo" pitchFamily="2" charset="-79"/>
              </a:rPr>
              <a:t>Choose Yours!</a:t>
            </a:r>
            <a:endParaRPr lang="en-US" sz="2400" b="1" dirty="0">
              <a:solidFill>
                <a:srgbClr val="16DB65"/>
              </a:solidFill>
              <a:latin typeface="Bricolage Grotesque 14pt" panose="020B0605040402000204" pitchFamily="34" charset="0"/>
              <a:ea typeface="Roboto" panose="02000000000000000000" pitchFamily="2" charset="0"/>
              <a:cs typeface="Heebo" pitchFamily="2" charset="-79"/>
            </a:endParaRPr>
          </a:p>
        </p:txBody>
      </p:sp>
      <p:sp>
        <p:nvSpPr>
          <p:cNvPr id="24" name="TextBox 23">
            <a:extLst>
              <a:ext uri="{FF2B5EF4-FFF2-40B4-BE49-F238E27FC236}">
                <a16:creationId xmlns:a16="http://schemas.microsoft.com/office/drawing/2014/main" id="{4B1C45F8-40C5-657A-8F6A-87E23F35D73B}"/>
              </a:ext>
            </a:extLst>
          </p:cNvPr>
          <p:cNvSpPr txBox="1"/>
          <p:nvPr/>
        </p:nvSpPr>
        <p:spPr>
          <a:xfrm>
            <a:off x="1886467" y="444267"/>
            <a:ext cx="8419068" cy="1173398"/>
          </a:xfrm>
          <a:prstGeom prst="rect">
            <a:avLst/>
          </a:prstGeom>
          <a:noFill/>
        </p:spPr>
        <p:txBody>
          <a:bodyPr wrap="square" rtlCol="0">
            <a:spAutoFit/>
          </a:bodyPr>
          <a:lstStyle/>
          <a:p>
            <a:pPr algn="ctr">
              <a:lnSpc>
                <a:spcPts val="4200"/>
              </a:lnSpc>
            </a:pP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Multiple Brands:</a:t>
            </a:r>
          </a:p>
          <a:p>
            <a:pPr algn="ctr">
              <a:lnSpc>
                <a:spcPts val="4200"/>
              </a:lnSpc>
            </a:pP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QSR &amp; Trolley </a:t>
            </a:r>
            <a:r>
              <a:rPr lang="en-US" sz="4000" b="1" dirty="0">
                <a:solidFill>
                  <a:srgbClr val="FF0000"/>
                </a:solidFill>
                <a:latin typeface="Bricolage Grotesque 14pt" panose="020B0605040402000204" pitchFamily="34" charset="0"/>
                <a:ea typeface="Roboto" panose="02000000000000000000" pitchFamily="2" charset="0"/>
                <a:cs typeface="Heebo" pitchFamily="2" charset="-79"/>
              </a:rPr>
              <a:t>(NON-VEG)</a:t>
            </a:r>
          </a:p>
        </p:txBody>
      </p:sp>
      <p:pic>
        <p:nvPicPr>
          <p:cNvPr id="25" name="Picture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94034" y="444267"/>
            <a:ext cx="490374" cy="490374"/>
          </a:xfrm>
          <a:prstGeom prst="rect">
            <a:avLst/>
          </a:prstGeom>
        </p:spPr>
      </p:pic>
      <p:sp>
        <p:nvSpPr>
          <p:cNvPr id="9" name="Rounded Rectangle 8"/>
          <p:cNvSpPr/>
          <p:nvPr/>
        </p:nvSpPr>
        <p:spPr>
          <a:xfrm>
            <a:off x="2480027" y="1980802"/>
            <a:ext cx="1400838" cy="1375128"/>
          </a:xfrm>
          <a:prstGeom prst="roundRect">
            <a:avLst/>
          </a:prstGeom>
          <a:blipFill dpi="0" rotWithShape="1">
            <a:blip r:embed="rId3"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0" name="Rounded Rectangle 9"/>
          <p:cNvSpPr/>
          <p:nvPr/>
        </p:nvSpPr>
        <p:spPr>
          <a:xfrm>
            <a:off x="4145777" y="1980802"/>
            <a:ext cx="1400838" cy="1375128"/>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1" name="Rounded Rectangle 10"/>
          <p:cNvSpPr/>
          <p:nvPr/>
        </p:nvSpPr>
        <p:spPr>
          <a:xfrm>
            <a:off x="5811528" y="1980802"/>
            <a:ext cx="1400838" cy="1375128"/>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2" name="Rounded Rectangle 11"/>
          <p:cNvSpPr/>
          <p:nvPr/>
        </p:nvSpPr>
        <p:spPr>
          <a:xfrm>
            <a:off x="7477278" y="1980802"/>
            <a:ext cx="1400838" cy="1375128"/>
          </a:xfrm>
          <a:prstGeom prst="roundRect">
            <a:avLst/>
          </a:prstGeom>
          <a:blipFill dpi="0" rotWithShape="1">
            <a:blip r:embed="rId6"/>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16" name="Rounded Rectangle 15"/>
          <p:cNvSpPr/>
          <p:nvPr/>
        </p:nvSpPr>
        <p:spPr>
          <a:xfrm>
            <a:off x="3311920" y="3666869"/>
            <a:ext cx="1400838" cy="1375128"/>
          </a:xfrm>
          <a:prstGeom prst="roundRect">
            <a:avLst/>
          </a:prstGeom>
          <a:blipFill dpi="0" rotWithShape="1">
            <a:blip r:embed="rId7" cstate="print">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17" name="Rounded Rectangle 16"/>
          <p:cNvSpPr/>
          <p:nvPr/>
        </p:nvSpPr>
        <p:spPr>
          <a:xfrm>
            <a:off x="4978325" y="3666869"/>
            <a:ext cx="1400838" cy="1375128"/>
          </a:xfrm>
          <a:prstGeom prst="roundRect">
            <a:avLst/>
          </a:prstGeom>
          <a:blipFill dpi="0" rotWithShape="1">
            <a:blip r:embed="rId8"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18" name="Rounded Rectangle 17"/>
          <p:cNvSpPr/>
          <p:nvPr/>
        </p:nvSpPr>
        <p:spPr>
          <a:xfrm>
            <a:off x="8311135" y="3666869"/>
            <a:ext cx="1400838" cy="1375128"/>
          </a:xfrm>
          <a:prstGeom prst="roundRect">
            <a:avLst/>
          </a:prstGeom>
          <a:blipFill dpi="0" rotWithShape="1">
            <a:blip r:embed="rId9"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26" name="Rounded Rectangle 25"/>
          <p:cNvSpPr/>
          <p:nvPr/>
        </p:nvSpPr>
        <p:spPr>
          <a:xfrm>
            <a:off x="6644730" y="3666869"/>
            <a:ext cx="1400838" cy="1375128"/>
          </a:xfrm>
          <a:prstGeom prst="roundRect">
            <a:avLst/>
          </a:prstGeom>
          <a:blipFill dpi="0" rotWithShape="1">
            <a:blip r:embed="rId10"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9" name="TextBox 18">
            <a:extLst>
              <a:ext uri="{FF2B5EF4-FFF2-40B4-BE49-F238E27FC236}">
                <a16:creationId xmlns:a16="http://schemas.microsoft.com/office/drawing/2014/main" id="{BFA40ECD-1DDB-D9EB-20ED-1CAB912969D9}"/>
              </a:ext>
            </a:extLst>
          </p:cNvPr>
          <p:cNvSpPr txBox="1"/>
          <p:nvPr/>
        </p:nvSpPr>
        <p:spPr>
          <a:xfrm>
            <a:off x="4331902" y="5965445"/>
            <a:ext cx="3814746" cy="369332"/>
          </a:xfrm>
          <a:prstGeom prst="rect">
            <a:avLst/>
          </a:prstGeom>
          <a:noFill/>
        </p:spPr>
        <p:txBody>
          <a:bodyPr wrap="square" rtlCol="0">
            <a:spAutoFit/>
          </a:bodyPr>
          <a:lstStyle/>
          <a:p>
            <a:pPr algn="ctr"/>
            <a:r>
              <a:rPr lang="en-US" b="1" dirty="0">
                <a:solidFill>
                  <a:srgbClr val="FFBA00"/>
                </a:solidFill>
              </a:rPr>
              <a:t>FOFO, FOCO or Whitelisting Model</a:t>
            </a:r>
          </a:p>
        </p:txBody>
      </p:sp>
    </p:spTree>
    <p:extLst>
      <p:ext uri="{BB962C8B-B14F-4D97-AF65-F5344CB8AC3E}">
        <p14:creationId xmlns:p14="http://schemas.microsoft.com/office/powerpoint/2010/main" val="1387513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arn(inVertical)">
                                      <p:cBhvr>
                                        <p:cTn id="20" dur="500"/>
                                        <p:tgtEl>
                                          <p:spTgt spid="10"/>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inVertical)">
                                      <p:cBhvr>
                                        <p:cTn id="23" dur="500"/>
                                        <p:tgtEl>
                                          <p:spTgt spid="11"/>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arn(inVertical)">
                                      <p:cBhvr>
                                        <p:cTn id="26" dur="500"/>
                                        <p:tgtEl>
                                          <p:spTgt spid="12"/>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barn(inVertical)">
                                      <p:cBhvr>
                                        <p:cTn id="29" dur="500"/>
                                        <p:tgtEl>
                                          <p:spTgt spid="16"/>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arn(inVertical)">
                                      <p:cBhvr>
                                        <p:cTn id="32" dur="500"/>
                                        <p:tgtEl>
                                          <p:spTgt spid="17"/>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barn(inVertical)">
                                      <p:cBhvr>
                                        <p:cTn id="35" dur="500"/>
                                        <p:tgtEl>
                                          <p:spTgt spid="18"/>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barn(inVertical)">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9" grpId="0" animBg="1"/>
      <p:bldP spid="10" grpId="0" animBg="1"/>
      <p:bldP spid="11" grpId="0" animBg="1"/>
      <p:bldP spid="12" grpId="0" animBg="1"/>
      <p:bldP spid="16" grpId="0" animBg="1"/>
      <p:bldP spid="17" grpId="0" animBg="1"/>
      <p:bldP spid="18" grpId="0" animBg="1"/>
      <p:bldP spid="26" grpId="0" animBg="1"/>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1C45F8-40C5-657A-8F6A-87E23F35D73B}"/>
              </a:ext>
            </a:extLst>
          </p:cNvPr>
          <p:cNvSpPr txBox="1"/>
          <p:nvPr/>
        </p:nvSpPr>
        <p:spPr>
          <a:xfrm>
            <a:off x="5430714" y="752036"/>
            <a:ext cx="4893732"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CHAAT</a:t>
            </a:r>
          </a:p>
        </p:txBody>
      </p:sp>
      <p:sp>
        <p:nvSpPr>
          <p:cNvPr id="4" name="Rectangle 3"/>
          <p:cNvSpPr/>
          <p:nvPr/>
        </p:nvSpPr>
        <p:spPr>
          <a:xfrm>
            <a:off x="0" y="769817"/>
            <a:ext cx="2889849" cy="5320432"/>
          </a:xfrm>
          <a:prstGeom prst="rect">
            <a:avLst/>
          </a:prstGeom>
          <a:gradFill flip="none" rotWithShape="1">
            <a:gsLst>
              <a:gs pos="0">
                <a:srgbClr val="015A6A">
                  <a:shade val="30000"/>
                  <a:satMod val="115000"/>
                </a:srgbClr>
              </a:gs>
              <a:gs pos="50000">
                <a:srgbClr val="015A6A">
                  <a:shade val="67500"/>
                  <a:satMod val="115000"/>
                </a:srgbClr>
              </a:gs>
              <a:gs pos="100000">
                <a:srgbClr val="015A6A">
                  <a:shade val="100000"/>
                  <a:satMod val="115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a:off x="222101" y="988539"/>
            <a:ext cx="2296968" cy="2253060"/>
          </a:xfrm>
          <a:prstGeom prst="round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p:cNvSpPr txBox="1"/>
          <p:nvPr/>
        </p:nvSpPr>
        <p:spPr>
          <a:xfrm>
            <a:off x="4048316" y="2482450"/>
            <a:ext cx="7720310" cy="147732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Lakhnavi Chatpati Chaat brings the vibrant flavors of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Lucknow</a:t>
            </a: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to Gujarat</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with our </a:t>
            </a:r>
            <a:r>
              <a:rPr kumimoji="0" lang="en-US" sz="1800" b="1" i="0" u="none" strike="noStrike" kern="1200" cap="none" spc="0" normalizeH="0" baseline="0" noProof="0" dirty="0">
                <a:ln>
                  <a:noFill/>
                </a:ln>
                <a:solidFill>
                  <a:srgbClr val="FFC000"/>
                </a:solidFill>
                <a:effectLst/>
                <a:uLnTx/>
                <a:uFillTx/>
                <a:latin typeface="Calibri" panose="020F0502020204030204"/>
                <a:ea typeface="+mn-ea"/>
                <a:cs typeface="+mn-cs"/>
              </a:rPr>
              <a:t>Founders and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chefs from Lucknow </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crafting each dish with hand-prepared chutneys and ingredients. Experience the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essence of Lucknow </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right here, as we use fresh, premium-quality ingredients cooked in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pure ghee </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to ensure a rich and flavorful indulgence in every bite.</a:t>
            </a:r>
            <a:endPar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endParaRPr>
          </a:p>
        </p:txBody>
      </p:sp>
      <p:sp>
        <p:nvSpPr>
          <p:cNvPr id="8" name="Rectangle 7">
            <a:extLst>
              <a:ext uri="{FF2B5EF4-FFF2-40B4-BE49-F238E27FC236}">
                <a16:creationId xmlns:a16="http://schemas.microsoft.com/office/drawing/2014/main" id="{174DAE6E-88FC-8FBA-E7AF-836600D40A41}"/>
              </a:ext>
            </a:extLst>
          </p:cNvPr>
          <p:cNvSpPr/>
          <p:nvPr/>
        </p:nvSpPr>
        <p:spPr>
          <a:xfrm>
            <a:off x="4048317" y="1961181"/>
            <a:ext cx="7658526" cy="345405"/>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9" name="TextBox 8"/>
          <p:cNvSpPr txBox="1"/>
          <p:nvPr/>
        </p:nvSpPr>
        <p:spPr>
          <a:xfrm>
            <a:off x="5218942" y="1930901"/>
            <a:ext cx="592620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Samosa, </a:t>
            </a:r>
            <a:r>
              <a:rPr kumimoji="0" lang="en-US" sz="1800" b="1" i="0" u="none" strike="noStrike" kern="1200" cap="none" spc="0" normalizeH="0" baseline="0" noProof="0" dirty="0" err="1">
                <a:ln>
                  <a:noFill/>
                </a:ln>
                <a:solidFill>
                  <a:prstClr val="white"/>
                </a:solidFill>
                <a:effectLst/>
                <a:uLnTx/>
                <a:uFillTx/>
                <a:latin typeface="Bricolage Grotesque 14pt" panose="020B0605040402000204" pitchFamily="34" charset="0"/>
                <a:ea typeface="+mn-ea"/>
                <a:cs typeface="+mn-cs"/>
              </a:rPr>
              <a:t>Tikki</a:t>
            </a:r>
            <a:r>
              <a:rPr kumimoji="0" lang="en-US" sz="1800" b="1"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a:t>
            </a:r>
            <a:r>
              <a:rPr kumimoji="0" lang="en-US" sz="1800" b="1" i="0" u="none" strike="noStrike" kern="1200" cap="none" spc="0" normalizeH="0" baseline="0" noProof="0" dirty="0" err="1">
                <a:ln>
                  <a:noFill/>
                </a:ln>
                <a:solidFill>
                  <a:prstClr val="white"/>
                </a:solidFill>
                <a:effectLst/>
                <a:uLnTx/>
                <a:uFillTx/>
                <a:latin typeface="Bricolage Grotesque 14pt" panose="020B0605040402000204" pitchFamily="34" charset="0"/>
                <a:ea typeface="+mn-ea"/>
                <a:cs typeface="+mn-cs"/>
              </a:rPr>
              <a:t>Batashe</a:t>
            </a:r>
            <a:r>
              <a:rPr kumimoji="0" lang="en-US" sz="1800" b="1"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a:t>
            </a:r>
            <a:r>
              <a:rPr kumimoji="0" lang="en-US" sz="1800" b="1" i="0" u="none" strike="noStrike" kern="1200" cap="none" spc="0" normalizeH="0" baseline="0" noProof="0" dirty="0" err="1">
                <a:ln>
                  <a:noFill/>
                </a:ln>
                <a:solidFill>
                  <a:prstClr val="white"/>
                </a:solidFill>
                <a:effectLst/>
                <a:uLnTx/>
                <a:uFillTx/>
                <a:latin typeface="Bricolage Grotesque 14pt" panose="020B0605040402000204" pitchFamily="34" charset="0"/>
                <a:ea typeface="+mn-ea"/>
                <a:cs typeface="+mn-cs"/>
              </a:rPr>
              <a:t>Bhalle</a:t>
            </a:r>
            <a:r>
              <a:rPr kumimoji="0" lang="en-US" sz="1800" b="1"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Basket </a:t>
            </a:r>
            <a:r>
              <a:rPr kumimoji="0" lang="en-US" sz="1800" b="1" i="0" u="none" strike="noStrike" kern="1200" cap="none" spc="0" normalizeH="0" baseline="0" noProof="0" dirty="0" err="1">
                <a:ln>
                  <a:noFill/>
                </a:ln>
                <a:solidFill>
                  <a:prstClr val="white"/>
                </a:solidFill>
                <a:effectLst/>
                <a:uLnTx/>
                <a:uFillTx/>
                <a:latin typeface="Bricolage Grotesque 14pt" panose="020B0605040402000204" pitchFamily="34" charset="0"/>
                <a:ea typeface="+mn-ea"/>
                <a:cs typeface="+mn-cs"/>
              </a:rPr>
              <a:t>Chaat</a:t>
            </a:r>
            <a:r>
              <a:rPr kumimoji="0" lang="en-US" sz="1800" b="1"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&amp; many more…</a:t>
            </a:r>
          </a:p>
        </p:txBody>
      </p:sp>
      <p:sp>
        <p:nvSpPr>
          <p:cNvPr id="19" name="Rounded Rectangle 18"/>
          <p:cNvSpPr/>
          <p:nvPr/>
        </p:nvSpPr>
        <p:spPr>
          <a:xfrm rot="5400000">
            <a:off x="7130210" y="1358891"/>
            <a:ext cx="1742406" cy="7720310"/>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4456803" y="4696707"/>
            <a:ext cx="7311823" cy="107721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Our chefs hail from Lucknow, ensuring an authentic Lakhnavi experience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All preparations made in PURE DESI GHEE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Handcrafted Chaat and Chutneys with original authentic zaika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Enjoy the essence of Lucknow streets in Gujarat</a:t>
            </a:r>
          </a:p>
        </p:txBody>
      </p:sp>
      <p:sp>
        <p:nvSpPr>
          <p:cNvPr id="16" name="Rectangle 15">
            <a:extLst>
              <a:ext uri="{FF2B5EF4-FFF2-40B4-BE49-F238E27FC236}">
                <a16:creationId xmlns:a16="http://schemas.microsoft.com/office/drawing/2014/main" id="{885FC6EF-4930-AF4E-777D-501E522B2C95}"/>
              </a:ext>
            </a:extLst>
          </p:cNvPr>
          <p:cNvSpPr/>
          <p:nvPr/>
        </p:nvSpPr>
        <p:spPr>
          <a:xfrm>
            <a:off x="7138639" y="4135641"/>
            <a:ext cx="1725550" cy="443532"/>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13" name="TextBox 12"/>
          <p:cNvSpPr txBox="1"/>
          <p:nvPr/>
        </p:nvSpPr>
        <p:spPr>
          <a:xfrm>
            <a:off x="7174752" y="4086233"/>
            <a:ext cx="165332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7" name="Rounded Rectangle 4">
            <a:extLst>
              <a:ext uri="{FF2B5EF4-FFF2-40B4-BE49-F238E27FC236}">
                <a16:creationId xmlns:a16="http://schemas.microsoft.com/office/drawing/2014/main" id="{A87083A6-1D5C-93DB-7C41-B628FA1F90A2}"/>
              </a:ext>
            </a:extLst>
          </p:cNvPr>
          <p:cNvSpPr/>
          <p:nvPr/>
        </p:nvSpPr>
        <p:spPr>
          <a:xfrm>
            <a:off x="222101" y="3520865"/>
            <a:ext cx="2387694" cy="2253060"/>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3295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1+#ppt_w/2"/>
                                          </p:val>
                                        </p:tav>
                                        <p:tav tm="100000">
                                          <p:val>
                                            <p:strVal val="#ppt_x"/>
                                          </p:val>
                                        </p:tav>
                                      </p:tavLst>
                                    </p:anim>
                                    <p:anim calcmode="lin" valueType="num">
                                      <p:cBhvr additive="base">
                                        <p:cTn id="16" dur="500" fill="hold"/>
                                        <p:tgtEl>
                                          <p:spTgt spid="17"/>
                                        </p:tgtEl>
                                        <p:attrNameLst>
                                          <p:attrName>ppt_y</p:attrName>
                                        </p:attrNameLst>
                                      </p:cBhvr>
                                      <p:tavLst>
                                        <p:tav tm="0">
                                          <p:val>
                                            <p:strVal val="#ppt_y"/>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1+#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500" fill="hold"/>
                                        <p:tgtEl>
                                          <p:spTgt spid="6"/>
                                        </p:tgtEl>
                                        <p:attrNameLst>
                                          <p:attrName>ppt_x</p:attrName>
                                        </p:attrNameLst>
                                      </p:cBhvr>
                                      <p:tavLst>
                                        <p:tav tm="0">
                                          <p:val>
                                            <p:strVal val="#ppt_x"/>
                                          </p:val>
                                        </p:tav>
                                        <p:tav tm="100000">
                                          <p:val>
                                            <p:strVal val="#ppt_x"/>
                                          </p:val>
                                        </p:tav>
                                      </p:tavLst>
                                    </p:anim>
                                    <p:anim calcmode="lin" valueType="num">
                                      <p:cBhvr additive="base">
                                        <p:cTn id="4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 calcmode="lin" valueType="num">
                                      <p:cBhvr additive="base">
                                        <p:cTn id="45" dur="500" fill="hold"/>
                                        <p:tgtEl>
                                          <p:spTgt spid="19"/>
                                        </p:tgtEl>
                                        <p:attrNameLst>
                                          <p:attrName>ppt_x</p:attrName>
                                        </p:attrNameLst>
                                      </p:cBhvr>
                                      <p:tavLst>
                                        <p:tav tm="0">
                                          <p:val>
                                            <p:strVal val="#ppt_x"/>
                                          </p:val>
                                        </p:tav>
                                        <p:tav tm="100000">
                                          <p:val>
                                            <p:strVal val="#ppt_x"/>
                                          </p:val>
                                        </p:tav>
                                      </p:tavLst>
                                    </p:anim>
                                    <p:anim calcmode="lin" valueType="num">
                                      <p:cBhvr additive="base">
                                        <p:cTn id="46" dur="500" fill="hold"/>
                                        <p:tgtEl>
                                          <p:spTgt spid="19"/>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ppt_x"/>
                                          </p:val>
                                        </p:tav>
                                        <p:tav tm="100000">
                                          <p:val>
                                            <p:strVal val="#ppt_x"/>
                                          </p:val>
                                        </p:tav>
                                      </p:tavLst>
                                    </p:anim>
                                    <p:anim calcmode="lin" valueType="num">
                                      <p:cBhvr additive="base">
                                        <p:cTn id="54" dur="500" fill="hold"/>
                                        <p:tgtEl>
                                          <p:spTgt spid="16"/>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500" fill="hold"/>
                                        <p:tgtEl>
                                          <p:spTgt spid="12"/>
                                        </p:tgtEl>
                                        <p:attrNameLst>
                                          <p:attrName>ppt_x</p:attrName>
                                        </p:attrNameLst>
                                      </p:cBhvr>
                                      <p:tavLst>
                                        <p:tav tm="0">
                                          <p:val>
                                            <p:strVal val="#ppt_x"/>
                                          </p:val>
                                        </p:tav>
                                        <p:tav tm="100000">
                                          <p:val>
                                            <p:strVal val="#ppt_x"/>
                                          </p:val>
                                        </p:tav>
                                      </p:tavLst>
                                    </p:anim>
                                    <p:anim calcmode="lin" valueType="num">
                                      <p:cBhvr additive="base">
                                        <p:cTn id="5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animBg="1"/>
      <p:bldP spid="17" grpId="0" animBg="1"/>
      <p:bldP spid="6" grpId="0"/>
      <p:bldP spid="8" grpId="0" animBg="1"/>
      <p:bldP spid="9" grpId="0"/>
      <p:bldP spid="19" grpId="0" animBg="1"/>
      <p:bldP spid="12" grpId="0"/>
      <p:bldP spid="16" grpId="0" animBg="1"/>
      <p:bldP spid="13" grpId="0"/>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720392C-DFCB-A54D-9610-7F51A65447D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6FB1E44-A2C3-1F0A-DAF5-E5689B7F18C9}"/>
              </a:ext>
            </a:extLst>
          </p:cNvPr>
          <p:cNvSpPr txBox="1"/>
          <p:nvPr/>
        </p:nvSpPr>
        <p:spPr>
          <a:xfrm>
            <a:off x="3265005" y="387481"/>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CHAAT MENU</a:t>
            </a:r>
          </a:p>
        </p:txBody>
      </p:sp>
      <p:pic>
        <p:nvPicPr>
          <p:cNvPr id="14" name="Picture 13">
            <a:extLst>
              <a:ext uri="{FF2B5EF4-FFF2-40B4-BE49-F238E27FC236}">
                <a16:creationId xmlns:a16="http://schemas.microsoft.com/office/drawing/2014/main" id="{C3FD5159-3914-290F-16CD-4676A41024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6" name="TextBox 5">
            <a:extLst>
              <a:ext uri="{FF2B5EF4-FFF2-40B4-BE49-F238E27FC236}">
                <a16:creationId xmlns:a16="http://schemas.microsoft.com/office/drawing/2014/main" id="{E6F62DBB-D0FB-5D5A-2F3C-B8C6EC2B1F08}"/>
              </a:ext>
            </a:extLst>
          </p:cNvPr>
          <p:cNvSpPr txBox="1"/>
          <p:nvPr/>
        </p:nvSpPr>
        <p:spPr>
          <a:xfrm>
            <a:off x="1879522" y="1132448"/>
            <a:ext cx="3805084" cy="5355312"/>
          </a:xfrm>
          <a:prstGeom prst="rect">
            <a:avLst/>
          </a:prstGeom>
          <a:noFill/>
        </p:spPr>
        <p:txBody>
          <a:bodyPr wrap="square">
            <a:spAutoFit/>
          </a:bodyPr>
          <a:lstStyle/>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Pani Puri                                                                                                                                        </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R="0" lvl="0" algn="l" defTabSz="914400" rtl="0" eaLnBrk="1" fontAlgn="auto" latinLnBrk="0" hangingPunct="1">
              <a:lnSpc>
                <a:spcPct val="200000"/>
              </a:lnSpc>
              <a:spcBef>
                <a:spcPts val="0"/>
              </a:spcBef>
              <a:spcAft>
                <a:spcPts val="0"/>
              </a:spcAft>
              <a:buClrTx/>
              <a:buSzTx/>
              <a:tabLst/>
              <a:defRPr/>
            </a:pP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Aloo Tikki Chole Chaat                   </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err="1">
                <a:ln>
                  <a:noFill/>
                </a:ln>
                <a:solidFill>
                  <a:prstClr val="white"/>
                </a:solidFill>
                <a:effectLst/>
                <a:uLnTx/>
                <a:uFillTx/>
                <a:latin typeface="Calibri" panose="020F0502020204030204"/>
                <a:ea typeface="+mn-ea"/>
                <a:cs typeface="+mn-cs"/>
              </a:rPr>
              <a:t>Lakhnawi</a:t>
            </a: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 Special Samosa</a:t>
            </a:r>
          </a:p>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err="1">
                <a:ln>
                  <a:noFill/>
                </a:ln>
                <a:solidFill>
                  <a:prstClr val="white"/>
                </a:solidFill>
                <a:effectLst/>
                <a:uLnTx/>
                <a:uFillTx/>
                <a:latin typeface="Calibri" panose="020F0502020204030204"/>
                <a:ea typeface="+mn-ea"/>
                <a:cs typeface="+mn-cs"/>
              </a:rPr>
              <a:t>Papdi</a:t>
            </a: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 Chaat</a:t>
            </a:r>
          </a:p>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Green Chutney wale Aloo</a:t>
            </a:r>
          </a:p>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Palak Patta Chaat</a:t>
            </a:r>
          </a:p>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Crispy Fried Aloo (Spicy)</a:t>
            </a:r>
          </a:p>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Raj Kachori</a:t>
            </a:r>
          </a:p>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Crispy Cut Aloo Chaat</a:t>
            </a:r>
          </a:p>
          <a:p>
            <a:pPr marL="285750" marR="0" lvl="0" indent="-285750" algn="l" defTabSz="914400" rtl="0" eaLnBrk="1" fontAlgn="t" latinLnBrk="0" hangingPunct="1">
              <a:lnSpc>
                <a:spcPct val="100000"/>
              </a:lnSpc>
              <a:spcBef>
                <a:spcPts val="0"/>
              </a:spcBef>
              <a:spcAft>
                <a:spcPts val="0"/>
              </a:spcAft>
              <a:buClrTx/>
              <a:buSzTx/>
              <a:buFont typeface="Wingdings" panose="05000000000000000000" pitchFamily="2" charset="2"/>
              <a:buChar char="§"/>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53D8E15A-6C31-5EB6-8513-99C20D5C7E45}"/>
              </a:ext>
            </a:extLst>
          </p:cNvPr>
          <p:cNvSpPr txBox="1"/>
          <p:nvPr/>
        </p:nvSpPr>
        <p:spPr>
          <a:xfrm>
            <a:off x="6507395" y="1170937"/>
            <a:ext cx="4744064" cy="5355312"/>
          </a:xfrm>
          <a:prstGeom prst="rect">
            <a:avLst/>
          </a:prstGeom>
          <a:noFill/>
        </p:spPr>
        <p:txBody>
          <a:bodyPr wrap="square">
            <a:spAutoFit/>
          </a:bodyPr>
          <a:lstStyle/>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Kachori with Aloo Sabzi</a:t>
            </a:r>
          </a:p>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Mumbai Bhel</a:t>
            </a:r>
          </a:p>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err="1">
                <a:ln>
                  <a:noFill/>
                </a:ln>
                <a:solidFill>
                  <a:prstClr val="white"/>
                </a:solidFill>
                <a:effectLst/>
                <a:uLnTx/>
                <a:uFillTx/>
                <a:latin typeface="Calibri" panose="020F0502020204030204"/>
                <a:ea typeface="+mn-ea"/>
                <a:cs typeface="+mn-cs"/>
              </a:rPr>
              <a:t>Dahi</a:t>
            </a: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IN" sz="1800" b="1" i="0" u="none" strike="noStrike" kern="1200" cap="none" spc="0" normalizeH="0" baseline="0" noProof="0" dirty="0" err="1">
                <a:ln>
                  <a:noFill/>
                </a:ln>
                <a:solidFill>
                  <a:prstClr val="white"/>
                </a:solidFill>
                <a:effectLst/>
                <a:uLnTx/>
                <a:uFillTx/>
                <a:latin typeface="Calibri" panose="020F0502020204030204"/>
                <a:ea typeface="+mn-ea"/>
                <a:cs typeface="+mn-cs"/>
              </a:rPr>
              <a:t>Bhalle</a:t>
            </a: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 </a:t>
            </a:r>
          </a:p>
          <a:p>
            <a:pPr marR="0" lvl="0" algn="l" defTabSz="914400" rtl="0" eaLnBrk="1" fontAlgn="t" latinLnBrk="0" hangingPunct="1">
              <a:lnSpc>
                <a:spcPct val="200000"/>
              </a:lnSpc>
              <a:spcBef>
                <a:spcPts val="0"/>
              </a:spcBef>
              <a:spcAft>
                <a:spcPts val="0"/>
              </a:spcAft>
              <a:buClrTx/>
              <a:buSzTx/>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Samosa </a:t>
            </a:r>
            <a:r>
              <a:rPr kumimoji="0" lang="en-US" sz="1800" b="1" i="0" u="none" strike="noStrike" kern="1200" cap="none" spc="0" normalizeH="0" baseline="0" noProof="0" dirty="0" err="1">
                <a:ln>
                  <a:noFill/>
                </a:ln>
                <a:solidFill>
                  <a:prstClr val="white"/>
                </a:solidFill>
                <a:effectLst/>
                <a:uLnTx/>
                <a:uFillTx/>
                <a:latin typeface="Calibri" panose="020F0502020204030204"/>
                <a:ea typeface="+mn-ea"/>
                <a:cs typeface="+mn-cs"/>
              </a:rPr>
              <a:t>Ragda</a:t>
            </a: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 Chaat (White peas)              </a:t>
            </a:r>
            <a:endPar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err="1">
                <a:ln>
                  <a:noFill/>
                </a:ln>
                <a:solidFill>
                  <a:prstClr val="white"/>
                </a:solidFill>
                <a:effectLst/>
                <a:uLnTx/>
                <a:uFillTx/>
                <a:latin typeface="Calibri" panose="020F0502020204030204"/>
                <a:ea typeface="+mn-ea"/>
                <a:cs typeface="+mn-cs"/>
              </a:rPr>
              <a:t>Dahi</a:t>
            </a: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 Bhalla </a:t>
            </a:r>
            <a:r>
              <a:rPr kumimoji="0" lang="en-IN" sz="1800" b="1" i="0" u="none" strike="noStrike" kern="1200" cap="none" spc="0" normalizeH="0" baseline="0" noProof="0" dirty="0" err="1">
                <a:ln>
                  <a:noFill/>
                </a:ln>
                <a:solidFill>
                  <a:prstClr val="white"/>
                </a:solidFill>
                <a:effectLst/>
                <a:uLnTx/>
                <a:uFillTx/>
                <a:latin typeface="Calibri" panose="020F0502020204030204"/>
                <a:ea typeface="+mn-ea"/>
                <a:cs typeface="+mn-cs"/>
              </a:rPr>
              <a:t>Papdi</a:t>
            </a: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 Chaat </a:t>
            </a:r>
          </a:p>
          <a:p>
            <a:pPr marR="0" lvl="0" algn="l" defTabSz="914400" rtl="0" eaLnBrk="1" fontAlgn="t" latinLnBrk="0" hangingPunct="1">
              <a:lnSpc>
                <a:spcPct val="200000"/>
              </a:lnSpc>
              <a:spcBef>
                <a:spcPts val="0"/>
              </a:spcBef>
              <a:spcAft>
                <a:spcPts val="0"/>
              </a:spcAft>
              <a:buClrTx/>
              <a:buSzTx/>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Samosa Chole Chaat (Boiled Chickpeas)</a:t>
            </a:r>
            <a:endPar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err="1">
                <a:ln>
                  <a:noFill/>
                </a:ln>
                <a:solidFill>
                  <a:prstClr val="white"/>
                </a:solidFill>
                <a:effectLst/>
                <a:uLnTx/>
                <a:uFillTx/>
                <a:latin typeface="Calibri" panose="020F0502020204030204"/>
                <a:ea typeface="+mn-ea"/>
                <a:cs typeface="+mn-cs"/>
              </a:rPr>
              <a:t>Lakhnawi</a:t>
            </a: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 Special Chaat (Mutter Chaat)</a:t>
            </a:r>
          </a:p>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Aloo Tikki Chaat</a:t>
            </a:r>
          </a:p>
          <a:p>
            <a:pPr marR="0" lvl="0" algn="l" defTabSz="914400" rtl="0" eaLnBrk="1" fontAlgn="t" latinLnBrk="0" hangingPunct="1">
              <a:lnSpc>
                <a:spcPct val="200000"/>
              </a:lnSpc>
              <a:spcBef>
                <a:spcPts val="0"/>
              </a:spcBef>
              <a:spcAft>
                <a:spcPts val="0"/>
              </a:spcAft>
              <a:buClrTx/>
              <a:buSzTx/>
              <a:tabLst/>
              <a:defRPr/>
            </a:pPr>
            <a:r>
              <a:rPr kumimoji="0" lang="en-IN" sz="1800" b="1" i="0" u="none" strike="noStrike" kern="1200" cap="none" spc="0" normalizeH="0" baseline="0" noProof="0" dirty="0" err="1">
                <a:ln>
                  <a:noFill/>
                </a:ln>
                <a:solidFill>
                  <a:prstClr val="white"/>
                </a:solidFill>
                <a:effectLst/>
                <a:uLnTx/>
                <a:uFillTx/>
                <a:latin typeface="Calibri" panose="020F0502020204030204"/>
                <a:ea typeface="+mn-ea"/>
                <a:cs typeface="+mn-cs"/>
              </a:rPr>
              <a:t>Lakhnawi</a:t>
            </a: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 Special Chaat (Basket Chaat)</a:t>
            </a:r>
          </a:p>
          <a:p>
            <a:pPr marL="0" marR="0" lvl="0" indent="0" algn="l" defTabSz="914400" rtl="0" eaLnBrk="1" fontAlgn="t"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5952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769817"/>
            <a:ext cx="2889849" cy="5320432"/>
          </a:xfrm>
          <a:prstGeom prst="rect">
            <a:avLst/>
          </a:prstGeom>
          <a:gradFill flip="none" rotWithShape="1">
            <a:gsLst>
              <a:gs pos="0">
                <a:srgbClr val="FFC30F">
                  <a:shade val="30000"/>
                  <a:satMod val="115000"/>
                </a:srgbClr>
              </a:gs>
              <a:gs pos="50000">
                <a:srgbClr val="FFC30F">
                  <a:shade val="67500"/>
                  <a:satMod val="115000"/>
                </a:srgbClr>
              </a:gs>
              <a:gs pos="100000">
                <a:srgbClr val="FFC30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a:off x="125522" y="853934"/>
            <a:ext cx="2646786" cy="2496408"/>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4B1C45F8-40C5-657A-8F6A-87E23F35D73B}"/>
              </a:ext>
            </a:extLst>
          </p:cNvPr>
          <p:cNvSpPr txBox="1"/>
          <p:nvPr/>
        </p:nvSpPr>
        <p:spPr>
          <a:xfrm>
            <a:off x="5056706" y="741424"/>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C30F"/>
                </a:solidFill>
                <a:effectLst/>
                <a:uLnTx/>
                <a:uFillTx/>
                <a:latin typeface="Bricolage Grotesque 14pt" panose="020B0605040402000204" pitchFamily="34" charset="0"/>
                <a:ea typeface="Roboto" panose="02000000000000000000" pitchFamily="2" charset="0"/>
                <a:cs typeface="Heebo" pitchFamily="2" charset="-79"/>
              </a:rPr>
              <a:t>Starters</a:t>
            </a:r>
          </a:p>
        </p:txBody>
      </p:sp>
      <p:sp>
        <p:nvSpPr>
          <p:cNvPr id="8" name="TextBox 7"/>
          <p:cNvSpPr txBox="1"/>
          <p:nvPr/>
        </p:nvSpPr>
        <p:spPr>
          <a:xfrm>
            <a:off x="3696929" y="2482450"/>
            <a:ext cx="8071697" cy="120032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Crispy Crazy Starters has a </a:t>
            </a:r>
            <a:r>
              <a:rPr kumimoji="0" lang="en-US" sz="18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wide variety of starters </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suitable for any size gathering, whether it's a small get-together or a large event. Whether you're hosting a </a:t>
            </a:r>
            <a:r>
              <a:rPr kumimoji="0" lang="en-US" sz="18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house party, a kitty party</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or any other event at your home, we're your go-to source for a </a:t>
            </a:r>
            <a:r>
              <a:rPr kumimoji="0" lang="en-US" sz="18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diverse range of starters </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all in one convenient place.</a:t>
            </a:r>
          </a:p>
        </p:txBody>
      </p:sp>
      <p:sp>
        <p:nvSpPr>
          <p:cNvPr id="9" name="Rounded Rectangle 8"/>
          <p:cNvSpPr/>
          <p:nvPr/>
        </p:nvSpPr>
        <p:spPr>
          <a:xfrm rot="5400000">
            <a:off x="6845259" y="1154685"/>
            <a:ext cx="1742406" cy="8176717"/>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Box 9"/>
          <p:cNvSpPr txBox="1"/>
          <p:nvPr/>
        </p:nvSpPr>
        <p:spPr>
          <a:xfrm>
            <a:off x="3903406" y="4817531"/>
            <a:ext cx="7901414" cy="107721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Catering to diverse tastes from traditional to innovative.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Exclusive starter selection not found elsewhere.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Go-to destination for every meal and occasion.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Fusion of Indian, Chinese, and Continental flavors.</a:t>
            </a:r>
          </a:p>
        </p:txBody>
      </p:sp>
      <p:sp>
        <p:nvSpPr>
          <p:cNvPr id="15" name="Rectangle 14">
            <a:extLst>
              <a:ext uri="{FF2B5EF4-FFF2-40B4-BE49-F238E27FC236}">
                <a16:creationId xmlns:a16="http://schemas.microsoft.com/office/drawing/2014/main" id="{885FC6EF-4930-AF4E-777D-501E522B2C95}"/>
              </a:ext>
            </a:extLst>
          </p:cNvPr>
          <p:cNvSpPr/>
          <p:nvPr/>
        </p:nvSpPr>
        <p:spPr>
          <a:xfrm>
            <a:off x="6567948" y="4151153"/>
            <a:ext cx="1871249" cy="443532"/>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16" name="TextBox 15"/>
          <p:cNvSpPr txBox="1"/>
          <p:nvPr/>
        </p:nvSpPr>
        <p:spPr>
          <a:xfrm>
            <a:off x="6567947" y="4079452"/>
            <a:ext cx="1871249"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sp>
        <p:nvSpPr>
          <p:cNvPr id="18" name="Rectangle 17">
            <a:extLst>
              <a:ext uri="{FF2B5EF4-FFF2-40B4-BE49-F238E27FC236}">
                <a16:creationId xmlns:a16="http://schemas.microsoft.com/office/drawing/2014/main" id="{174DAE6E-88FC-8FBA-E7AF-836600D40A41}"/>
              </a:ext>
            </a:extLst>
          </p:cNvPr>
          <p:cNvSpPr/>
          <p:nvPr/>
        </p:nvSpPr>
        <p:spPr>
          <a:xfrm>
            <a:off x="3785865" y="1961182"/>
            <a:ext cx="7920977" cy="325550"/>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19" name="TextBox 18"/>
          <p:cNvSpPr txBox="1"/>
          <p:nvPr/>
        </p:nvSpPr>
        <p:spPr>
          <a:xfrm>
            <a:off x="3903406" y="1961181"/>
            <a:ext cx="772842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Spring Roll &amp; Cheese Croquettes, Stuffed Mushroom &amp; many more…</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2" name="Rounded Rectangle 5">
            <a:extLst>
              <a:ext uri="{FF2B5EF4-FFF2-40B4-BE49-F238E27FC236}">
                <a16:creationId xmlns:a16="http://schemas.microsoft.com/office/drawing/2014/main" id="{A9ED9C8A-9C71-F7ED-9FF2-DF7CA28978DF}"/>
              </a:ext>
            </a:extLst>
          </p:cNvPr>
          <p:cNvSpPr/>
          <p:nvPr/>
        </p:nvSpPr>
        <p:spPr>
          <a:xfrm>
            <a:off x="123612" y="3507658"/>
            <a:ext cx="2641218" cy="2496408"/>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92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1+#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ppt_x"/>
                                          </p:val>
                                        </p:tav>
                                        <p:tav tm="100000">
                                          <p:val>
                                            <p:strVal val="#ppt_x"/>
                                          </p:val>
                                        </p:tav>
                                      </p:tavLst>
                                    </p:anim>
                                    <p:anim calcmode="lin" valueType="num">
                                      <p:cBhvr additive="base">
                                        <p:cTn id="3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ppt_x"/>
                                          </p:val>
                                        </p:tav>
                                        <p:tav tm="100000">
                                          <p:val>
                                            <p:strVal val="#ppt_x"/>
                                          </p:val>
                                        </p:tav>
                                      </p:tavLst>
                                    </p:anim>
                                    <p:anim calcmode="lin" valueType="num">
                                      <p:cBhvr additive="base">
                                        <p:cTn id="3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ppt_x"/>
                                          </p:val>
                                        </p:tav>
                                        <p:tav tm="100000">
                                          <p:val>
                                            <p:strVal val="#ppt_x"/>
                                          </p:val>
                                        </p:tav>
                                      </p:tavLst>
                                    </p:anim>
                                    <p:anim calcmode="lin" valueType="num">
                                      <p:cBhvr additive="base">
                                        <p:cTn id="5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6" grpId="0"/>
      <p:bldP spid="8" grpId="0"/>
      <p:bldP spid="9" grpId="0" animBg="1"/>
      <p:bldP spid="10" grpId="0"/>
      <p:bldP spid="15" grpId="0" animBg="1"/>
      <p:bldP spid="16" grpId="0"/>
      <p:bldP spid="18" grpId="0" animBg="1"/>
      <p:bldP spid="19" grpId="0"/>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33CE9EC-E8D2-0A59-CC5A-32F78C1A6F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4FEA6D8-28A3-94D9-995F-DFDEFA322607}"/>
              </a:ext>
            </a:extLst>
          </p:cNvPr>
          <p:cNvSpPr txBox="1"/>
          <p:nvPr/>
        </p:nvSpPr>
        <p:spPr>
          <a:xfrm>
            <a:off x="3265005" y="419658"/>
            <a:ext cx="4893732" cy="64353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STARTERS MENU</a:t>
            </a:r>
          </a:p>
        </p:txBody>
      </p:sp>
      <p:pic>
        <p:nvPicPr>
          <p:cNvPr id="14" name="Picture 13">
            <a:extLst>
              <a:ext uri="{FF2B5EF4-FFF2-40B4-BE49-F238E27FC236}">
                <a16:creationId xmlns:a16="http://schemas.microsoft.com/office/drawing/2014/main" id="{071B363E-FF89-0609-EA12-1D7FDC099D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6" name="TextBox 5">
            <a:extLst>
              <a:ext uri="{FF2B5EF4-FFF2-40B4-BE49-F238E27FC236}">
                <a16:creationId xmlns:a16="http://schemas.microsoft.com/office/drawing/2014/main" id="{B9198017-06BE-2C60-8A5E-B4BEBFCC0313}"/>
              </a:ext>
            </a:extLst>
          </p:cNvPr>
          <p:cNvSpPr txBox="1"/>
          <p:nvPr/>
        </p:nvSpPr>
        <p:spPr>
          <a:xfrm>
            <a:off x="1125986" y="1095367"/>
            <a:ext cx="3805084" cy="6186309"/>
          </a:xfrm>
          <a:prstGeom prst="rect">
            <a:avLst/>
          </a:prstGeom>
          <a:noFill/>
        </p:spPr>
        <p:txBody>
          <a:bodyPr wrap="square">
            <a:spAutoFit/>
          </a:bodyPr>
          <a:lstStyle/>
          <a:p>
            <a:pPr marR="0" lvl="0" algn="l" defTabSz="914400" rtl="0" eaLnBrk="1" fontAlgn="t" latinLnBrk="0" hangingPunct="1">
              <a:lnSpc>
                <a:spcPct val="200000"/>
              </a:lnSpc>
              <a:spcBef>
                <a:spcPts val="0"/>
              </a:spcBef>
              <a:spcAft>
                <a:spcPts val="0"/>
              </a:spcAft>
              <a:buClrTx/>
              <a:buSzTx/>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Crispy Crazy Corn</a:t>
            </a:r>
            <a:r>
              <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R="0" lvl="0" algn="l" defTabSz="914400" rtl="0" eaLnBrk="1" fontAlgn="auto" latinLnBrk="0" hangingPunct="1">
              <a:lnSpc>
                <a:spcPct val="200000"/>
              </a:lnSpc>
              <a:spcBef>
                <a:spcPts val="0"/>
              </a:spcBef>
              <a:spcAft>
                <a:spcPts val="0"/>
              </a:spcAft>
              <a:buClrTx/>
              <a:buSzTx/>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Veg spring roll</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Chinese spring roll</a:t>
            </a:r>
            <a:endPar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Onion Rings</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Cheese Spinach &amp; Corn Ball</a:t>
            </a:r>
            <a:endPar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Jalapeno cheese poppers</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Honey chilli potato</a:t>
            </a:r>
          </a:p>
          <a:p>
            <a:pPr fontAlgn="t">
              <a:lnSpc>
                <a:spcPct val="200000"/>
              </a:lnSpc>
            </a:pPr>
            <a:r>
              <a:rPr lang="en-IN" dirty="0">
                <a:solidFill>
                  <a:prstClr val="white"/>
                </a:solidFill>
              </a:rPr>
              <a:t>Hara </a:t>
            </a:r>
            <a:r>
              <a:rPr lang="en-IN" dirty="0" err="1">
                <a:solidFill>
                  <a:prstClr val="white"/>
                </a:solidFill>
              </a:rPr>
              <a:t>bhara</a:t>
            </a:r>
            <a:r>
              <a:rPr lang="en-IN" dirty="0">
                <a:solidFill>
                  <a:prstClr val="white"/>
                </a:solidFill>
              </a:rPr>
              <a:t> kabab</a:t>
            </a:r>
            <a:br>
              <a:rPr lang="en-IN" dirty="0">
                <a:solidFill>
                  <a:prstClr val="white"/>
                </a:solidFill>
              </a:rPr>
            </a:br>
            <a:r>
              <a:rPr lang="en-IN" dirty="0">
                <a:solidFill>
                  <a:prstClr val="white"/>
                </a:solidFill>
              </a:rPr>
              <a:t>Mozzarella Cheese Croquette</a:t>
            </a:r>
            <a:br>
              <a:rPr lang="en-IN" dirty="0">
                <a:solidFill>
                  <a:prstClr val="white"/>
                </a:solidFill>
              </a:rPr>
            </a:b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t" latinLnBrk="0" hangingPunct="1">
              <a:lnSpc>
                <a:spcPct val="2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0369C104-543B-35AE-EC8E-4FC112F3256B}"/>
              </a:ext>
            </a:extLst>
          </p:cNvPr>
          <p:cNvSpPr txBox="1"/>
          <p:nvPr/>
        </p:nvSpPr>
        <p:spPr>
          <a:xfrm>
            <a:off x="5025323" y="1095367"/>
            <a:ext cx="3034048" cy="5632311"/>
          </a:xfrm>
          <a:prstGeom prst="rect">
            <a:avLst/>
          </a:prstGeom>
          <a:noFill/>
        </p:spPr>
        <p:txBody>
          <a:bodyPr wrap="square">
            <a:spAutoFit/>
          </a:bodyPr>
          <a:lstStyle/>
          <a:p>
            <a:pPr fontAlgn="t">
              <a:lnSpc>
                <a:spcPct val="200000"/>
              </a:lnSpc>
            </a:pPr>
            <a:r>
              <a:rPr lang="en-IN" dirty="0">
                <a:solidFill>
                  <a:prstClr val="white"/>
                </a:solidFill>
              </a:rPr>
              <a:t>Veg Fried Wonton</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Stuffed Mush</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Potato Corn Cheese Kabab</a:t>
            </a: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Paneer 65 </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Paneer Chilli </a:t>
            </a:r>
          </a:p>
          <a:p>
            <a:pPr marL="0" marR="0" lvl="0" indent="0" algn="l" defTabSz="914400" rtl="0" eaLnBrk="1" fontAlgn="t" latinLnBrk="0" hangingPunct="1">
              <a:lnSpc>
                <a:spcPct val="200000"/>
              </a:lnSpc>
              <a:spcBef>
                <a:spcPts val="0"/>
              </a:spcBef>
              <a:spcAft>
                <a:spcPts val="0"/>
              </a:spcAft>
              <a:buClrTx/>
              <a:buSzTx/>
              <a:buFontTx/>
              <a:buNone/>
              <a:tabLst/>
              <a:defRPr/>
            </a:pPr>
            <a:r>
              <a:rPr lang="en-IN" dirty="0">
                <a:solidFill>
                  <a:prstClr val="white"/>
                </a:solidFill>
                <a:latin typeface="Calibri" panose="020F0502020204030204"/>
              </a:rPr>
              <a:t>Tandoori Aloo</a:t>
            </a:r>
          </a:p>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Paneer Tikka</a:t>
            </a:r>
          </a:p>
          <a:p>
            <a:pPr marL="0" marR="0" lvl="0" indent="0" algn="l" defTabSz="914400" rtl="0" eaLnBrk="1" fontAlgn="t" latinLnBrk="0" hangingPunct="1">
              <a:lnSpc>
                <a:spcPct val="200000"/>
              </a:lnSpc>
              <a:spcBef>
                <a:spcPts val="0"/>
              </a:spcBef>
              <a:spcAft>
                <a:spcPts val="0"/>
              </a:spcAft>
              <a:buClrTx/>
              <a:buSzTx/>
              <a:buFontTx/>
              <a:buNone/>
              <a:tabLst/>
              <a:defRPr/>
            </a:pPr>
            <a:r>
              <a:rPr lang="en-IN" dirty="0">
                <a:solidFill>
                  <a:prstClr val="white"/>
                </a:solidFill>
                <a:latin typeface="Calibri" panose="020F0502020204030204"/>
              </a:rPr>
              <a:t>Paneer Malai Tikka</a:t>
            </a:r>
          </a:p>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Paneer</a:t>
            </a:r>
            <a:r>
              <a:rPr kumimoji="0" lang="en-IN" sz="1800" b="0" i="0" u="none" strike="noStrike" kern="1200" cap="none" spc="0" normalizeH="0" noProof="0" dirty="0">
                <a:ln>
                  <a:noFill/>
                </a:ln>
                <a:solidFill>
                  <a:prstClr val="white"/>
                </a:solidFill>
                <a:effectLst/>
                <a:uLnTx/>
                <a:uFillTx/>
                <a:latin typeface="Calibri" panose="020F0502020204030204"/>
                <a:ea typeface="+mn-ea"/>
                <a:cs typeface="+mn-cs"/>
              </a:rPr>
              <a:t> </a:t>
            </a:r>
            <a:r>
              <a:rPr kumimoji="0" lang="en-IN" sz="1800" b="0" i="0" u="none" strike="noStrike" kern="1200" cap="none" spc="0" normalizeH="0" noProof="0" dirty="0" err="1">
                <a:ln>
                  <a:noFill/>
                </a:ln>
                <a:solidFill>
                  <a:prstClr val="white"/>
                </a:solidFill>
                <a:effectLst/>
                <a:uLnTx/>
                <a:uFillTx/>
                <a:latin typeface="Calibri" panose="020F0502020204030204"/>
                <a:ea typeface="+mn-ea"/>
                <a:cs typeface="+mn-cs"/>
              </a:rPr>
              <a:t>Lahsuni</a:t>
            </a:r>
            <a:r>
              <a:rPr kumimoji="0" lang="en-IN" sz="1800" b="0" i="0" u="none" strike="noStrike" kern="1200" cap="none" spc="0" normalizeH="0" noProof="0" dirty="0">
                <a:ln>
                  <a:noFill/>
                </a:ln>
                <a:solidFill>
                  <a:prstClr val="white"/>
                </a:solidFill>
                <a:effectLst/>
                <a:uLnTx/>
                <a:uFillTx/>
                <a:latin typeface="Calibri" panose="020F0502020204030204"/>
                <a:ea typeface="+mn-ea"/>
                <a:cs typeface="+mn-cs"/>
              </a:rPr>
              <a:t> Tikki</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393434B-40B1-9772-30A1-01D42213B38D}"/>
              </a:ext>
            </a:extLst>
          </p:cNvPr>
          <p:cNvSpPr txBox="1"/>
          <p:nvPr/>
        </p:nvSpPr>
        <p:spPr>
          <a:xfrm>
            <a:off x="8672794" y="1095367"/>
            <a:ext cx="3034048" cy="5078313"/>
          </a:xfrm>
          <a:prstGeom prst="rect">
            <a:avLst/>
          </a:prstGeom>
          <a:noFill/>
        </p:spPr>
        <p:txBody>
          <a:bodyPr wrap="square">
            <a:spAutoFit/>
          </a:bodyPr>
          <a:lstStyle/>
          <a:p>
            <a:pPr fontAlgn="t">
              <a:lnSpc>
                <a:spcPct val="200000"/>
              </a:lnSpc>
            </a:pPr>
            <a:r>
              <a:rPr lang="en-IN" dirty="0">
                <a:solidFill>
                  <a:prstClr val="white"/>
                </a:solidFill>
              </a:rPr>
              <a:t>Crispy Veg</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Dragon Paneer</a:t>
            </a:r>
          </a:p>
          <a:p>
            <a:pPr marL="0" marR="0" lvl="0" indent="0" algn="l" defTabSz="914400" rtl="0" eaLnBrk="1" fontAlgn="t" latinLnBrk="0" hangingPunct="1">
              <a:lnSpc>
                <a:spcPct val="200000"/>
              </a:lnSpc>
              <a:spcBef>
                <a:spcPts val="0"/>
              </a:spcBef>
              <a:spcAft>
                <a:spcPts val="0"/>
              </a:spcAft>
              <a:buClrTx/>
              <a:buSzTx/>
              <a:buFontTx/>
              <a:buNone/>
              <a:tabLst/>
              <a:defRPr/>
            </a:pPr>
            <a:r>
              <a:rPr lang="en-IN" dirty="0">
                <a:solidFill>
                  <a:prstClr val="white"/>
                </a:solidFill>
                <a:latin typeface="Calibri" panose="020F0502020204030204"/>
              </a:rPr>
              <a:t>Cajun Potato</a:t>
            </a:r>
          </a:p>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Dry Manchurian</a:t>
            </a:r>
          </a:p>
          <a:p>
            <a:pPr marL="0" marR="0" lvl="0" indent="0" algn="l" defTabSz="914400" rtl="0" eaLnBrk="1" fontAlgn="t" latinLnBrk="0" hangingPunct="1">
              <a:lnSpc>
                <a:spcPct val="200000"/>
              </a:lnSpc>
              <a:spcBef>
                <a:spcPts val="0"/>
              </a:spcBef>
              <a:spcAft>
                <a:spcPts val="0"/>
              </a:spcAft>
              <a:buClrTx/>
              <a:buSzTx/>
              <a:buFontTx/>
              <a:buNone/>
              <a:tabLst/>
              <a:defRPr/>
            </a:pPr>
            <a:r>
              <a:rPr lang="en-IN" dirty="0">
                <a:solidFill>
                  <a:prstClr val="white"/>
                </a:solidFill>
                <a:latin typeface="Calibri" panose="020F0502020204030204"/>
              </a:rPr>
              <a:t>French Fries</a:t>
            </a:r>
          </a:p>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Mushroom Chilli Dry</a:t>
            </a:r>
          </a:p>
          <a:p>
            <a:pPr marL="0" marR="0" lvl="0" indent="0" algn="l" defTabSz="914400" rtl="0" eaLnBrk="1" fontAlgn="t" latinLnBrk="0" hangingPunct="1">
              <a:lnSpc>
                <a:spcPct val="200000"/>
              </a:lnSpc>
              <a:spcBef>
                <a:spcPts val="0"/>
              </a:spcBef>
              <a:spcAft>
                <a:spcPts val="0"/>
              </a:spcAft>
              <a:buClrTx/>
              <a:buSzTx/>
              <a:buFontTx/>
              <a:buNone/>
              <a:tabLst/>
              <a:defRPr/>
            </a:pPr>
            <a:r>
              <a:rPr lang="en-IN" dirty="0">
                <a:solidFill>
                  <a:prstClr val="white"/>
                </a:solidFill>
                <a:latin typeface="Calibri" panose="020F0502020204030204"/>
              </a:rPr>
              <a:t>Paneer Pakora</a:t>
            </a:r>
          </a:p>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Mexican Fries</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28347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769817"/>
            <a:ext cx="2889849" cy="5320432"/>
          </a:xfrm>
          <a:prstGeom prst="rect">
            <a:avLst/>
          </a:prstGeom>
          <a:gradFill flip="none" rotWithShape="1">
            <a:gsLst>
              <a:gs pos="0">
                <a:srgbClr val="FFA300">
                  <a:shade val="30000"/>
                  <a:satMod val="115000"/>
                </a:srgbClr>
              </a:gs>
              <a:gs pos="50000">
                <a:srgbClr val="FFA300">
                  <a:shade val="67500"/>
                  <a:satMod val="115000"/>
                </a:srgbClr>
              </a:gs>
              <a:gs pos="100000">
                <a:srgbClr val="FFA300">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a:off x="147938" y="868727"/>
            <a:ext cx="2630456" cy="2482782"/>
          </a:xfrm>
          <a:prstGeom prst="round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4B1C45F8-40C5-657A-8F6A-87E23F35D73B}"/>
              </a:ext>
            </a:extLst>
          </p:cNvPr>
          <p:cNvSpPr txBox="1"/>
          <p:nvPr/>
        </p:nvSpPr>
        <p:spPr>
          <a:xfrm>
            <a:off x="5342861" y="795586"/>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A300"/>
                </a:solidFill>
                <a:effectLst/>
                <a:uLnTx/>
                <a:uFillTx/>
                <a:latin typeface="Bricolage Grotesque 14pt" panose="020B0605040402000204" pitchFamily="34" charset="0"/>
                <a:ea typeface="Roboto" panose="02000000000000000000" pitchFamily="2" charset="0"/>
                <a:cs typeface="Heebo" pitchFamily="2" charset="-79"/>
              </a:rPr>
              <a:t>Bread/Sandwich</a:t>
            </a:r>
          </a:p>
        </p:txBody>
      </p:sp>
      <p:sp>
        <p:nvSpPr>
          <p:cNvPr id="16" name="TextBox 15"/>
          <p:cNvSpPr txBox="1"/>
          <p:nvPr/>
        </p:nvSpPr>
        <p:spPr>
          <a:xfrm>
            <a:off x="3480619" y="2482450"/>
            <a:ext cx="8288007" cy="9233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Mingling Breads invites you to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experience the ultimate sandwich </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journey in the city. With our </a:t>
            </a:r>
            <a:r>
              <a:rPr kumimoji="0" lang="en-US" sz="1800" b="1" i="0" u="none" strike="noStrike" kern="1200" cap="none" spc="0" normalizeH="0" baseline="0" noProof="0" dirty="0">
                <a:ln>
                  <a:noFill/>
                </a:ln>
                <a:solidFill>
                  <a:srgbClr val="FFC000"/>
                </a:solidFill>
                <a:effectLst/>
                <a:uLnTx/>
                <a:uFillTx/>
                <a:latin typeface="Calibri" panose="020F0502020204030204"/>
                <a:ea typeface="+mn-ea"/>
                <a:cs typeface="+mn-cs"/>
              </a:rPr>
              <a:t>in-house</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freshly baked</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assortment of breads, we promise to deliver the best sandwich experience, catering to all your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desi and Italian sandwich </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cravings</a:t>
            </a:r>
            <a:r>
              <a:rPr kumimoji="0" lang="en-US" sz="16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a:t>
            </a:r>
          </a:p>
        </p:txBody>
      </p:sp>
      <p:sp>
        <p:nvSpPr>
          <p:cNvPr id="18" name="Rectangle 17">
            <a:extLst>
              <a:ext uri="{FF2B5EF4-FFF2-40B4-BE49-F238E27FC236}">
                <a16:creationId xmlns:a16="http://schemas.microsoft.com/office/drawing/2014/main" id="{174DAE6E-88FC-8FBA-E7AF-836600D40A41}"/>
              </a:ext>
            </a:extLst>
          </p:cNvPr>
          <p:cNvSpPr/>
          <p:nvPr/>
        </p:nvSpPr>
        <p:spPr>
          <a:xfrm>
            <a:off x="3950237" y="1961181"/>
            <a:ext cx="7170047" cy="388024"/>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19" name="TextBox 18"/>
          <p:cNvSpPr txBox="1"/>
          <p:nvPr/>
        </p:nvSpPr>
        <p:spPr>
          <a:xfrm>
            <a:off x="4572158" y="1971355"/>
            <a:ext cx="592620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öhne"/>
                <a:ea typeface="+mn-ea"/>
                <a:cs typeface="+mn-cs"/>
              </a:rPr>
              <a:t>Mumbai Sandwich, Ahmedabad </a:t>
            </a:r>
            <a:r>
              <a:rPr kumimoji="0" lang="en-US" sz="1600" b="1" i="0" u="none" strike="noStrike" kern="1200" cap="none" spc="0" normalizeH="0" baseline="0" noProof="0" dirty="0" err="1">
                <a:ln>
                  <a:noFill/>
                </a:ln>
                <a:solidFill>
                  <a:prstClr val="white"/>
                </a:solidFill>
                <a:effectLst/>
                <a:uLnTx/>
                <a:uFillTx/>
                <a:latin typeface="Söhne"/>
                <a:ea typeface="+mn-ea"/>
                <a:cs typeface="+mn-cs"/>
              </a:rPr>
              <a:t>Ghughra</a:t>
            </a:r>
            <a:r>
              <a:rPr kumimoji="0" lang="en-US" sz="1600" b="1" i="0" u="none" strike="noStrike" kern="1200" cap="none" spc="0" normalizeH="0" baseline="0" noProof="0" dirty="0">
                <a:ln>
                  <a:noFill/>
                </a:ln>
                <a:solidFill>
                  <a:prstClr val="white"/>
                </a:solidFill>
                <a:effectLst/>
                <a:uLnTx/>
                <a:uFillTx/>
                <a:latin typeface="Söhne"/>
                <a:ea typeface="+mn-ea"/>
                <a:cs typeface="+mn-cs"/>
              </a:rPr>
              <a:t> Sandwich &amp; many more…</a:t>
            </a:r>
          </a:p>
        </p:txBody>
      </p:sp>
      <p:sp>
        <p:nvSpPr>
          <p:cNvPr id="20" name="Rounded Rectangle 19"/>
          <p:cNvSpPr/>
          <p:nvPr/>
        </p:nvSpPr>
        <p:spPr>
          <a:xfrm rot="5400000">
            <a:off x="6771517" y="1080943"/>
            <a:ext cx="1742406" cy="8324201"/>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TextBox 20"/>
          <p:cNvSpPr txBox="1"/>
          <p:nvPr/>
        </p:nvSpPr>
        <p:spPr>
          <a:xfrm>
            <a:off x="3706762" y="4817531"/>
            <a:ext cx="8165930" cy="101566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Fresh in-house baked handcrafted breads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Diverse sandwich menu catering to all tastes, from Desi to Italian cravings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Personalized sandwiches with our customizable options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Made in Original Amul butter and cheese</a:t>
            </a:r>
          </a:p>
        </p:txBody>
      </p:sp>
      <p:sp>
        <p:nvSpPr>
          <p:cNvPr id="33" name="Rectangle 32">
            <a:extLst>
              <a:ext uri="{FF2B5EF4-FFF2-40B4-BE49-F238E27FC236}">
                <a16:creationId xmlns:a16="http://schemas.microsoft.com/office/drawing/2014/main" id="{885FC6EF-4930-AF4E-777D-501E522B2C95}"/>
              </a:ext>
            </a:extLst>
          </p:cNvPr>
          <p:cNvSpPr/>
          <p:nvPr/>
        </p:nvSpPr>
        <p:spPr>
          <a:xfrm>
            <a:off x="6326436" y="4129576"/>
            <a:ext cx="2113936" cy="571300"/>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34" name="TextBox 33"/>
          <p:cNvSpPr txBox="1"/>
          <p:nvPr/>
        </p:nvSpPr>
        <p:spPr>
          <a:xfrm>
            <a:off x="6133919" y="4136104"/>
            <a:ext cx="2498969"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2" name="Rounded Rectangle 6">
            <a:extLst>
              <a:ext uri="{FF2B5EF4-FFF2-40B4-BE49-F238E27FC236}">
                <a16:creationId xmlns:a16="http://schemas.microsoft.com/office/drawing/2014/main" id="{BA0F1623-8C88-A89C-ED67-5E2C4D0EC3E8}"/>
              </a:ext>
            </a:extLst>
          </p:cNvPr>
          <p:cNvSpPr/>
          <p:nvPr/>
        </p:nvSpPr>
        <p:spPr>
          <a:xfrm>
            <a:off x="147938" y="3452485"/>
            <a:ext cx="2630456" cy="2536788"/>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42447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1+#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ppt_x"/>
                                          </p:val>
                                        </p:tav>
                                        <p:tav tm="100000">
                                          <p:val>
                                            <p:strVal val="#ppt_x"/>
                                          </p:val>
                                        </p:tav>
                                      </p:tavLst>
                                    </p:anim>
                                    <p:anim calcmode="lin" valueType="num">
                                      <p:cBhvr additive="base">
                                        <p:cTn id="30" dur="500" fill="hold"/>
                                        <p:tgtEl>
                                          <p:spTgt spid="1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500" fill="hold"/>
                                        <p:tgtEl>
                                          <p:spTgt spid="20"/>
                                        </p:tgtEl>
                                        <p:attrNameLst>
                                          <p:attrName>ppt_x</p:attrName>
                                        </p:attrNameLst>
                                      </p:cBhvr>
                                      <p:tavLst>
                                        <p:tav tm="0">
                                          <p:val>
                                            <p:strVal val="#ppt_x"/>
                                          </p:val>
                                        </p:tav>
                                        <p:tav tm="100000">
                                          <p:val>
                                            <p:strVal val="#ppt_x"/>
                                          </p:val>
                                        </p:tav>
                                      </p:tavLst>
                                    </p:anim>
                                    <p:anim calcmode="lin" valueType="num">
                                      <p:cBhvr additive="base">
                                        <p:cTn id="46" dur="500" fill="hold"/>
                                        <p:tgtEl>
                                          <p:spTgt spid="20"/>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additive="base">
                                        <p:cTn id="49" dur="500" fill="hold"/>
                                        <p:tgtEl>
                                          <p:spTgt spid="21"/>
                                        </p:tgtEl>
                                        <p:attrNameLst>
                                          <p:attrName>ppt_x</p:attrName>
                                        </p:attrNameLst>
                                      </p:cBhvr>
                                      <p:tavLst>
                                        <p:tav tm="0">
                                          <p:val>
                                            <p:strVal val="#ppt_x"/>
                                          </p:val>
                                        </p:tav>
                                        <p:tav tm="100000">
                                          <p:val>
                                            <p:strVal val="#ppt_x"/>
                                          </p:val>
                                        </p:tav>
                                      </p:tavLst>
                                    </p:anim>
                                    <p:anim calcmode="lin" valueType="num">
                                      <p:cBhvr additive="base">
                                        <p:cTn id="50" dur="500" fill="hold"/>
                                        <p:tgtEl>
                                          <p:spTgt spid="21"/>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anim calcmode="lin" valueType="num">
                                      <p:cBhvr additive="base">
                                        <p:cTn id="53" dur="500" fill="hold"/>
                                        <p:tgtEl>
                                          <p:spTgt spid="34"/>
                                        </p:tgtEl>
                                        <p:attrNameLst>
                                          <p:attrName>ppt_x</p:attrName>
                                        </p:attrNameLst>
                                      </p:cBhvr>
                                      <p:tavLst>
                                        <p:tav tm="0">
                                          <p:val>
                                            <p:strVal val="#ppt_x"/>
                                          </p:val>
                                        </p:tav>
                                        <p:tav tm="100000">
                                          <p:val>
                                            <p:strVal val="#ppt_x"/>
                                          </p:val>
                                        </p:tav>
                                      </p:tavLst>
                                    </p:anim>
                                    <p:anim calcmode="lin" valueType="num">
                                      <p:cBhvr additive="base">
                                        <p:cTn id="54" dur="500" fill="hold"/>
                                        <p:tgtEl>
                                          <p:spTgt spid="3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 calcmode="lin" valueType="num">
                                      <p:cBhvr additive="base">
                                        <p:cTn id="57" dur="500" fill="hold"/>
                                        <p:tgtEl>
                                          <p:spTgt spid="33"/>
                                        </p:tgtEl>
                                        <p:attrNameLst>
                                          <p:attrName>ppt_x</p:attrName>
                                        </p:attrNameLst>
                                      </p:cBhvr>
                                      <p:tavLst>
                                        <p:tav tm="0">
                                          <p:val>
                                            <p:strVal val="#ppt_x"/>
                                          </p:val>
                                        </p:tav>
                                        <p:tav tm="100000">
                                          <p:val>
                                            <p:strVal val="#ppt_x"/>
                                          </p:val>
                                        </p:tav>
                                      </p:tavLst>
                                    </p:anim>
                                    <p:anim calcmode="lin" valueType="num">
                                      <p:cBhvr additive="base">
                                        <p:cTn id="5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15" grpId="0"/>
      <p:bldP spid="16" grpId="0"/>
      <p:bldP spid="18" grpId="0" animBg="1"/>
      <p:bldP spid="19" grpId="0"/>
      <p:bldP spid="20" grpId="0" animBg="1"/>
      <p:bldP spid="21" grpId="0"/>
      <p:bldP spid="33" grpId="0" animBg="1"/>
      <p:bldP spid="34" grpId="0"/>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441C99C-0317-9457-110C-E73ED7791BF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4452704-AABE-9CD8-4CFA-A0F8053855E9}"/>
              </a:ext>
            </a:extLst>
          </p:cNvPr>
          <p:cNvSpPr txBox="1"/>
          <p:nvPr/>
        </p:nvSpPr>
        <p:spPr>
          <a:xfrm>
            <a:off x="3265005" y="387481"/>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SANDWICH MENU</a:t>
            </a:r>
          </a:p>
        </p:txBody>
      </p:sp>
      <p:pic>
        <p:nvPicPr>
          <p:cNvPr id="14" name="Picture 13">
            <a:extLst>
              <a:ext uri="{FF2B5EF4-FFF2-40B4-BE49-F238E27FC236}">
                <a16:creationId xmlns:a16="http://schemas.microsoft.com/office/drawing/2014/main" id="{4E3F88D4-0398-C428-E6F5-2125A8BB18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6" name="TextBox 5">
            <a:extLst>
              <a:ext uri="{FF2B5EF4-FFF2-40B4-BE49-F238E27FC236}">
                <a16:creationId xmlns:a16="http://schemas.microsoft.com/office/drawing/2014/main" id="{201D37F3-E241-BA9C-02B2-B8BFD85A4DC7}"/>
              </a:ext>
            </a:extLst>
          </p:cNvPr>
          <p:cNvSpPr txBox="1"/>
          <p:nvPr/>
        </p:nvSpPr>
        <p:spPr>
          <a:xfrm>
            <a:off x="1362463" y="1185140"/>
            <a:ext cx="3805084" cy="4801314"/>
          </a:xfrm>
          <a:prstGeom prst="rect">
            <a:avLst/>
          </a:prstGeom>
          <a:noFill/>
        </p:spPr>
        <p:txBody>
          <a:bodyPr wrap="square">
            <a:spAutoFit/>
          </a:bodyPr>
          <a:lstStyle/>
          <a:p>
            <a:pPr marL="457200" marR="0" lvl="1" indent="0" algn="l" defTabSz="914400" rtl="0" eaLnBrk="1" fontAlgn="t"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Bread Butter Sandwich</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Maggi Sandwich</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Aloo Matar Sandwich </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Cheese Chutney Sandwich</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Palak Corn Cheese Sandwich</a:t>
            </a:r>
            <a:endPar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457200" marR="0" lvl="1" indent="0" algn="l" defTabSz="914400" rtl="0" eaLnBrk="1" fontAlgn="t"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Calibri" panose="020F0502020204030204"/>
                <a:ea typeface="+mn-ea"/>
                <a:cs typeface="+mn-cs"/>
              </a:rPr>
              <a:t>Chilli</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Cheese Onion Club </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Mumbai</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Ahmedabad </a:t>
            </a:r>
            <a:r>
              <a:rPr kumimoji="0" lang="en-IN" sz="1800" b="0" i="0" u="none" strike="noStrike" kern="1200" cap="none" spc="0" normalizeH="0" baseline="0" noProof="0" dirty="0" err="1">
                <a:ln>
                  <a:noFill/>
                </a:ln>
                <a:solidFill>
                  <a:prstClr val="white"/>
                </a:solidFill>
                <a:effectLst/>
                <a:uLnTx/>
                <a:uFillTx/>
                <a:latin typeface="Calibri" panose="020F0502020204030204"/>
                <a:ea typeface="+mn-ea"/>
                <a:cs typeface="+mn-cs"/>
              </a:rPr>
              <a:t>Ghughra</a:t>
            </a: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Sandwich </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Jumbo veg Sandwich</a:t>
            </a:r>
            <a:endPar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285750" marR="0" lvl="0" indent="-285750" algn="l" defTabSz="914400" rtl="0" eaLnBrk="1" fontAlgn="t" latinLnBrk="0" hangingPunct="1">
              <a:lnSpc>
                <a:spcPct val="100000"/>
              </a:lnSpc>
              <a:spcBef>
                <a:spcPts val="0"/>
              </a:spcBef>
              <a:spcAft>
                <a:spcPts val="0"/>
              </a:spcAft>
              <a:buClrTx/>
              <a:buSzTx/>
              <a:buFont typeface="Wingdings" panose="05000000000000000000" pitchFamily="2" charset="2"/>
              <a:buChar char="§"/>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8EEC5393-13AE-5ACD-61FB-EEB5F8FC4FD7}"/>
              </a:ext>
            </a:extLst>
          </p:cNvPr>
          <p:cNvSpPr txBox="1"/>
          <p:nvPr/>
        </p:nvSpPr>
        <p:spPr>
          <a:xfrm>
            <a:off x="6415955" y="1600638"/>
            <a:ext cx="4744064" cy="3970318"/>
          </a:xfrm>
          <a:prstGeom prst="rect">
            <a:avLst/>
          </a:prstGeom>
          <a:noFill/>
        </p:spPr>
        <p:txBody>
          <a:bodyPr wrap="square">
            <a:spAutoFit/>
          </a:bodyPr>
          <a:lstStyle/>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white"/>
                </a:solidFill>
                <a:effectLst/>
                <a:uLnTx/>
                <a:uFillTx/>
                <a:latin typeface="Calibri" panose="020F0502020204030204"/>
                <a:ea typeface="+mn-ea"/>
                <a:cs typeface="+mn-cs"/>
              </a:rPr>
              <a:t>Tex-mex</a:t>
            </a: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Focaccia Sandwich</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it-IT" sz="1800" b="0" i="0" u="none" strike="noStrike" kern="1200" cap="none" spc="0" normalizeH="0" baseline="0" noProof="0" dirty="0">
                <a:ln>
                  <a:noFill/>
                </a:ln>
                <a:solidFill>
                  <a:prstClr val="white"/>
                </a:solidFill>
                <a:effectLst/>
                <a:uLnTx/>
                <a:uFillTx/>
                <a:latin typeface="Calibri" panose="020F0502020204030204"/>
                <a:ea typeface="+mn-ea"/>
                <a:cs typeface="+mn-cs"/>
              </a:rPr>
              <a:t>Peri Peri Paneer Focaccia Sandwich</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Veg Pesto focaccia Sandwich</a:t>
            </a:r>
            <a:endPar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Veg Carlos Club Sandwich</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Double Loaded Maharaja Cheese Sandwich</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Ahmedabad </a:t>
            </a:r>
            <a:r>
              <a:rPr kumimoji="0" lang="en-IN" sz="1800" b="0" i="0" u="none" strike="noStrike" kern="1200" cap="none" spc="0" normalizeH="0" baseline="0" noProof="0" dirty="0" err="1">
                <a:ln>
                  <a:noFill/>
                </a:ln>
                <a:solidFill>
                  <a:prstClr val="white"/>
                </a:solidFill>
                <a:effectLst/>
                <a:uLnTx/>
                <a:uFillTx/>
                <a:latin typeface="Calibri" panose="020F0502020204030204"/>
                <a:ea typeface="+mn-ea"/>
                <a:cs typeface="+mn-cs"/>
              </a:rPr>
              <a:t>Ghughra</a:t>
            </a: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Sandwich </a:t>
            </a:r>
            <a:b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Jumbo veg Sandwich</a:t>
            </a:r>
            <a:endParaRPr kumimoji="0" lang="en-IN"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83481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769817"/>
            <a:ext cx="3215148" cy="5320432"/>
          </a:xfrm>
          <a:prstGeom prst="rect">
            <a:avLst/>
          </a:prstGeom>
          <a:gradFill flip="none" rotWithShape="1">
            <a:gsLst>
              <a:gs pos="0">
                <a:srgbClr val="FB8423">
                  <a:shade val="30000"/>
                  <a:satMod val="115000"/>
                </a:srgbClr>
              </a:gs>
              <a:gs pos="50000">
                <a:srgbClr val="FB8423">
                  <a:shade val="67500"/>
                  <a:satMod val="115000"/>
                </a:srgbClr>
              </a:gs>
              <a:gs pos="100000">
                <a:srgbClr val="FB8423">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a:off x="63460" y="871539"/>
            <a:ext cx="1926388" cy="1941072"/>
          </a:xfrm>
          <a:prstGeom prst="round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4B1C45F8-40C5-657A-8F6A-87E23F35D73B}"/>
              </a:ext>
            </a:extLst>
          </p:cNvPr>
          <p:cNvSpPr txBox="1"/>
          <p:nvPr/>
        </p:nvSpPr>
        <p:spPr>
          <a:xfrm>
            <a:off x="5342280" y="689580"/>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err="1">
                <a:ln>
                  <a:noFill/>
                </a:ln>
                <a:solidFill>
                  <a:srgbClr val="9B45DE"/>
                </a:solidFill>
                <a:effectLst/>
                <a:uLnTx/>
                <a:uFillTx/>
                <a:latin typeface="Bricolage Grotesque 14pt" panose="020B0605040402000204" pitchFamily="34" charset="0"/>
                <a:ea typeface="Roboto" panose="02000000000000000000" pitchFamily="2" charset="0"/>
                <a:cs typeface="Heebo" pitchFamily="2" charset="-79"/>
              </a:rPr>
              <a:t>Momos</a:t>
            </a:r>
            <a:endParaRPr kumimoji="0" lang="en-US" sz="4000" b="1" i="0" u="none" strike="noStrike" kern="1200" cap="none" spc="0" normalizeH="0" baseline="0" noProof="0" dirty="0">
              <a:ln>
                <a:noFill/>
              </a:ln>
              <a:solidFill>
                <a:srgbClr val="9B45DE"/>
              </a:solidFill>
              <a:effectLst/>
              <a:uLnTx/>
              <a:uFillTx/>
              <a:latin typeface="Bricolage Grotesque 14pt" panose="020B0605040402000204" pitchFamily="34" charset="0"/>
              <a:ea typeface="Roboto" panose="02000000000000000000" pitchFamily="2" charset="0"/>
              <a:cs typeface="Heebo" pitchFamily="2" charset="-79"/>
            </a:endParaRPr>
          </a:p>
        </p:txBody>
      </p:sp>
      <p:sp>
        <p:nvSpPr>
          <p:cNvPr id="8" name="TextBox 7"/>
          <p:cNvSpPr txBox="1"/>
          <p:nvPr/>
        </p:nvSpPr>
        <p:spPr>
          <a:xfrm>
            <a:off x="4542502" y="2356112"/>
            <a:ext cx="7226123" cy="147732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Experience the magic of momos with the luxury of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five-star dumplings</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where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gourmet delights </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are prepared to perfection and served with meticulous attention to detail. From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classic momos to innovative creations</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our menu offers a delightful array of options to tantalize your taste buds. Discover the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fusion of elegance and efficiency </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our QSR</a:t>
            </a:r>
            <a:r>
              <a:rPr kumimoji="0" lang="en-US" sz="16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a:t>
            </a:r>
          </a:p>
        </p:txBody>
      </p:sp>
      <p:sp>
        <p:nvSpPr>
          <p:cNvPr id="11" name="Rounded Rectangle 10"/>
          <p:cNvSpPr/>
          <p:nvPr/>
        </p:nvSpPr>
        <p:spPr>
          <a:xfrm rot="5400000">
            <a:off x="7320555" y="1629982"/>
            <a:ext cx="1742406" cy="7226123"/>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4796220" y="4815372"/>
            <a:ext cx="6863633" cy="107721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Authentic momos made with premium ingredients.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Innovative varieties ranging from classic steamed momos to fusion creations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Taste and flavors reminiscent of five-star dumplings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Exclusive innovative varieties found nowhere else.</a:t>
            </a:r>
          </a:p>
        </p:txBody>
      </p:sp>
      <p:sp>
        <p:nvSpPr>
          <p:cNvPr id="16" name="Rectangle 15">
            <a:extLst>
              <a:ext uri="{FF2B5EF4-FFF2-40B4-BE49-F238E27FC236}">
                <a16:creationId xmlns:a16="http://schemas.microsoft.com/office/drawing/2014/main" id="{885FC6EF-4930-AF4E-777D-501E522B2C95}"/>
              </a:ext>
            </a:extLst>
          </p:cNvPr>
          <p:cNvSpPr/>
          <p:nvPr/>
        </p:nvSpPr>
        <p:spPr>
          <a:xfrm>
            <a:off x="7230921" y="4102690"/>
            <a:ext cx="1594951" cy="538300"/>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18" name="TextBox 17"/>
          <p:cNvSpPr txBox="1"/>
          <p:nvPr/>
        </p:nvSpPr>
        <p:spPr>
          <a:xfrm>
            <a:off x="7377889" y="4132050"/>
            <a:ext cx="130101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sp>
        <p:nvSpPr>
          <p:cNvPr id="19" name="Rectangle 18">
            <a:extLst>
              <a:ext uri="{FF2B5EF4-FFF2-40B4-BE49-F238E27FC236}">
                <a16:creationId xmlns:a16="http://schemas.microsoft.com/office/drawing/2014/main" id="{174DAE6E-88FC-8FBA-E7AF-836600D40A41}"/>
              </a:ext>
            </a:extLst>
          </p:cNvPr>
          <p:cNvSpPr/>
          <p:nvPr/>
        </p:nvSpPr>
        <p:spPr>
          <a:xfrm>
            <a:off x="4670323" y="1842075"/>
            <a:ext cx="6989530" cy="390111"/>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20" name="TextBox 19"/>
          <p:cNvSpPr txBox="1"/>
          <p:nvPr/>
        </p:nvSpPr>
        <p:spPr>
          <a:xfrm>
            <a:off x="5065295" y="1862854"/>
            <a:ext cx="592620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öhne"/>
                <a:ea typeface="+mn-ea"/>
                <a:cs typeface="+mn-cs"/>
              </a:rPr>
              <a:t>Momos, Water Chestnut, Lotus Root &amp; many more…</a:t>
            </a:r>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2" name="Rounded Rectangle 7">
            <a:extLst>
              <a:ext uri="{FF2B5EF4-FFF2-40B4-BE49-F238E27FC236}">
                <a16:creationId xmlns:a16="http://schemas.microsoft.com/office/drawing/2014/main" id="{FF88049D-26BC-129B-9C5D-B9F3CF383EEB}"/>
              </a:ext>
            </a:extLst>
          </p:cNvPr>
          <p:cNvSpPr/>
          <p:nvPr/>
        </p:nvSpPr>
        <p:spPr>
          <a:xfrm>
            <a:off x="49337" y="4045388"/>
            <a:ext cx="1926388" cy="1941073"/>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6">
            <a:extLst>
              <a:ext uri="{FF2B5EF4-FFF2-40B4-BE49-F238E27FC236}">
                <a16:creationId xmlns:a16="http://schemas.microsoft.com/office/drawing/2014/main" id="{D2571F70-504D-50BB-9275-16415D936376}"/>
              </a:ext>
            </a:extLst>
          </p:cNvPr>
          <p:cNvSpPr/>
          <p:nvPr/>
        </p:nvSpPr>
        <p:spPr>
          <a:xfrm>
            <a:off x="2053308" y="2549257"/>
            <a:ext cx="1726378" cy="1759486"/>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5143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1+#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1+#ppt_w/2"/>
                                          </p:val>
                                        </p:tav>
                                        <p:tav tm="100000">
                                          <p:val>
                                            <p:strVal val="#ppt_x"/>
                                          </p:val>
                                        </p:tav>
                                      </p:tavLst>
                                    </p:anim>
                                    <p:anim calcmode="lin" valueType="num">
                                      <p:cBhvr additive="base">
                                        <p:cTn id="2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cBhvr additive="base">
                                        <p:cTn id="53" dur="500" fill="hold"/>
                                        <p:tgtEl>
                                          <p:spTgt spid="11"/>
                                        </p:tgtEl>
                                        <p:attrNameLst>
                                          <p:attrName>ppt_x</p:attrName>
                                        </p:attrNameLst>
                                      </p:cBhvr>
                                      <p:tavLst>
                                        <p:tav tm="0">
                                          <p:val>
                                            <p:strVal val="#ppt_x"/>
                                          </p:val>
                                        </p:tav>
                                        <p:tav tm="100000">
                                          <p:val>
                                            <p:strVal val="#ppt_x"/>
                                          </p:val>
                                        </p:tav>
                                      </p:tavLst>
                                    </p:anim>
                                    <p:anim calcmode="lin" valueType="num">
                                      <p:cBhvr additive="base">
                                        <p:cTn id="54" dur="500" fill="hold"/>
                                        <p:tgtEl>
                                          <p:spTgt spid="11"/>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ppt_x"/>
                                          </p:val>
                                        </p:tav>
                                        <p:tav tm="100000">
                                          <p:val>
                                            <p:strVal val="#ppt_x"/>
                                          </p:val>
                                        </p:tav>
                                      </p:tavLst>
                                    </p:anim>
                                    <p:anim calcmode="lin" valueType="num">
                                      <p:cBhvr additive="base">
                                        <p:cTn id="6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6" grpId="0"/>
      <p:bldP spid="8" grpId="0"/>
      <p:bldP spid="11" grpId="0" animBg="1"/>
      <p:bldP spid="12" grpId="0"/>
      <p:bldP spid="16" grpId="0" animBg="1"/>
      <p:bldP spid="18" grpId="0"/>
      <p:bldP spid="19" grpId="0" animBg="1"/>
      <p:bldP spid="20" grpId="0"/>
      <p:bldP spid="2" grpId="0" animBg="1"/>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DF34E7F-652E-28F9-8E10-85570C1C5E4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82DA76D-AD10-490D-5905-341E33F91446}"/>
              </a:ext>
            </a:extLst>
          </p:cNvPr>
          <p:cNvSpPr txBox="1"/>
          <p:nvPr/>
        </p:nvSpPr>
        <p:spPr>
          <a:xfrm>
            <a:off x="3246532" y="578649"/>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MOMO MENU</a:t>
            </a:r>
          </a:p>
        </p:txBody>
      </p:sp>
      <p:pic>
        <p:nvPicPr>
          <p:cNvPr id="14" name="Picture 13">
            <a:extLst>
              <a:ext uri="{FF2B5EF4-FFF2-40B4-BE49-F238E27FC236}">
                <a16:creationId xmlns:a16="http://schemas.microsoft.com/office/drawing/2014/main" id="{BBF4AA1B-ACD5-B7CA-9CEC-D606090BF8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6" name="TextBox 5">
            <a:extLst>
              <a:ext uri="{FF2B5EF4-FFF2-40B4-BE49-F238E27FC236}">
                <a16:creationId xmlns:a16="http://schemas.microsoft.com/office/drawing/2014/main" id="{6BAB3874-C3DD-C1B0-5105-C67DB53551F3}"/>
              </a:ext>
            </a:extLst>
          </p:cNvPr>
          <p:cNvSpPr txBox="1"/>
          <p:nvPr/>
        </p:nvSpPr>
        <p:spPr>
          <a:xfrm>
            <a:off x="1141238" y="1639706"/>
            <a:ext cx="3805084" cy="3724096"/>
          </a:xfrm>
          <a:prstGeom prst="rect">
            <a:avLst/>
          </a:prstGeom>
          <a:noFill/>
        </p:spPr>
        <p:txBody>
          <a:bodyPr wrap="square">
            <a:spAutoFit/>
          </a:bodyPr>
          <a:lstStyle/>
          <a:p>
            <a:pPr marL="457200" marR="0" lvl="1" indent="0" algn="l"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Veg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Momos</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Cheese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Momos</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Soya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Momos</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Paneer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Momos</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Mashroom</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Momos</a:t>
            </a: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285750" marR="0" lvl="0" indent="-285750" algn="l" defTabSz="914400" rtl="0" eaLnBrk="1" fontAlgn="t" latinLnBrk="0" hangingPunct="1">
              <a:lnSpc>
                <a:spcPct val="100000"/>
              </a:lnSpc>
              <a:spcBef>
                <a:spcPts val="0"/>
              </a:spcBef>
              <a:spcAft>
                <a:spcPts val="0"/>
              </a:spcAft>
              <a:buClrTx/>
              <a:buSzTx/>
              <a:buFont typeface="Wingdings" panose="05000000000000000000" pitchFamily="2" charset="2"/>
              <a:buChar char="§"/>
              <a:tabLst/>
              <a:defRPr/>
            </a:pPr>
            <a:b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Cheese Sweet Corn </a:t>
            </a:r>
            <a:r>
              <a:rPr kumimoji="0" lang="en-IN" sz="1800" b="0" i="0" u="none" strike="noStrike" kern="1200" cap="none" spc="0" normalizeH="0" baseline="0" noProof="0" dirty="0" err="1">
                <a:ln>
                  <a:noFill/>
                </a:ln>
                <a:solidFill>
                  <a:prstClr val="white"/>
                </a:solidFill>
                <a:effectLst/>
                <a:uLnTx/>
                <a:uFillTx/>
                <a:latin typeface="Calibri" panose="020F0502020204030204"/>
                <a:ea typeface="+mn-ea"/>
                <a:cs typeface="+mn-cs"/>
              </a:rPr>
              <a:t>Momos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C53FB2C9-6448-A5F7-57DE-DB0A5A417DC3}"/>
              </a:ext>
            </a:extLst>
          </p:cNvPr>
          <p:cNvSpPr txBox="1"/>
          <p:nvPr/>
        </p:nvSpPr>
        <p:spPr>
          <a:xfrm>
            <a:off x="6190404" y="1627593"/>
            <a:ext cx="4744064" cy="3170099"/>
          </a:xfrm>
          <a:prstGeom prst="rect">
            <a:avLst/>
          </a:prstGeom>
          <a:noFill/>
        </p:spPr>
        <p:txBody>
          <a:bodyPr wrap="square">
            <a:spAutoFit/>
          </a:bodyPr>
          <a:lstStyle/>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Cheese &amp; Spinach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Momos</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Avacado</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Mushroom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Momos</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Water Chestnut, Lotus Root &amp; Celery </a:t>
            </a:r>
            <a:r>
              <a:rPr kumimoji="0" lang="en-US" sz="2000" b="0" i="0" u="none" strike="noStrike" kern="1200" cap="none" spc="0" normalizeH="0" baseline="0" noProof="0" dirty="0" err="1">
                <a:ln>
                  <a:noFill/>
                </a:ln>
                <a:solidFill>
                  <a:prstClr val="white"/>
                </a:solidFill>
                <a:effectLst/>
                <a:uLnTx/>
                <a:uFillTx/>
                <a:latin typeface="Calibri" panose="020F0502020204030204"/>
                <a:ea typeface="+mn-ea"/>
                <a:cs typeface="+mn-cs"/>
              </a:rPr>
              <a:t>Momos</a:t>
            </a: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Jhol</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Momos</a:t>
            </a: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8025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769817"/>
            <a:ext cx="3494811" cy="5320432"/>
          </a:xfrm>
          <a:prstGeom prst="rect">
            <a:avLst/>
          </a:prstGeom>
          <a:gradFill flip="none" rotWithShape="1">
            <a:gsLst>
              <a:gs pos="0">
                <a:srgbClr val="FF6700">
                  <a:shade val="30000"/>
                  <a:satMod val="115000"/>
                </a:srgbClr>
              </a:gs>
              <a:gs pos="50000">
                <a:srgbClr val="FF6700">
                  <a:shade val="67500"/>
                  <a:satMod val="115000"/>
                </a:srgbClr>
              </a:gs>
              <a:gs pos="100000">
                <a:srgbClr val="FF6700">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a:off x="83316" y="871036"/>
            <a:ext cx="1920626" cy="1920543"/>
          </a:xfrm>
          <a:prstGeom prst="round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4B1C45F8-40C5-657A-8F6A-87E23F35D73B}"/>
              </a:ext>
            </a:extLst>
          </p:cNvPr>
          <p:cNvSpPr txBox="1"/>
          <p:nvPr/>
        </p:nvSpPr>
        <p:spPr>
          <a:xfrm>
            <a:off x="4816525" y="691815"/>
            <a:ext cx="623129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0000"/>
                </a:solidFill>
                <a:effectLst/>
                <a:uLnTx/>
                <a:uFillTx/>
                <a:latin typeface="Bricolage Grotesque 14pt" panose="020B0605040402000204" pitchFamily="34" charset="0"/>
                <a:ea typeface="Roboto" panose="02000000000000000000" pitchFamily="2" charset="0"/>
                <a:cs typeface="Heebo" pitchFamily="2" charset="-79"/>
              </a:rPr>
              <a:t>Dilli</a:t>
            </a:r>
            <a:r>
              <a:rPr lang="en-US" sz="4000" b="1" dirty="0">
                <a:solidFill>
                  <a:srgbClr val="FF0000"/>
                </a:solidFill>
                <a:latin typeface="Bricolage Grotesque 14pt" panose="020B0605040402000204" pitchFamily="34" charset="0"/>
                <a:ea typeface="Roboto" panose="02000000000000000000" pitchFamily="2" charset="0"/>
                <a:cs typeface="Heebo" pitchFamily="2" charset="-79"/>
              </a:rPr>
              <a:t> </a:t>
            </a:r>
            <a:r>
              <a:rPr kumimoji="0" lang="en-US" sz="4000" b="1" i="0" u="none" strike="noStrike" kern="1200" cap="none" spc="0" normalizeH="0" baseline="0" noProof="0" dirty="0">
                <a:ln>
                  <a:noFill/>
                </a:ln>
                <a:solidFill>
                  <a:srgbClr val="FF0000"/>
                </a:solidFill>
                <a:effectLst/>
                <a:uLnTx/>
                <a:uFillTx/>
                <a:latin typeface="Bricolage Grotesque 14pt" panose="020B0605040402000204" pitchFamily="34" charset="0"/>
                <a:ea typeface="Roboto" panose="02000000000000000000" pitchFamily="2" charset="0"/>
                <a:cs typeface="Heebo" pitchFamily="2" charset="-79"/>
              </a:rPr>
              <a:t>By Heart</a:t>
            </a:r>
          </a:p>
        </p:txBody>
      </p:sp>
      <p:sp>
        <p:nvSpPr>
          <p:cNvPr id="8" name="TextBox 7"/>
          <p:cNvSpPr txBox="1"/>
          <p:nvPr/>
        </p:nvSpPr>
        <p:spPr>
          <a:xfrm>
            <a:off x="4232788" y="2322854"/>
            <a:ext cx="753583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Calibri" panose="020F0502020204030204"/>
                <a:ea typeface="+mn-ea"/>
                <a:cs typeface="+mn-cs"/>
              </a:rPr>
              <a:t>Dilli</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by heart brings the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essence of Old Delhi to your plate</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with our team of chefs exclusively from the North India, particularly Delhi. Immerse yourself in the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authentic flavors of street food</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of Delhi experience right at our place with more </a:t>
            </a:r>
            <a:r>
              <a:rPr kumimoji="0" lang="en-US" sz="1800" b="1" i="0" u="none" strike="noStrike" kern="1200" cap="none" spc="0" normalizeH="0" baseline="0" noProof="0" dirty="0">
                <a:ln>
                  <a:noFill/>
                </a:ln>
                <a:solidFill>
                  <a:srgbClr val="FDBB11"/>
                </a:solidFill>
                <a:effectLst/>
                <a:uLnTx/>
                <a:uFillTx/>
                <a:latin typeface="Calibri" panose="020F0502020204030204"/>
                <a:ea typeface="+mn-ea"/>
                <a:cs typeface="+mn-cs"/>
              </a:rPr>
              <a:t>hygiene and freshness</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a:r>
          </a:p>
        </p:txBody>
      </p:sp>
      <p:sp>
        <p:nvSpPr>
          <p:cNvPr id="9" name="Rounded Rectangle 8"/>
          <p:cNvSpPr/>
          <p:nvPr/>
        </p:nvSpPr>
        <p:spPr>
          <a:xfrm rot="5400000">
            <a:off x="6810632" y="978247"/>
            <a:ext cx="2273776" cy="7714601"/>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Box 9"/>
          <p:cNvSpPr txBox="1"/>
          <p:nvPr/>
        </p:nvSpPr>
        <p:spPr>
          <a:xfrm>
            <a:off x="4232788" y="4327715"/>
            <a:ext cx="7398774" cy="132343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Team of chefs exclusively from Delhi, guaranteeing authentic flavours of Old Delhi.</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Immersive experience of Delhi street food, providing a taste of the city's culinary heritage.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Menu featuring exclusive and authentic dishes unique to Delhi</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Unparalleled authenticity, delivering the true essence of Delhi's culinary traditions.</a:t>
            </a:r>
          </a:p>
        </p:txBody>
      </p:sp>
      <p:sp>
        <p:nvSpPr>
          <p:cNvPr id="13" name="Rectangle 12">
            <a:extLst>
              <a:ext uri="{FF2B5EF4-FFF2-40B4-BE49-F238E27FC236}">
                <a16:creationId xmlns:a16="http://schemas.microsoft.com/office/drawing/2014/main" id="{885FC6EF-4930-AF4E-777D-501E522B2C95}"/>
              </a:ext>
            </a:extLst>
          </p:cNvPr>
          <p:cNvSpPr/>
          <p:nvPr/>
        </p:nvSpPr>
        <p:spPr>
          <a:xfrm>
            <a:off x="6917013" y="3461275"/>
            <a:ext cx="1821093" cy="688224"/>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14" name="TextBox 13"/>
          <p:cNvSpPr txBox="1"/>
          <p:nvPr/>
        </p:nvSpPr>
        <p:spPr>
          <a:xfrm>
            <a:off x="7030125" y="3578288"/>
            <a:ext cx="159486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sp>
        <p:nvSpPr>
          <p:cNvPr id="15" name="Rectangle 14">
            <a:extLst>
              <a:ext uri="{FF2B5EF4-FFF2-40B4-BE49-F238E27FC236}">
                <a16:creationId xmlns:a16="http://schemas.microsoft.com/office/drawing/2014/main" id="{174DAE6E-88FC-8FBA-E7AF-836600D40A41}"/>
              </a:ext>
            </a:extLst>
          </p:cNvPr>
          <p:cNvSpPr/>
          <p:nvPr/>
        </p:nvSpPr>
        <p:spPr>
          <a:xfrm>
            <a:off x="4290243" y="1903514"/>
            <a:ext cx="7341319" cy="365446"/>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16" name="TextBox 15"/>
          <p:cNvSpPr txBox="1"/>
          <p:nvPr/>
        </p:nvSpPr>
        <p:spPr>
          <a:xfrm>
            <a:off x="5165321" y="1923624"/>
            <a:ext cx="592620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öhne"/>
                <a:ea typeface="+mn-ea"/>
                <a:cs typeface="+mn-cs"/>
              </a:rPr>
              <a:t>Chole </a:t>
            </a:r>
            <a:r>
              <a:rPr kumimoji="0" lang="en-US" sz="1800" b="1" i="0" u="none" strike="noStrike" kern="1200" cap="none" spc="0" normalizeH="0" baseline="0" noProof="0" dirty="0" err="1">
                <a:ln>
                  <a:noFill/>
                </a:ln>
                <a:solidFill>
                  <a:prstClr val="white"/>
                </a:solidFill>
                <a:effectLst/>
                <a:uLnTx/>
                <a:uFillTx/>
                <a:latin typeface="Söhne"/>
                <a:ea typeface="+mn-ea"/>
                <a:cs typeface="+mn-cs"/>
              </a:rPr>
              <a:t>Bhature</a:t>
            </a:r>
            <a:r>
              <a:rPr kumimoji="0" lang="en-US" sz="1800" b="1" i="0" u="none" strike="noStrike" kern="1200" cap="none" spc="0" normalizeH="0" baseline="0" noProof="0" dirty="0">
                <a:ln>
                  <a:noFill/>
                </a:ln>
                <a:solidFill>
                  <a:prstClr val="white"/>
                </a:solidFill>
                <a:effectLst/>
                <a:uLnTx/>
                <a:uFillTx/>
                <a:latin typeface="Söhne"/>
                <a:ea typeface="+mn-ea"/>
                <a:cs typeface="+mn-cs"/>
              </a:rPr>
              <a:t>, Rajma</a:t>
            </a:r>
            <a:r>
              <a:rPr kumimoji="0" lang="en-US" sz="1800" b="1" i="0" u="none" strike="noStrike" kern="1200" cap="none" spc="0" normalizeH="0" noProof="0" dirty="0">
                <a:ln>
                  <a:noFill/>
                </a:ln>
                <a:solidFill>
                  <a:prstClr val="white"/>
                </a:solidFill>
                <a:effectLst/>
                <a:uLnTx/>
                <a:uFillTx/>
                <a:latin typeface="Söhne"/>
                <a:ea typeface="+mn-ea"/>
                <a:cs typeface="+mn-cs"/>
              </a:rPr>
              <a:t> Chawal</a:t>
            </a:r>
            <a:r>
              <a:rPr kumimoji="0" lang="en-US" sz="1800" b="1" i="0" u="none" strike="noStrike" kern="1200" cap="none" spc="0" normalizeH="0" baseline="0" noProof="0" dirty="0">
                <a:ln>
                  <a:noFill/>
                </a:ln>
                <a:solidFill>
                  <a:prstClr val="white"/>
                </a:solidFill>
                <a:effectLst/>
                <a:uLnTx/>
                <a:uFillTx/>
                <a:latin typeface="Söhne"/>
                <a:ea typeface="+mn-ea"/>
                <a:cs typeface="+mn-cs"/>
              </a:rPr>
              <a:t>, </a:t>
            </a:r>
            <a:r>
              <a:rPr kumimoji="0" lang="en-US" sz="1800" b="1" i="0" u="none" strike="noStrike" kern="1200" cap="none" spc="0" normalizeH="0" baseline="0" noProof="0" dirty="0" err="1">
                <a:ln>
                  <a:noFill/>
                </a:ln>
                <a:solidFill>
                  <a:prstClr val="white"/>
                </a:solidFill>
                <a:effectLst/>
                <a:uLnTx/>
                <a:uFillTx/>
                <a:latin typeface="Söhne"/>
                <a:ea typeface="+mn-ea"/>
                <a:cs typeface="+mn-cs"/>
              </a:rPr>
              <a:t>Pulav</a:t>
            </a:r>
            <a:r>
              <a:rPr kumimoji="0" lang="en-US" sz="1800" b="1" i="0" u="none" strike="noStrike" kern="1200" cap="none" spc="0" normalizeH="0" baseline="0" noProof="0" dirty="0">
                <a:ln>
                  <a:noFill/>
                </a:ln>
                <a:solidFill>
                  <a:prstClr val="white"/>
                </a:solidFill>
                <a:effectLst/>
                <a:uLnTx/>
                <a:uFillTx/>
                <a:latin typeface="Söhne"/>
                <a:ea typeface="+mn-ea"/>
                <a:cs typeface="+mn-cs"/>
              </a:rPr>
              <a:t> &amp; many more…</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5" name="Rounded Rectangle 8">
            <a:extLst>
              <a:ext uri="{FF2B5EF4-FFF2-40B4-BE49-F238E27FC236}">
                <a16:creationId xmlns:a16="http://schemas.microsoft.com/office/drawing/2014/main" id="{84DD1F9D-7AE2-0F69-780C-1BEA10C4FD4D}"/>
              </a:ext>
            </a:extLst>
          </p:cNvPr>
          <p:cNvSpPr/>
          <p:nvPr/>
        </p:nvSpPr>
        <p:spPr>
          <a:xfrm>
            <a:off x="99386" y="4029162"/>
            <a:ext cx="1920626" cy="1920543"/>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ounded Rectangle 9">
            <a:extLst>
              <a:ext uri="{FF2B5EF4-FFF2-40B4-BE49-F238E27FC236}">
                <a16:creationId xmlns:a16="http://schemas.microsoft.com/office/drawing/2014/main" id="{CA0F9ACF-76D9-E63F-8716-29B3197CE84B}"/>
              </a:ext>
            </a:extLst>
          </p:cNvPr>
          <p:cNvSpPr/>
          <p:nvPr/>
        </p:nvSpPr>
        <p:spPr>
          <a:xfrm>
            <a:off x="2117054" y="2531781"/>
            <a:ext cx="1819032" cy="1858987"/>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5349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1+#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1+#ppt_w/2"/>
                                          </p:val>
                                        </p:tav>
                                        <p:tav tm="100000">
                                          <p:val>
                                            <p:strVal val="#ppt_x"/>
                                          </p:val>
                                        </p:tav>
                                      </p:tavLst>
                                    </p:anim>
                                    <p:anim calcmode="lin" valueType="num">
                                      <p:cBhvr additive="base">
                                        <p:cTn id="2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ppt_x"/>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cBhvr additive="base">
                                        <p:cTn id="57" dur="500" fill="hold"/>
                                        <p:tgtEl>
                                          <p:spTgt spid="10"/>
                                        </p:tgtEl>
                                        <p:attrNameLst>
                                          <p:attrName>ppt_x</p:attrName>
                                        </p:attrNameLst>
                                      </p:cBhvr>
                                      <p:tavLst>
                                        <p:tav tm="0">
                                          <p:val>
                                            <p:strVal val="#ppt_x"/>
                                          </p:val>
                                        </p:tav>
                                        <p:tav tm="100000">
                                          <p:val>
                                            <p:strVal val="#ppt_x"/>
                                          </p:val>
                                        </p:tav>
                                      </p:tavLst>
                                    </p:anim>
                                    <p:anim calcmode="lin" valueType="num">
                                      <p:cBhvr additive="base">
                                        <p:cTn id="5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6" grpId="0"/>
      <p:bldP spid="8" grpId="0"/>
      <p:bldP spid="9" grpId="0" animBg="1"/>
      <p:bldP spid="10" grpId="0"/>
      <p:bldP spid="13" grpId="0" animBg="1"/>
      <p:bldP spid="14" grpId="0"/>
      <p:bldP spid="15" grpId="0" animBg="1"/>
      <p:bldP spid="16" grpId="0"/>
      <p:bldP spid="5" grpId="0" animBg="1"/>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49F4316-B3BB-702E-51D6-501FADE5B40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3B55ED-6469-D8F3-BE85-67BD3A979812}"/>
              </a:ext>
            </a:extLst>
          </p:cNvPr>
          <p:cNvSpPr txBox="1"/>
          <p:nvPr/>
        </p:nvSpPr>
        <p:spPr>
          <a:xfrm>
            <a:off x="3539325" y="387481"/>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MENU</a:t>
            </a:r>
          </a:p>
        </p:txBody>
      </p:sp>
      <p:pic>
        <p:nvPicPr>
          <p:cNvPr id="14" name="Picture 13">
            <a:extLst>
              <a:ext uri="{FF2B5EF4-FFF2-40B4-BE49-F238E27FC236}">
                <a16:creationId xmlns:a16="http://schemas.microsoft.com/office/drawing/2014/main" id="{15F89069-1A6F-1FBF-C43C-6287FACCCB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6" name="TextBox 5">
            <a:extLst>
              <a:ext uri="{FF2B5EF4-FFF2-40B4-BE49-F238E27FC236}">
                <a16:creationId xmlns:a16="http://schemas.microsoft.com/office/drawing/2014/main" id="{A089954B-F339-A1CE-8810-CC03F1131555}"/>
              </a:ext>
            </a:extLst>
          </p:cNvPr>
          <p:cNvSpPr txBox="1"/>
          <p:nvPr/>
        </p:nvSpPr>
        <p:spPr>
          <a:xfrm>
            <a:off x="347145" y="1217872"/>
            <a:ext cx="4555560" cy="5570756"/>
          </a:xfrm>
          <a:prstGeom prst="rect">
            <a:avLst/>
          </a:prstGeom>
          <a:noFill/>
        </p:spPr>
        <p:txBody>
          <a:bodyPr wrap="square">
            <a:spAutoFit/>
          </a:bodyPr>
          <a:lstStyle/>
          <a:p>
            <a:pPr lvl="1" fontAlgn="t">
              <a:lnSpc>
                <a:spcPct val="200000"/>
              </a:lnSpc>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Chole and Poori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Chana and poori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lang="en-IN" sz="2000" dirty="0">
                <a:solidFill>
                  <a:prstClr val="white"/>
                </a:solidFill>
              </a:rPr>
              <a:t>Chana and </a:t>
            </a:r>
            <a:r>
              <a:rPr lang="en-IN" sz="2000" dirty="0" err="1">
                <a:solidFill>
                  <a:prstClr val="white"/>
                </a:solidFill>
              </a:rPr>
              <a:t>Bhature</a:t>
            </a:r>
            <a:br>
              <a:rPr lang="en-IN" sz="2000" dirty="0">
                <a:solidFill>
                  <a:prstClr val="white"/>
                </a:solidFill>
              </a:rPr>
            </a:br>
            <a:r>
              <a:rPr lang="en-IN" sz="2000" dirty="0">
                <a:solidFill>
                  <a:prstClr val="white"/>
                </a:solidFill>
              </a:rPr>
              <a:t>Chana and Kulcha</a:t>
            </a:r>
            <a:br>
              <a:rPr lang="en-IN" sz="2000" dirty="0">
                <a:solidFill>
                  <a:prstClr val="white"/>
                </a:solidFill>
              </a:rPr>
            </a:br>
            <a:r>
              <a:rPr lang="en-IN" sz="2000" dirty="0">
                <a:solidFill>
                  <a:prstClr val="white"/>
                </a:solidFill>
              </a:rPr>
              <a:t>Chole and </a:t>
            </a:r>
            <a:r>
              <a:rPr lang="en-IN" sz="2000" dirty="0" err="1">
                <a:solidFill>
                  <a:prstClr val="white"/>
                </a:solidFill>
              </a:rPr>
              <a:t>Bhature</a:t>
            </a:r>
            <a:br>
              <a:rPr lang="en-IN" sz="2000" dirty="0">
                <a:solidFill>
                  <a:prstClr val="white"/>
                </a:solidFill>
              </a:rPr>
            </a:br>
            <a:r>
              <a:rPr lang="en-IN" sz="2000" dirty="0">
                <a:solidFill>
                  <a:prstClr val="white"/>
                </a:solidFill>
              </a:rPr>
              <a:t>Chole and Kulcha</a:t>
            </a:r>
          </a:p>
          <a:p>
            <a:pPr lvl="1" fontAlgn="t">
              <a:lnSpc>
                <a:spcPct val="200000"/>
              </a:lnSpc>
              <a:defRPr/>
            </a:pPr>
            <a:r>
              <a:rPr lang="en-US" sz="2000" dirty="0">
                <a:solidFill>
                  <a:prstClr val="white"/>
                </a:solidFill>
              </a:rPr>
              <a:t>Shaadi style aloo gobi and poori</a:t>
            </a:r>
            <a:br>
              <a:rPr lang="en-IN" sz="2000" dirty="0">
                <a:solidFill>
                  <a:prstClr val="white"/>
                </a:solidFill>
              </a:rPr>
            </a:br>
            <a:r>
              <a:rPr lang="en-IN" sz="2000" dirty="0" err="1">
                <a:solidFill>
                  <a:prstClr val="white"/>
                </a:solidFill>
              </a:rPr>
              <a:t>Bedmi</a:t>
            </a:r>
            <a:r>
              <a:rPr lang="en-IN" sz="2000" dirty="0">
                <a:solidFill>
                  <a:prstClr val="white"/>
                </a:solidFill>
              </a:rPr>
              <a:t> poori aur aloo ki </a:t>
            </a:r>
            <a:r>
              <a:rPr lang="en-IN" sz="2000" dirty="0" err="1">
                <a:solidFill>
                  <a:prstClr val="white"/>
                </a:solidFill>
              </a:rPr>
              <a:t>sabji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113EC3EA-56C7-F89D-7810-D7F90DACA6A1}"/>
              </a:ext>
            </a:extLst>
          </p:cNvPr>
          <p:cNvSpPr txBox="1"/>
          <p:nvPr/>
        </p:nvSpPr>
        <p:spPr>
          <a:xfrm>
            <a:off x="8655230" y="1256168"/>
            <a:ext cx="2458105" cy="6863417"/>
          </a:xfrm>
          <a:prstGeom prst="rect">
            <a:avLst/>
          </a:prstGeom>
          <a:noFill/>
        </p:spPr>
        <p:txBody>
          <a:bodyPr wrap="square">
            <a:spAutoFit/>
          </a:bodyPr>
          <a:lstStyle/>
          <a:p>
            <a:pPr lvl="0" fontAlgn="t">
              <a:lnSpc>
                <a:spcPct val="200000"/>
              </a:lnSpc>
              <a:defRPr/>
            </a:pPr>
            <a:r>
              <a:rPr lang="en-IN" sz="2000" dirty="0">
                <a:solidFill>
                  <a:prstClr val="white"/>
                </a:solidFill>
              </a:rPr>
              <a:t>Paneer Butter Masala</a:t>
            </a:r>
          </a:p>
          <a:p>
            <a:pPr lvl="0" fontAlgn="t">
              <a:lnSpc>
                <a:spcPct val="200000"/>
              </a:lnSpc>
              <a:defRPr/>
            </a:pPr>
            <a:r>
              <a:rPr lang="en-IN" sz="2000" dirty="0">
                <a:solidFill>
                  <a:prstClr val="white"/>
                </a:solidFill>
              </a:rPr>
              <a:t>Paneer </a:t>
            </a:r>
            <a:r>
              <a:rPr lang="en-IN" sz="2000" dirty="0" err="1">
                <a:solidFill>
                  <a:prstClr val="white"/>
                </a:solidFill>
              </a:rPr>
              <a:t>Lababdar</a:t>
            </a:r>
            <a:endParaRPr lang="en-IN" sz="2000" dirty="0">
              <a:solidFill>
                <a:prstClr val="white"/>
              </a:solidFill>
            </a:endParaRPr>
          </a:p>
          <a:p>
            <a:pPr lvl="0" fontAlgn="t">
              <a:lnSpc>
                <a:spcPct val="200000"/>
              </a:lnSpc>
              <a:defRPr/>
            </a:pPr>
            <a:r>
              <a:rPr lang="en-IN" sz="2000" dirty="0">
                <a:solidFill>
                  <a:prstClr val="white"/>
                </a:solidFill>
              </a:rPr>
              <a:t>Paneer </a:t>
            </a:r>
            <a:r>
              <a:rPr lang="en-IN" sz="2000" dirty="0" err="1">
                <a:solidFill>
                  <a:prstClr val="white"/>
                </a:solidFill>
              </a:rPr>
              <a:t>Kadhai</a:t>
            </a:r>
            <a:endParaRPr lang="en-IN" sz="2000" dirty="0">
              <a:solidFill>
                <a:prstClr val="white"/>
              </a:solidFill>
            </a:endParaRPr>
          </a:p>
          <a:p>
            <a:pPr lvl="0" fontAlgn="t">
              <a:lnSpc>
                <a:spcPct val="200000"/>
              </a:lnSpc>
              <a:defRPr/>
            </a:pPr>
            <a:r>
              <a:rPr lang="en-IN" sz="2000" dirty="0">
                <a:solidFill>
                  <a:prstClr val="white"/>
                </a:solidFill>
              </a:rPr>
              <a:t>Paneer Tikka Masala</a:t>
            </a:r>
          </a:p>
          <a:p>
            <a:pPr lvl="0" fontAlgn="t">
              <a:lnSpc>
                <a:spcPct val="200000"/>
              </a:lnSpc>
              <a:defRPr/>
            </a:pPr>
            <a:r>
              <a:rPr lang="en-IN" sz="2000" dirty="0">
                <a:solidFill>
                  <a:prstClr val="white"/>
                </a:solidFill>
              </a:rPr>
              <a:t>Malai Tikka Masala</a:t>
            </a:r>
          </a:p>
          <a:p>
            <a:pPr lvl="0" fontAlgn="t">
              <a:lnSpc>
                <a:spcPct val="200000"/>
              </a:lnSpc>
              <a:defRPr/>
            </a:pPr>
            <a:r>
              <a:rPr lang="en-IN" sz="2000" dirty="0">
                <a:solidFill>
                  <a:prstClr val="white"/>
                </a:solidFill>
              </a:rPr>
              <a:t>Mushroom Masala</a:t>
            </a:r>
          </a:p>
          <a:p>
            <a:pPr lvl="0" fontAlgn="t">
              <a:lnSpc>
                <a:spcPct val="200000"/>
              </a:lnSpc>
              <a:defRPr/>
            </a:pPr>
            <a:r>
              <a:rPr lang="en-IN" sz="2000" dirty="0">
                <a:solidFill>
                  <a:prstClr val="white"/>
                </a:solidFill>
              </a:rPr>
              <a:t>Aloo Tandoori</a:t>
            </a:r>
          </a:p>
          <a:p>
            <a:pPr lvl="0" fontAlgn="t">
              <a:lnSpc>
                <a:spcPct val="200000"/>
              </a:lnSpc>
              <a:defRPr/>
            </a:pPr>
            <a:endParaRPr lang="en-IN" sz="2000" dirty="0">
              <a:solidFill>
                <a:prstClr val="white"/>
              </a:solidFill>
            </a:endParaRPr>
          </a:p>
          <a:p>
            <a:pPr lvl="0" fontAlgn="t">
              <a:lnSpc>
                <a:spcPct val="200000"/>
              </a:lnSpc>
              <a:defRPr/>
            </a:pPr>
            <a:endParaRPr lang="en-IN" sz="2000" dirty="0">
              <a:solidFill>
                <a:prstClr val="white"/>
              </a:solidFill>
              <a:latin typeface="Calibri" panose="020F0502020204030204"/>
            </a:endParaRPr>
          </a:p>
          <a:p>
            <a:pPr lvl="0" fontAlgn="t">
              <a:lnSpc>
                <a:spcPct val="200000"/>
              </a:lnSpc>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89A8CDD8-9ECD-2051-A970-456C5D99ED69}"/>
              </a:ext>
            </a:extLst>
          </p:cNvPr>
          <p:cNvSpPr txBox="1"/>
          <p:nvPr/>
        </p:nvSpPr>
        <p:spPr>
          <a:xfrm>
            <a:off x="5205275" y="1217872"/>
            <a:ext cx="2458105" cy="6863417"/>
          </a:xfrm>
          <a:prstGeom prst="rect">
            <a:avLst/>
          </a:prstGeom>
          <a:noFill/>
        </p:spPr>
        <p:txBody>
          <a:bodyPr wrap="square">
            <a:spAutoFit/>
          </a:bodyPr>
          <a:lstStyle/>
          <a:p>
            <a:pPr fontAlgn="t">
              <a:lnSpc>
                <a:spcPct val="200000"/>
              </a:lnSpc>
              <a:defRPr/>
            </a:pPr>
            <a:r>
              <a:rPr lang="en-IN" sz="2000" dirty="0">
                <a:solidFill>
                  <a:prstClr val="white"/>
                </a:solidFill>
              </a:rPr>
              <a:t>Rajma/Kadhi Chawal</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Dal </a:t>
            </a:r>
            <a:r>
              <a:rPr lang="en-IN" sz="2000" dirty="0">
                <a:solidFill>
                  <a:prstClr val="white"/>
                </a:solidFill>
                <a:latin typeface="Calibri" panose="020F0502020204030204"/>
              </a:rPr>
              <a:t>M</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akhni</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and Rice</a:t>
            </a:r>
          </a:p>
          <a:p>
            <a:pPr lvl="0" fontAlgn="t">
              <a:lnSpc>
                <a:spcPct val="200000"/>
              </a:lnSpc>
              <a:defRPr/>
            </a:pPr>
            <a:r>
              <a:rPr lang="en-IN" sz="2000" dirty="0">
                <a:solidFill>
                  <a:prstClr val="white"/>
                </a:solidFill>
              </a:rPr>
              <a:t>Chole Rice</a:t>
            </a:r>
          </a:p>
          <a:p>
            <a:pPr lvl="0" fontAlgn="t">
              <a:lnSpc>
                <a:spcPct val="200000"/>
              </a:lnSpc>
              <a:defRPr/>
            </a:pPr>
            <a:r>
              <a:rPr lang="en-IN" sz="2000" dirty="0">
                <a:solidFill>
                  <a:prstClr val="white"/>
                </a:solidFill>
              </a:rPr>
              <a:t>Jeera Rice</a:t>
            </a:r>
          </a:p>
          <a:p>
            <a:pPr lvl="0" fontAlgn="t">
              <a:lnSpc>
                <a:spcPct val="200000"/>
              </a:lnSpc>
              <a:defRPr/>
            </a:pPr>
            <a:r>
              <a:rPr lang="en-IN" sz="2000" dirty="0">
                <a:solidFill>
                  <a:prstClr val="white"/>
                </a:solidFill>
              </a:rPr>
              <a:t>Veg Pulao</a:t>
            </a:r>
          </a:p>
          <a:p>
            <a:pPr lvl="0" fontAlgn="t">
              <a:lnSpc>
                <a:spcPct val="200000"/>
              </a:lnSpc>
              <a:defRPr/>
            </a:pPr>
            <a:r>
              <a:rPr lang="en-IN" sz="2000" dirty="0">
                <a:solidFill>
                  <a:prstClr val="white"/>
                </a:solidFill>
              </a:rPr>
              <a:t>Kadi Chawal</a:t>
            </a:r>
          </a:p>
          <a:p>
            <a:pPr fontAlgn="t">
              <a:lnSpc>
                <a:spcPct val="200000"/>
              </a:lnSpc>
              <a:defRPr/>
            </a:pPr>
            <a:r>
              <a:rPr lang="en-IN" sz="2000" dirty="0">
                <a:solidFill>
                  <a:prstClr val="white"/>
                </a:solidFill>
              </a:rPr>
              <a:t>Punjabi Thali</a:t>
            </a:r>
          </a:p>
          <a:p>
            <a:pPr lvl="0" fontAlgn="t">
              <a:lnSpc>
                <a:spcPct val="200000"/>
              </a:lnSpc>
              <a:defRPr/>
            </a:pPr>
            <a:r>
              <a:rPr lang="en-IN" sz="2000" dirty="0">
                <a:solidFill>
                  <a:prstClr val="white"/>
                </a:solidFill>
              </a:rPr>
              <a:t>Mini Punjabi Thali</a:t>
            </a:r>
          </a:p>
          <a:p>
            <a:pPr lvl="0" fontAlgn="t">
              <a:lnSpc>
                <a:spcPct val="200000"/>
              </a:lnSpc>
              <a:defRPr/>
            </a:pPr>
            <a:endParaRPr lang="en-IN" sz="2000" dirty="0">
              <a:solidFill>
                <a:prstClr val="white"/>
              </a:solidFill>
              <a:latin typeface="Calibri" panose="020F0502020204030204"/>
            </a:endParaRPr>
          </a:p>
          <a:p>
            <a:pPr lvl="0" fontAlgn="t">
              <a:lnSpc>
                <a:spcPct val="200000"/>
              </a:lnSpc>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9506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769817"/>
            <a:ext cx="3494811" cy="5320432"/>
          </a:xfrm>
          <a:prstGeom prst="rect">
            <a:avLst/>
          </a:prstGeom>
          <a:gradFill flip="none" rotWithShape="1">
            <a:gsLst>
              <a:gs pos="0">
                <a:srgbClr val="E6326F">
                  <a:shade val="30000"/>
                  <a:satMod val="115000"/>
                </a:srgbClr>
              </a:gs>
              <a:gs pos="50000">
                <a:srgbClr val="E6326F">
                  <a:shade val="67500"/>
                  <a:satMod val="115000"/>
                </a:srgbClr>
              </a:gs>
              <a:gs pos="100000">
                <a:srgbClr val="E632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a:off x="385272" y="889502"/>
            <a:ext cx="2561920" cy="2451134"/>
          </a:xfrm>
          <a:prstGeom prst="round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174DAE6E-88FC-8FBA-E7AF-836600D40A41}"/>
              </a:ext>
            </a:extLst>
          </p:cNvPr>
          <p:cNvSpPr/>
          <p:nvPr/>
        </p:nvSpPr>
        <p:spPr>
          <a:xfrm>
            <a:off x="4360434" y="1903514"/>
            <a:ext cx="7233165" cy="365446"/>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8" name="TextBox 7"/>
          <p:cNvSpPr txBox="1"/>
          <p:nvPr/>
        </p:nvSpPr>
        <p:spPr>
          <a:xfrm>
            <a:off x="5224314" y="1901571"/>
            <a:ext cx="592620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white"/>
                </a:solidFill>
                <a:effectLst/>
                <a:uLnTx/>
                <a:uFillTx/>
                <a:latin typeface="Söhne"/>
                <a:ea typeface="+mn-ea"/>
                <a:cs typeface="+mn-cs"/>
              </a:rPr>
              <a:t>Vadpav</a:t>
            </a:r>
            <a:r>
              <a:rPr kumimoji="0" lang="en-US" sz="1800" b="1" i="0" u="none" strike="noStrike" kern="1200" cap="none" spc="0" normalizeH="0" baseline="0" noProof="0" dirty="0">
                <a:ln>
                  <a:noFill/>
                </a:ln>
                <a:solidFill>
                  <a:prstClr val="white"/>
                </a:solidFill>
                <a:effectLst/>
                <a:uLnTx/>
                <a:uFillTx/>
                <a:latin typeface="Söhne"/>
                <a:ea typeface="+mn-ea"/>
                <a:cs typeface="+mn-cs"/>
              </a:rPr>
              <a:t>, </a:t>
            </a:r>
            <a:r>
              <a:rPr kumimoji="0" lang="en-US" sz="1800" b="1" i="0" u="none" strike="noStrike" kern="1200" cap="none" spc="0" normalizeH="0" baseline="0" noProof="0" dirty="0" err="1">
                <a:ln>
                  <a:noFill/>
                </a:ln>
                <a:solidFill>
                  <a:prstClr val="white"/>
                </a:solidFill>
                <a:effectLst/>
                <a:uLnTx/>
                <a:uFillTx/>
                <a:latin typeface="Söhne"/>
                <a:ea typeface="+mn-ea"/>
                <a:cs typeface="+mn-cs"/>
              </a:rPr>
              <a:t>Mumbaia</a:t>
            </a:r>
            <a:r>
              <a:rPr kumimoji="0" lang="en-US" sz="1800" b="1" i="0" u="none" strike="noStrike" kern="1200" cap="none" spc="0" normalizeH="0" baseline="0" noProof="0" dirty="0">
                <a:ln>
                  <a:noFill/>
                </a:ln>
                <a:solidFill>
                  <a:prstClr val="white"/>
                </a:solidFill>
                <a:effectLst/>
                <a:uLnTx/>
                <a:uFillTx/>
                <a:latin typeface="Söhne"/>
                <a:ea typeface="+mn-ea"/>
                <a:cs typeface="+mn-cs"/>
              </a:rPr>
              <a:t> misal pav, </a:t>
            </a:r>
            <a:r>
              <a:rPr kumimoji="0" lang="en-US" sz="1800" b="1" i="0" u="none" strike="noStrike" kern="1200" cap="none" spc="0" normalizeH="0" baseline="0" noProof="0" dirty="0" err="1">
                <a:ln>
                  <a:noFill/>
                </a:ln>
                <a:solidFill>
                  <a:prstClr val="white"/>
                </a:solidFill>
                <a:effectLst/>
                <a:uLnTx/>
                <a:uFillTx/>
                <a:latin typeface="Söhne"/>
                <a:ea typeface="+mn-ea"/>
                <a:cs typeface="+mn-cs"/>
              </a:rPr>
              <a:t>Ulta</a:t>
            </a:r>
            <a:r>
              <a:rPr kumimoji="0" lang="en-US" sz="1800" b="1" i="0" u="none" strike="noStrike" kern="1200" cap="none" spc="0" normalizeH="0" baseline="0" noProof="0" dirty="0">
                <a:ln>
                  <a:noFill/>
                </a:ln>
                <a:solidFill>
                  <a:prstClr val="white"/>
                </a:solidFill>
                <a:effectLst/>
                <a:uLnTx/>
                <a:uFillTx/>
                <a:latin typeface="Söhne"/>
                <a:ea typeface="+mn-ea"/>
                <a:cs typeface="+mn-cs"/>
              </a:rPr>
              <a:t> Wada Pav &amp; many more…</a:t>
            </a:r>
          </a:p>
        </p:txBody>
      </p:sp>
      <p:sp>
        <p:nvSpPr>
          <p:cNvPr id="10" name="TextBox 9">
            <a:extLst>
              <a:ext uri="{FF2B5EF4-FFF2-40B4-BE49-F238E27FC236}">
                <a16:creationId xmlns:a16="http://schemas.microsoft.com/office/drawing/2014/main" id="{4B1C45F8-40C5-657A-8F6A-87E23F35D73B}"/>
              </a:ext>
            </a:extLst>
          </p:cNvPr>
          <p:cNvSpPr txBox="1"/>
          <p:nvPr/>
        </p:nvSpPr>
        <p:spPr>
          <a:xfrm>
            <a:off x="6065015" y="580075"/>
            <a:ext cx="4893732"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4E449"/>
                </a:solidFill>
                <a:effectLst/>
                <a:uLnTx/>
                <a:uFillTx/>
                <a:latin typeface="Bricolage Grotesque 14pt" panose="020B0605040402000204" pitchFamily="34" charset="0"/>
                <a:ea typeface="Roboto" panose="02000000000000000000" pitchFamily="2" charset="0"/>
                <a:cs typeface="Heebo" pitchFamily="2" charset="-79"/>
              </a:rPr>
              <a:t>Amchi Tumchi </a:t>
            </a:r>
            <a:r>
              <a:rPr kumimoji="0" lang="en-US" sz="4000" b="1" i="0" u="none" strike="noStrike" kern="1200" cap="none" spc="0" normalizeH="0" baseline="0" noProof="0" dirty="0">
                <a:ln>
                  <a:noFill/>
                </a:ln>
                <a:solidFill>
                  <a:srgbClr val="E6326F"/>
                </a:solidFill>
                <a:effectLst/>
                <a:uLnTx/>
                <a:uFillTx/>
                <a:latin typeface="Bricolage Grotesque 14pt" panose="020B0605040402000204" pitchFamily="34" charset="0"/>
                <a:ea typeface="Roboto" panose="02000000000000000000" pitchFamily="2" charset="0"/>
                <a:cs typeface="Heebo" pitchFamily="2" charset="-79"/>
              </a:rPr>
              <a:t>Mumbai 1966</a:t>
            </a:r>
          </a:p>
        </p:txBody>
      </p:sp>
      <p:sp>
        <p:nvSpPr>
          <p:cNvPr id="11" name="TextBox 10"/>
          <p:cNvSpPr txBox="1"/>
          <p:nvPr/>
        </p:nvSpPr>
        <p:spPr>
          <a:xfrm>
            <a:off x="4237703" y="2322854"/>
            <a:ext cx="7530923" cy="150810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C000"/>
                </a:solidFill>
                <a:effectLst/>
                <a:uLnTx/>
                <a:uFillTx/>
                <a:latin typeface="Calibri" panose="020F0502020204030204"/>
                <a:ea typeface="+mn-ea"/>
                <a:cs typeface="+mn-cs"/>
              </a:rPr>
              <a:t>Amchi Tumchi Mumbai </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brings the vibrant flavors of Mumbai to your city! Enjoy authentic and </a:t>
            </a: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fusion vada pav </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made with traditional Maharashtrian masalas, and indulge in our amazing </a:t>
            </a:r>
            <a:r>
              <a:rPr kumimoji="0" lang="en-US" sz="1800" b="1" i="0" u="none" strike="noStrike" kern="1200" cap="none" spc="0" normalizeH="0" baseline="0" noProof="0" dirty="0">
                <a:ln>
                  <a:noFill/>
                </a:ln>
                <a:solidFill>
                  <a:srgbClr val="FFC000"/>
                </a:solidFill>
                <a:effectLst/>
                <a:uLnTx/>
                <a:uFillTx/>
                <a:latin typeface="Calibri" panose="020F0502020204030204"/>
                <a:ea typeface="+mn-ea"/>
                <a:cs typeface="+mn-cs"/>
              </a:rPr>
              <a:t>misal</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Experience the true essence of </a:t>
            </a:r>
            <a:r>
              <a:rPr kumimoji="0" lang="en-US" sz="1800" b="1" i="0" u="none" strike="noStrike" kern="1200" cap="none" spc="0" normalizeH="0" baseline="0" noProof="0" dirty="0">
                <a:ln>
                  <a:noFill/>
                </a:ln>
                <a:solidFill>
                  <a:srgbClr val="FFC000"/>
                </a:solidFill>
                <a:effectLst/>
                <a:uLnTx/>
                <a:uFillTx/>
                <a:latin typeface="Calibri" panose="020F0502020204030204"/>
                <a:ea typeface="+mn-ea"/>
                <a:cs typeface="+mn-cs"/>
              </a:rPr>
              <a:t>Mumbaiya street food</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from spicy snacks to hearty  </a:t>
            </a:r>
            <a:r>
              <a:rPr kumimoji="0" lang="en-US" sz="1800" b="1" i="0" u="none" strike="noStrike" kern="1200" cap="none" spc="0" normalizeH="0" baseline="0" noProof="0" dirty="0">
                <a:ln>
                  <a:noFill/>
                </a:ln>
                <a:solidFill>
                  <a:srgbClr val="FFC000"/>
                </a:solidFill>
                <a:effectLst/>
                <a:uLnTx/>
                <a:uFillTx/>
                <a:latin typeface="Calibri" panose="020F0502020204030204"/>
                <a:ea typeface="+mn-ea"/>
                <a:cs typeface="+mn-cs"/>
              </a:rPr>
              <a:t>Maharashtrian regional dishes</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endParaRPr>
          </a:p>
        </p:txBody>
      </p:sp>
      <p:sp>
        <p:nvSpPr>
          <p:cNvPr id="13" name="Rounded Rectangle 12"/>
          <p:cNvSpPr/>
          <p:nvPr/>
        </p:nvSpPr>
        <p:spPr>
          <a:xfrm rot="5400000">
            <a:off x="7105814" y="1415240"/>
            <a:ext cx="1742406" cy="7655607"/>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TextBox 13"/>
          <p:cNvSpPr txBox="1"/>
          <p:nvPr/>
        </p:nvSpPr>
        <p:spPr>
          <a:xfrm>
            <a:off x="4326194" y="4824439"/>
            <a:ext cx="7512562" cy="107721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Authentic and traditional Maharashtrian masalas for a genuine taste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Vibrant and hygenic essence of Mumbai's street food in your city.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Fusion Delights with Unique twists on classic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vada</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pav and other favorites.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Diverse Menu, from spicy street snacks to hearty regional dishes</a:t>
            </a:r>
          </a:p>
        </p:txBody>
      </p:sp>
      <p:sp>
        <p:nvSpPr>
          <p:cNvPr id="15" name="Rectangle 14">
            <a:extLst>
              <a:ext uri="{FF2B5EF4-FFF2-40B4-BE49-F238E27FC236}">
                <a16:creationId xmlns:a16="http://schemas.microsoft.com/office/drawing/2014/main" id="{885FC6EF-4930-AF4E-777D-501E522B2C95}"/>
              </a:ext>
            </a:extLst>
          </p:cNvPr>
          <p:cNvSpPr/>
          <p:nvPr/>
        </p:nvSpPr>
        <p:spPr>
          <a:xfrm>
            <a:off x="7112934" y="4124637"/>
            <a:ext cx="1939081" cy="581132"/>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16" name="TextBox 15"/>
          <p:cNvSpPr txBox="1"/>
          <p:nvPr/>
        </p:nvSpPr>
        <p:spPr>
          <a:xfrm>
            <a:off x="7222789" y="4153593"/>
            <a:ext cx="171936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2" name="Rounded Rectangle 11">
            <a:extLst>
              <a:ext uri="{FF2B5EF4-FFF2-40B4-BE49-F238E27FC236}">
                <a16:creationId xmlns:a16="http://schemas.microsoft.com/office/drawing/2014/main" id="{B3F92497-0677-F1B0-A5EC-1961FAE7A1DD}"/>
              </a:ext>
            </a:extLst>
          </p:cNvPr>
          <p:cNvSpPr/>
          <p:nvPr/>
        </p:nvSpPr>
        <p:spPr>
          <a:xfrm>
            <a:off x="423374" y="3554904"/>
            <a:ext cx="2561919" cy="2301730"/>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w="1905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1135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1+#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6" grpId="0" animBg="1"/>
      <p:bldP spid="8" grpId="0"/>
      <p:bldP spid="10" grpId="0"/>
      <p:bldP spid="11" grpId="0"/>
      <p:bldP spid="13" grpId="0" animBg="1"/>
      <p:bldP spid="14" grpId="0"/>
      <p:bldP spid="15" grpId="0" animBg="1"/>
      <p:bldP spid="16" grpId="0"/>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CA1BFE3-8125-19B0-E906-A8D1B594FAD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2D4682F-1A6B-3EAC-27CC-DD7480BE150F}"/>
              </a:ext>
            </a:extLst>
          </p:cNvPr>
          <p:cNvSpPr txBox="1"/>
          <p:nvPr/>
        </p:nvSpPr>
        <p:spPr>
          <a:xfrm>
            <a:off x="3265005" y="387481"/>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 MENU</a:t>
            </a:r>
          </a:p>
        </p:txBody>
      </p:sp>
      <p:pic>
        <p:nvPicPr>
          <p:cNvPr id="14" name="Picture 13">
            <a:extLst>
              <a:ext uri="{FF2B5EF4-FFF2-40B4-BE49-F238E27FC236}">
                <a16:creationId xmlns:a16="http://schemas.microsoft.com/office/drawing/2014/main" id="{3BA5EE6B-AE0F-9A83-3192-27FA98E0F3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6" name="TextBox 5">
            <a:extLst>
              <a:ext uri="{FF2B5EF4-FFF2-40B4-BE49-F238E27FC236}">
                <a16:creationId xmlns:a16="http://schemas.microsoft.com/office/drawing/2014/main" id="{9A86743E-BDD1-61A4-0083-4359F5856E78}"/>
              </a:ext>
            </a:extLst>
          </p:cNvPr>
          <p:cNvSpPr txBox="1"/>
          <p:nvPr/>
        </p:nvSpPr>
        <p:spPr>
          <a:xfrm>
            <a:off x="1170735" y="1393900"/>
            <a:ext cx="3805084" cy="5586145"/>
          </a:xfrm>
          <a:prstGeom prst="rect">
            <a:avLst/>
          </a:prstGeom>
          <a:noFill/>
        </p:spPr>
        <p:txBody>
          <a:bodyPr wrap="square">
            <a:spAutoFit/>
          </a:bodyPr>
          <a:lstStyle/>
          <a:p>
            <a:pPr marL="457200" marR="0" lvl="1"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Mumbai Vada Pav</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it-IT" sz="2000" b="0" i="0" u="none" strike="noStrike" kern="1200" cap="none" spc="0" normalizeH="0" baseline="0" noProof="0" dirty="0">
                <a:ln>
                  <a:noFill/>
                </a:ln>
                <a:solidFill>
                  <a:prstClr val="white"/>
                </a:solidFill>
                <a:effectLst/>
                <a:uLnTx/>
                <a:uFillTx/>
                <a:latin typeface="Calibri" panose="020F0502020204030204"/>
                <a:ea typeface="+mn-ea"/>
                <a:cs typeface="+mn-cs"/>
              </a:rPr>
              <a:t>Amdavadi Vada Pav (Oil/Butter)</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Bhajiya</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Pav</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Cheese Vada Pav</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Dabeli</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(Oil/Butter)</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Cheese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Dabeli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Samosa Pav</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Bread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Pakoda</a:t>
            </a:r>
            <a:br>
              <a:rPr kumimoji="0" lang="en-IN" sz="2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Mirchi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Pakoda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35FDF14B-47A4-C281-E1E2-B28C6886B3C5}"/>
              </a:ext>
            </a:extLst>
          </p:cNvPr>
          <p:cNvSpPr txBox="1"/>
          <p:nvPr/>
        </p:nvSpPr>
        <p:spPr>
          <a:xfrm>
            <a:off x="6637228" y="1416250"/>
            <a:ext cx="4744064" cy="4708981"/>
          </a:xfrm>
          <a:prstGeom prst="rect">
            <a:avLst/>
          </a:prstGeom>
          <a:noFill/>
        </p:spPr>
        <p:txBody>
          <a:bodyPr wrap="square">
            <a:spAutoFit/>
          </a:bodyPr>
          <a:lstStyle/>
          <a:p>
            <a:pPr marL="0" marR="0" lvl="0"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Cheese Bread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Pakoda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Ulta</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Vada Pav</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sv-SE" sz="2000" b="0" i="0" u="none" strike="noStrike" kern="1200" cap="none" spc="0" normalizeH="0" baseline="0" noProof="0" dirty="0">
                <a:ln>
                  <a:noFill/>
                </a:ln>
                <a:solidFill>
                  <a:prstClr val="white"/>
                </a:solidFill>
                <a:effectLst/>
                <a:uLnTx/>
                <a:uFillTx/>
                <a:latin typeface="Calibri" panose="020F0502020204030204"/>
                <a:ea typeface="+mn-ea"/>
                <a:cs typeface="+mn-cs"/>
              </a:rPr>
              <a:t>Baked Vada Pav (Aloo Bun)</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Masala Pav 2 Pcs</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Sev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Usal</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Misal</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Pav</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Cheese Fry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Misal</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Pav</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Mumbaiya</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Misal</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Pav</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Pav</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Bhaji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6577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769817"/>
            <a:ext cx="3494811" cy="5320432"/>
          </a:xfrm>
          <a:prstGeom prst="rect">
            <a:avLst/>
          </a:prstGeom>
          <a:gradFill flip="none" rotWithShape="1">
            <a:gsLst>
              <a:gs pos="0">
                <a:srgbClr val="F94848">
                  <a:shade val="30000"/>
                  <a:satMod val="115000"/>
                </a:srgbClr>
              </a:gs>
              <a:gs pos="50000">
                <a:srgbClr val="F94848">
                  <a:shade val="67500"/>
                  <a:satMod val="115000"/>
                </a:srgbClr>
              </a:gs>
              <a:gs pos="100000">
                <a:srgbClr val="F94848">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a:off x="485158" y="927030"/>
            <a:ext cx="2506298" cy="2396336"/>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4B1C45F8-40C5-657A-8F6A-87E23F35D73B}"/>
              </a:ext>
            </a:extLst>
          </p:cNvPr>
          <p:cNvSpPr txBox="1"/>
          <p:nvPr/>
        </p:nvSpPr>
        <p:spPr>
          <a:xfrm>
            <a:off x="6065015" y="580075"/>
            <a:ext cx="4893732"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4E9D3"/>
                </a:solidFill>
                <a:effectLst/>
                <a:uLnTx/>
                <a:uFillTx/>
                <a:latin typeface="Bricolage Grotesque 14pt" panose="020B0605040402000204" pitchFamily="34" charset="0"/>
                <a:ea typeface="Roboto" panose="02000000000000000000" pitchFamily="2" charset="0"/>
                <a:cs typeface="Heebo" pitchFamily="2" charset="-79"/>
              </a:rPr>
              <a:t>All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94848"/>
                </a:solidFill>
                <a:effectLst/>
                <a:uLnTx/>
                <a:uFillTx/>
                <a:latin typeface="Bricolage Grotesque 14pt" panose="020B0605040402000204" pitchFamily="34" charset="0"/>
                <a:ea typeface="Roboto" panose="02000000000000000000" pitchFamily="2" charset="0"/>
                <a:cs typeface="Heebo" pitchFamily="2" charset="-79"/>
              </a:rPr>
              <a:t>Rice Baby</a:t>
            </a:r>
          </a:p>
        </p:txBody>
      </p:sp>
      <p:sp>
        <p:nvSpPr>
          <p:cNvPr id="9" name="Rounded Rectangle 8"/>
          <p:cNvSpPr/>
          <p:nvPr/>
        </p:nvSpPr>
        <p:spPr>
          <a:xfrm rot="5400000">
            <a:off x="7151341" y="1516662"/>
            <a:ext cx="1592357" cy="7714601"/>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Box 9"/>
          <p:cNvSpPr txBox="1"/>
          <p:nvPr/>
        </p:nvSpPr>
        <p:spPr>
          <a:xfrm>
            <a:off x="4168877" y="4859337"/>
            <a:ext cx="7627705" cy="132343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 complete meal in one bowl, curated to meet your nutritional needs.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Enjoy global rice dishes from around the world, all under one roof</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An innovative concept featuring rice as the main ingredient, offering the most diverse menu</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Taste for all generations, all in one place</a:t>
            </a:r>
          </a:p>
        </p:txBody>
      </p:sp>
      <p:sp>
        <p:nvSpPr>
          <p:cNvPr id="13" name="Rectangle 12">
            <a:extLst>
              <a:ext uri="{FF2B5EF4-FFF2-40B4-BE49-F238E27FC236}">
                <a16:creationId xmlns:a16="http://schemas.microsoft.com/office/drawing/2014/main" id="{885FC6EF-4930-AF4E-777D-501E522B2C95}"/>
              </a:ext>
            </a:extLst>
          </p:cNvPr>
          <p:cNvSpPr/>
          <p:nvPr/>
        </p:nvSpPr>
        <p:spPr>
          <a:xfrm>
            <a:off x="7216877" y="4356017"/>
            <a:ext cx="2017739" cy="503320"/>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14" name="TextBox 13"/>
          <p:cNvSpPr txBox="1"/>
          <p:nvPr/>
        </p:nvSpPr>
        <p:spPr>
          <a:xfrm>
            <a:off x="7334865" y="4333363"/>
            <a:ext cx="182752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sp>
        <p:nvSpPr>
          <p:cNvPr id="15" name="Rectangle 14">
            <a:extLst>
              <a:ext uri="{FF2B5EF4-FFF2-40B4-BE49-F238E27FC236}">
                <a16:creationId xmlns:a16="http://schemas.microsoft.com/office/drawing/2014/main" id="{174DAE6E-88FC-8FBA-E7AF-836600D40A41}"/>
              </a:ext>
            </a:extLst>
          </p:cNvPr>
          <p:cNvSpPr/>
          <p:nvPr/>
        </p:nvSpPr>
        <p:spPr>
          <a:xfrm>
            <a:off x="4168877" y="1943409"/>
            <a:ext cx="7537965" cy="366809"/>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16" name="TextBox 15"/>
          <p:cNvSpPr txBox="1"/>
          <p:nvPr/>
        </p:nvSpPr>
        <p:spPr>
          <a:xfrm>
            <a:off x="5175153" y="1960190"/>
            <a:ext cx="592620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öhne"/>
                <a:ea typeface="+mn-ea"/>
                <a:cs typeface="+mn-cs"/>
              </a:rPr>
              <a:t>Dal </a:t>
            </a:r>
            <a:r>
              <a:rPr kumimoji="0" lang="en-US" sz="1800" b="1" i="0" u="none" strike="noStrike" kern="1200" cap="none" spc="0" normalizeH="0" baseline="0" noProof="0" dirty="0" err="1">
                <a:ln>
                  <a:noFill/>
                </a:ln>
                <a:solidFill>
                  <a:prstClr val="white"/>
                </a:solidFill>
                <a:effectLst/>
                <a:uLnTx/>
                <a:uFillTx/>
                <a:latin typeface="Söhne"/>
                <a:ea typeface="+mn-ea"/>
                <a:cs typeface="+mn-cs"/>
              </a:rPr>
              <a:t>Makhni</a:t>
            </a:r>
            <a:r>
              <a:rPr kumimoji="0" lang="en-US" sz="1800" b="1" i="0" u="none" strike="noStrike" kern="1200" cap="none" spc="0" normalizeH="0" baseline="0" noProof="0" dirty="0">
                <a:ln>
                  <a:noFill/>
                </a:ln>
                <a:solidFill>
                  <a:prstClr val="white"/>
                </a:solidFill>
                <a:effectLst/>
                <a:uLnTx/>
                <a:uFillTx/>
                <a:latin typeface="Söhne"/>
                <a:ea typeface="+mn-ea"/>
                <a:cs typeface="+mn-cs"/>
              </a:rPr>
              <a:t> &amp; Chawal, Chinese Rice Bowl &amp; many more…</a:t>
            </a:r>
          </a:p>
        </p:txBody>
      </p:sp>
      <p:sp>
        <p:nvSpPr>
          <p:cNvPr id="18" name="TextBox 17"/>
          <p:cNvSpPr txBox="1"/>
          <p:nvPr/>
        </p:nvSpPr>
        <p:spPr>
          <a:xfrm>
            <a:off x="4090219" y="2322854"/>
            <a:ext cx="7678407" cy="175432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All Rice Baby revolutionizes mealtime by offering complete </a:t>
            </a:r>
            <a:r>
              <a:rPr kumimoji="0" lang="en-US" sz="18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Rice meals in one bowl</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meticulously crafted to fulfill your body's needs. Experience convenience and </a:t>
            </a:r>
            <a:r>
              <a:rPr kumimoji="0" lang="en-US" sz="18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flavor with a wholesome combination of rice, salad, gravy, </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and other accompaniments, all served in a single bowl. Delight in a diverse array of rice dishes from around the world, ranging from </a:t>
            </a:r>
            <a:r>
              <a:rPr kumimoji="0" lang="en-US" sz="18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North Indian to Chinese to Continental cuisine</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all under one roof.</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2" name="Rounded Rectangle 12">
            <a:extLst>
              <a:ext uri="{FF2B5EF4-FFF2-40B4-BE49-F238E27FC236}">
                <a16:creationId xmlns:a16="http://schemas.microsoft.com/office/drawing/2014/main" id="{6C07DD90-23C6-2FAC-5EB9-0265147C83E4}"/>
              </a:ext>
            </a:extLst>
          </p:cNvPr>
          <p:cNvSpPr/>
          <p:nvPr/>
        </p:nvSpPr>
        <p:spPr>
          <a:xfrm>
            <a:off x="510352" y="3480579"/>
            <a:ext cx="2506298" cy="2402068"/>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2099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1+#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ppt_x"/>
                                          </p:val>
                                        </p:tav>
                                        <p:tav tm="100000">
                                          <p:val>
                                            <p:strVal val="#ppt_x"/>
                                          </p:val>
                                        </p:tav>
                                      </p:tavLst>
                                    </p:anim>
                                    <p:anim calcmode="lin" valueType="num">
                                      <p:cBhvr additive="base">
                                        <p:cTn id="30" dur="500" fill="hold"/>
                                        <p:tgtEl>
                                          <p:spTgt spid="1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ppt_x"/>
                                          </p:val>
                                        </p:tav>
                                        <p:tav tm="100000">
                                          <p:val>
                                            <p:strVal val="#ppt_x"/>
                                          </p:val>
                                        </p:tav>
                                      </p:tavLst>
                                    </p:anim>
                                    <p:anim calcmode="lin" valueType="num">
                                      <p:cBhvr additive="base">
                                        <p:cTn id="3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6" grpId="0"/>
      <p:bldP spid="9" grpId="0" animBg="1"/>
      <p:bldP spid="10" grpId="0"/>
      <p:bldP spid="13" grpId="0" animBg="1"/>
      <p:bldP spid="14" grpId="0"/>
      <p:bldP spid="15" grpId="0" animBg="1"/>
      <p:bldP spid="16" grpId="0"/>
      <p:bldP spid="18" grpId="0"/>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12C2179-575D-F70B-9B68-7A10AA61FCF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2C25E5F-DB6C-6FB3-8074-793975F9BD12}"/>
              </a:ext>
            </a:extLst>
          </p:cNvPr>
          <p:cNvSpPr txBox="1"/>
          <p:nvPr/>
        </p:nvSpPr>
        <p:spPr>
          <a:xfrm>
            <a:off x="3265005" y="387481"/>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 MENU</a:t>
            </a:r>
          </a:p>
        </p:txBody>
      </p:sp>
      <p:pic>
        <p:nvPicPr>
          <p:cNvPr id="14" name="Picture 13">
            <a:extLst>
              <a:ext uri="{FF2B5EF4-FFF2-40B4-BE49-F238E27FC236}">
                <a16:creationId xmlns:a16="http://schemas.microsoft.com/office/drawing/2014/main" id="{8DB02F10-9D1F-89E8-6D20-1EAE8A0F4F1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6" name="TextBox 5">
            <a:extLst>
              <a:ext uri="{FF2B5EF4-FFF2-40B4-BE49-F238E27FC236}">
                <a16:creationId xmlns:a16="http://schemas.microsoft.com/office/drawing/2014/main" id="{0D3ACE7C-075A-5621-4C0E-D722842AD07A}"/>
              </a:ext>
            </a:extLst>
          </p:cNvPr>
          <p:cNvSpPr txBox="1"/>
          <p:nvPr/>
        </p:nvSpPr>
        <p:spPr>
          <a:xfrm>
            <a:off x="6631689" y="1496362"/>
            <a:ext cx="4461969" cy="3785652"/>
          </a:xfrm>
          <a:prstGeom prst="rect">
            <a:avLst/>
          </a:prstGeom>
          <a:noFill/>
        </p:spPr>
        <p:txBody>
          <a:bodyPr wrap="square">
            <a:spAutoFit/>
          </a:bodyPr>
          <a:lstStyle/>
          <a:p>
            <a:pPr marL="457200" marR="0" lvl="1"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Dal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Makhni</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&amp; Chawal</a:t>
            </a:r>
          </a:p>
          <a:p>
            <a:pPr marL="457200" marR="0" lvl="1"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Dal Rice</a:t>
            </a:r>
          </a:p>
          <a:p>
            <a:pPr marL="457200" marR="0" lvl="1" indent="0" algn="l" defTabSz="914400" rtl="0" eaLnBrk="1" fontAlgn="t"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Rajma Chawal</a:t>
            </a:r>
          </a:p>
          <a:p>
            <a:pPr marL="457200" marR="0" lvl="1"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Chole Rice</a:t>
            </a:r>
          </a:p>
          <a:p>
            <a:pPr marL="457200" marR="0" lvl="1"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Kadhi Rice</a:t>
            </a:r>
          </a:p>
          <a:p>
            <a:pPr marL="457200" marR="0" lvl="1"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Dal Palak &amp; Rice</a:t>
            </a:r>
          </a:p>
          <a:p>
            <a:pPr marL="457200" marR="0" lvl="1"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Chinese Rice Bowl</a:t>
            </a:r>
          </a:p>
          <a:p>
            <a:pPr marL="457200" marR="0" lvl="1"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Burrito Bowl</a:t>
            </a:r>
          </a:p>
        </p:txBody>
      </p:sp>
      <p:sp>
        <p:nvSpPr>
          <p:cNvPr id="8" name="TextBox 7">
            <a:extLst>
              <a:ext uri="{FF2B5EF4-FFF2-40B4-BE49-F238E27FC236}">
                <a16:creationId xmlns:a16="http://schemas.microsoft.com/office/drawing/2014/main" id="{CBB637C8-D724-E19D-3982-B0B35A4937CF}"/>
              </a:ext>
            </a:extLst>
          </p:cNvPr>
          <p:cNvSpPr txBox="1"/>
          <p:nvPr/>
        </p:nvSpPr>
        <p:spPr>
          <a:xfrm>
            <a:off x="2303157" y="1432354"/>
            <a:ext cx="3640443" cy="4708981"/>
          </a:xfrm>
          <a:prstGeom prst="rect">
            <a:avLst/>
          </a:prstGeom>
          <a:noFill/>
        </p:spPr>
        <p:txBody>
          <a:bodyPr wrap="square">
            <a:spAutoFit/>
          </a:bodyPr>
          <a:lstStyle/>
          <a:p>
            <a:pPr marL="0" marR="0" lvl="0"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Mexican Rice Bowl</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American Chop Suey</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Italian Rice Bowl</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Burmese Bowl</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Indian Rice Bowl</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Faijta</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Bowl</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Thai Curry &amp; Rice Bowl</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Hot Pot</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prstClr val="white"/>
                </a:solidFill>
                <a:effectLst/>
                <a:uLnTx/>
                <a:uFillTx/>
                <a:latin typeface="Calibri" panose="020F0502020204030204"/>
                <a:ea typeface="+mn-ea"/>
                <a:cs typeface="+mn-cs"/>
              </a:rPr>
              <a:t>Jagdai</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Special South Indian Thali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73085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769817"/>
            <a:ext cx="3687097" cy="5320432"/>
          </a:xfrm>
          <a:prstGeom prst="rect">
            <a:avLst/>
          </a:prstGeom>
          <a:solidFill>
            <a:srgbClr val="F39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a:off x="231088" y="1849170"/>
            <a:ext cx="3263723" cy="3159659"/>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4B1C45F8-40C5-657A-8F6A-87E23F35D73B}"/>
              </a:ext>
            </a:extLst>
          </p:cNvPr>
          <p:cNvSpPr txBox="1"/>
          <p:nvPr/>
        </p:nvSpPr>
        <p:spPr>
          <a:xfrm>
            <a:off x="6065015" y="580075"/>
            <a:ext cx="4893732"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Bricolage Grotesque 14pt" panose="020B0605040402000204" pitchFamily="34" charset="0"/>
                <a:ea typeface="Roboto" panose="02000000000000000000" pitchFamily="2" charset="0"/>
                <a:cs typeface="Heebo" pitchFamily="2" charset="-79"/>
              </a:rPr>
              <a:t>Ghee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err="1">
                <a:ln>
                  <a:noFill/>
                </a:ln>
                <a:solidFill>
                  <a:srgbClr val="F39323"/>
                </a:solidFill>
                <a:effectLst/>
                <a:uLnTx/>
                <a:uFillTx/>
                <a:latin typeface="Bricolage Grotesque 14pt" panose="020B0605040402000204" pitchFamily="34" charset="0"/>
                <a:ea typeface="Roboto" panose="02000000000000000000" pitchFamily="2" charset="0"/>
                <a:cs typeface="Heebo" pitchFamily="2" charset="-79"/>
              </a:rPr>
              <a:t>Dosa</a:t>
            </a:r>
            <a:endParaRPr kumimoji="0" lang="en-US" sz="4000" b="1" i="0" u="none" strike="noStrike" kern="1200" cap="none" spc="0" normalizeH="0" baseline="0" noProof="0" dirty="0">
              <a:ln>
                <a:noFill/>
              </a:ln>
              <a:solidFill>
                <a:srgbClr val="F39323"/>
              </a:solidFill>
              <a:effectLst/>
              <a:uLnTx/>
              <a:uFillTx/>
              <a:latin typeface="Bricolage Grotesque 14pt" panose="020B0605040402000204" pitchFamily="34" charset="0"/>
              <a:ea typeface="Roboto" panose="02000000000000000000" pitchFamily="2" charset="0"/>
              <a:cs typeface="Heebo" pitchFamily="2" charset="-79"/>
            </a:endParaRPr>
          </a:p>
        </p:txBody>
      </p:sp>
      <p:sp>
        <p:nvSpPr>
          <p:cNvPr id="9" name="Rounded Rectangle 8"/>
          <p:cNvSpPr/>
          <p:nvPr/>
        </p:nvSpPr>
        <p:spPr>
          <a:xfrm rot="5400000">
            <a:off x="7640678" y="1950105"/>
            <a:ext cx="1742406" cy="6585878"/>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Box 9"/>
          <p:cNvSpPr txBox="1"/>
          <p:nvPr/>
        </p:nvSpPr>
        <p:spPr>
          <a:xfrm>
            <a:off x="5350856" y="4748192"/>
            <a:ext cx="6355112" cy="124649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Authentic and original South Indian taste and flavors.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Innovative dosas blending tradition with contemporary twists.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All preparations made using the finest pure ghee.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Exclusive variety of South Indian  food items rarely found anywhere else other than South</a:t>
            </a:r>
          </a:p>
        </p:txBody>
      </p:sp>
      <p:sp>
        <p:nvSpPr>
          <p:cNvPr id="20" name="Rectangle 19">
            <a:extLst>
              <a:ext uri="{FF2B5EF4-FFF2-40B4-BE49-F238E27FC236}">
                <a16:creationId xmlns:a16="http://schemas.microsoft.com/office/drawing/2014/main" id="{885FC6EF-4930-AF4E-777D-501E522B2C95}"/>
              </a:ext>
            </a:extLst>
          </p:cNvPr>
          <p:cNvSpPr/>
          <p:nvPr/>
        </p:nvSpPr>
        <p:spPr>
          <a:xfrm>
            <a:off x="7789146" y="4158016"/>
            <a:ext cx="1445470" cy="443532"/>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21" name="TextBox 20"/>
          <p:cNvSpPr txBox="1"/>
          <p:nvPr/>
        </p:nvSpPr>
        <p:spPr>
          <a:xfrm>
            <a:off x="7877905" y="4148949"/>
            <a:ext cx="130101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sp>
        <p:nvSpPr>
          <p:cNvPr id="22" name="Rectangle 21">
            <a:extLst>
              <a:ext uri="{FF2B5EF4-FFF2-40B4-BE49-F238E27FC236}">
                <a16:creationId xmlns:a16="http://schemas.microsoft.com/office/drawing/2014/main" id="{174DAE6E-88FC-8FBA-E7AF-836600D40A41}"/>
              </a:ext>
            </a:extLst>
          </p:cNvPr>
          <p:cNvSpPr/>
          <p:nvPr/>
        </p:nvSpPr>
        <p:spPr>
          <a:xfrm>
            <a:off x="5316921" y="1961182"/>
            <a:ext cx="6389921" cy="307778"/>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23" name="TextBox 22"/>
          <p:cNvSpPr txBox="1"/>
          <p:nvPr/>
        </p:nvSpPr>
        <p:spPr>
          <a:xfrm>
            <a:off x="5548779" y="1961181"/>
            <a:ext cx="5926204"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Calibri" panose="020F0502020204030204"/>
                <a:ea typeface="+mn-ea"/>
                <a:cs typeface="+mn-cs"/>
              </a:rPr>
              <a:t>Masala Dosa (Butter /ghee), </a:t>
            </a:r>
            <a:r>
              <a:rPr kumimoji="0" lang="en-IN" sz="1400" b="1" i="0" u="none" strike="noStrike" kern="1200" cap="none" spc="0" normalizeH="0" baseline="0" noProof="0" dirty="0" err="1">
                <a:ln>
                  <a:noFill/>
                </a:ln>
                <a:solidFill>
                  <a:prstClr val="white"/>
                </a:solidFill>
                <a:effectLst/>
                <a:uLnTx/>
                <a:uFillTx/>
                <a:latin typeface="Calibri" panose="020F0502020204030204"/>
                <a:ea typeface="+mn-ea"/>
                <a:cs typeface="+mn-cs"/>
              </a:rPr>
              <a:t>Gotala</a:t>
            </a:r>
            <a:r>
              <a:rPr kumimoji="0" lang="en-IN" sz="1400" b="1" i="0" u="none" strike="noStrike" kern="1200" cap="none" spc="0" normalizeH="0" baseline="0" noProof="0" dirty="0">
                <a:ln>
                  <a:noFill/>
                </a:ln>
                <a:solidFill>
                  <a:prstClr val="white"/>
                </a:solidFill>
                <a:effectLst/>
                <a:uLnTx/>
                <a:uFillTx/>
                <a:latin typeface="Calibri" panose="020F0502020204030204"/>
                <a:ea typeface="+mn-ea"/>
                <a:cs typeface="+mn-cs"/>
              </a:rPr>
              <a:t> Dosa </a:t>
            </a:r>
            <a:r>
              <a:rPr kumimoji="0" lang="en-US" sz="1400" b="1" i="0" u="none" strike="noStrike" kern="1200" cap="none" spc="0" normalizeH="0" baseline="0" noProof="0" dirty="0">
                <a:ln>
                  <a:noFill/>
                </a:ln>
                <a:solidFill>
                  <a:prstClr val="white"/>
                </a:solidFill>
                <a:effectLst/>
                <a:uLnTx/>
                <a:uFillTx/>
                <a:latin typeface="Söhne"/>
                <a:ea typeface="+mn-ea"/>
                <a:cs typeface="+mn-cs"/>
              </a:rPr>
              <a:t>&amp; many more…</a:t>
            </a:r>
          </a:p>
        </p:txBody>
      </p:sp>
      <p:sp>
        <p:nvSpPr>
          <p:cNvPr id="24" name="TextBox 23"/>
          <p:cNvSpPr txBox="1"/>
          <p:nvPr/>
        </p:nvSpPr>
        <p:spPr>
          <a:xfrm>
            <a:off x="5255136" y="2322854"/>
            <a:ext cx="6513490"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Ghee Dosa invites you on a culinary journey through the </a:t>
            </a:r>
            <a:r>
              <a:rPr kumimoji="0" lang="en-US" sz="16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flavors of South India</a:t>
            </a:r>
            <a:r>
              <a:rPr kumimoji="0" lang="en-US" sz="16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right in your city. We specialize in crafting the perfect blend of </a:t>
            </a:r>
            <a:r>
              <a:rPr kumimoji="0" lang="en-US" sz="16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traditional masalas and the finest ingredients </a:t>
            </a:r>
            <a:r>
              <a:rPr kumimoji="0" lang="en-US" sz="16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to bring you the best sambhar and authentic South Indian dosas, all </a:t>
            </a:r>
            <a:r>
              <a:rPr kumimoji="0" lang="en-US" sz="16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prepared in the purest ghee </a:t>
            </a:r>
            <a:r>
              <a:rPr kumimoji="0" lang="en-US" sz="16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to enhance the flavors and leave you licking your fingers.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Tree>
    <p:extLst>
      <p:ext uri="{BB962C8B-B14F-4D97-AF65-F5344CB8AC3E}">
        <p14:creationId xmlns:p14="http://schemas.microsoft.com/office/powerpoint/2010/main" val="1809696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ppt_x"/>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fill="hold"/>
                                        <p:tgtEl>
                                          <p:spTgt spid="24"/>
                                        </p:tgtEl>
                                        <p:attrNameLst>
                                          <p:attrName>ppt_x</p:attrName>
                                        </p:attrNameLst>
                                      </p:cBhvr>
                                      <p:tavLst>
                                        <p:tav tm="0">
                                          <p:val>
                                            <p:strVal val="#ppt_x"/>
                                          </p:val>
                                        </p:tav>
                                        <p:tav tm="100000">
                                          <p:val>
                                            <p:strVal val="#ppt_x"/>
                                          </p:val>
                                        </p:tav>
                                      </p:tavLst>
                                    </p:anim>
                                    <p:anim calcmode="lin" valueType="num">
                                      <p:cBhvr additive="base">
                                        <p:cTn id="3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additive="base">
                                        <p:cTn id="47" dur="500" fill="hold"/>
                                        <p:tgtEl>
                                          <p:spTgt spid="20"/>
                                        </p:tgtEl>
                                        <p:attrNameLst>
                                          <p:attrName>ppt_x</p:attrName>
                                        </p:attrNameLst>
                                      </p:cBhvr>
                                      <p:tavLst>
                                        <p:tav tm="0">
                                          <p:val>
                                            <p:strVal val="#ppt_x"/>
                                          </p:val>
                                        </p:tav>
                                        <p:tav tm="100000">
                                          <p:val>
                                            <p:strVal val="#ppt_x"/>
                                          </p:val>
                                        </p:tav>
                                      </p:tavLst>
                                    </p:anim>
                                    <p:anim calcmode="lin" valueType="num">
                                      <p:cBhvr additive="base">
                                        <p:cTn id="48" dur="500" fill="hold"/>
                                        <p:tgtEl>
                                          <p:spTgt spid="2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500" fill="hold"/>
                                        <p:tgtEl>
                                          <p:spTgt spid="21"/>
                                        </p:tgtEl>
                                        <p:attrNameLst>
                                          <p:attrName>ppt_x</p:attrName>
                                        </p:attrNameLst>
                                      </p:cBhvr>
                                      <p:tavLst>
                                        <p:tav tm="0">
                                          <p:val>
                                            <p:strVal val="#ppt_x"/>
                                          </p:val>
                                        </p:tav>
                                        <p:tav tm="100000">
                                          <p:val>
                                            <p:strVal val="#ppt_x"/>
                                          </p:val>
                                        </p:tav>
                                      </p:tavLst>
                                    </p:anim>
                                    <p:anim calcmode="lin" valueType="num">
                                      <p:cBhvr additive="base">
                                        <p:cTn id="5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6" grpId="0"/>
      <p:bldP spid="9" grpId="0" animBg="1"/>
      <p:bldP spid="10" grpId="0"/>
      <p:bldP spid="20" grpId="0" animBg="1"/>
      <p:bldP spid="21" grpId="0"/>
      <p:bldP spid="22" grpId="0" animBg="1"/>
      <p:bldP spid="23" grpId="0"/>
      <p:bldP spid="24" grpId="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8CD16B9-E84A-0980-84CF-B8D25ADB0AE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6220819-95DB-7989-EF6C-2D2E7516C26D}"/>
              </a:ext>
            </a:extLst>
          </p:cNvPr>
          <p:cNvSpPr txBox="1"/>
          <p:nvPr/>
        </p:nvSpPr>
        <p:spPr>
          <a:xfrm>
            <a:off x="3209248" y="610826"/>
            <a:ext cx="4893732" cy="64353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 MENU</a:t>
            </a:r>
          </a:p>
        </p:txBody>
      </p:sp>
      <p:pic>
        <p:nvPicPr>
          <p:cNvPr id="14" name="Picture 13">
            <a:extLst>
              <a:ext uri="{FF2B5EF4-FFF2-40B4-BE49-F238E27FC236}">
                <a16:creationId xmlns:a16="http://schemas.microsoft.com/office/drawing/2014/main" id="{D5084E23-A17D-3C90-C865-7192D284E1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6" name="TextBox 5">
            <a:extLst>
              <a:ext uri="{FF2B5EF4-FFF2-40B4-BE49-F238E27FC236}">
                <a16:creationId xmlns:a16="http://schemas.microsoft.com/office/drawing/2014/main" id="{02577907-262C-F5F1-CA2C-E34C6E9030C4}"/>
              </a:ext>
            </a:extLst>
          </p:cNvPr>
          <p:cNvSpPr txBox="1"/>
          <p:nvPr/>
        </p:nvSpPr>
        <p:spPr>
          <a:xfrm>
            <a:off x="94847" y="1669203"/>
            <a:ext cx="3805084" cy="5586145"/>
          </a:xfrm>
          <a:prstGeom prst="rect">
            <a:avLst/>
          </a:prstGeom>
          <a:noFill/>
        </p:spPr>
        <p:txBody>
          <a:bodyPr wrap="square">
            <a:spAutoFit/>
          </a:bodyPr>
          <a:lstStyle/>
          <a:p>
            <a:pPr marL="457200" marR="0" lvl="1"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Filter Coffee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Medu</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Vada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Plain Dosa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Neer Dosa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Spring Masala Dosa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Butter Garlic Masala Dosa Masala Dosa (Butter /ghee)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Cheese Masala Dosa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Rava Coconut Dosa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92F36BA3-C75F-550E-D470-28309503E14B}"/>
              </a:ext>
            </a:extLst>
          </p:cNvPr>
          <p:cNvSpPr txBox="1"/>
          <p:nvPr/>
        </p:nvSpPr>
        <p:spPr>
          <a:xfrm>
            <a:off x="8534400" y="1669203"/>
            <a:ext cx="3431458" cy="5170646"/>
          </a:xfrm>
          <a:prstGeom prst="rect">
            <a:avLst/>
          </a:prstGeom>
          <a:noFill/>
        </p:spPr>
        <p:txBody>
          <a:bodyPr wrap="square">
            <a:spAutoFit/>
          </a:bodyPr>
          <a:lstStyle/>
          <a:p>
            <a:pPr marL="0" marR="0" lvl="0"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Steam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Idli</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With Sambhar</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Vegetable Masala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Idli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Ghee Tossed Podi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Idli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Kurkuri</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Idli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Plain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Uttapam</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Onion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Uttapam</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Tomato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Uttapam</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Onion Tomato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Uttapam</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Mix Veg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Uttapam</a:t>
            </a:r>
            <a:endPar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Gotala</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Dosa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FB25ABA7-E6D6-9EB0-90AB-E0A3B30D2BBE}"/>
              </a:ext>
            </a:extLst>
          </p:cNvPr>
          <p:cNvSpPr txBox="1"/>
          <p:nvPr/>
        </p:nvSpPr>
        <p:spPr>
          <a:xfrm>
            <a:off x="4608821" y="1669203"/>
            <a:ext cx="3216688" cy="4247317"/>
          </a:xfrm>
          <a:prstGeom prst="rect">
            <a:avLst/>
          </a:prstGeom>
          <a:noFill/>
        </p:spPr>
        <p:txBody>
          <a:bodyPr wrap="square">
            <a:spAutoFit/>
          </a:bodyPr>
          <a:lstStyle/>
          <a:p>
            <a:pPr marL="0" marR="0" lvl="0"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Rava Onion Dosa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Mysore Masala Dosa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Rava Dosa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Mysore Masala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Uttapam</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Rava Masala Dosa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Ghee Roast Masala Dosa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Palak Corn Cheese Dosa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Cheese Corn Dosa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Set Dosa</a:t>
            </a: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30147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769817"/>
            <a:ext cx="3494811" cy="5320432"/>
          </a:xfrm>
          <a:prstGeom prst="rect">
            <a:avLst/>
          </a:pr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a:off x="193493" y="932592"/>
            <a:ext cx="1707760" cy="1782339"/>
          </a:xfrm>
          <a:prstGeom prst="roundRect">
            <a:avLst/>
          </a:prstGeom>
          <a:blipFill>
            <a:blip r:embed="rId2"/>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4B1C45F8-40C5-657A-8F6A-87E23F35D73B}"/>
              </a:ext>
            </a:extLst>
          </p:cNvPr>
          <p:cNvSpPr txBox="1"/>
          <p:nvPr/>
        </p:nvSpPr>
        <p:spPr>
          <a:xfrm>
            <a:off x="6065015" y="580075"/>
            <a:ext cx="4893732"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4741E"/>
                </a:solidFill>
                <a:effectLst/>
                <a:uLnTx/>
                <a:uFillTx/>
                <a:latin typeface="Bricolage Grotesque 14pt" panose="020B0605040402000204" pitchFamily="34" charset="0"/>
                <a:ea typeface="Roboto" panose="02000000000000000000" pitchFamily="2" charset="0"/>
                <a:cs typeface="Heebo" pitchFamily="2" charset="-79"/>
              </a:rPr>
              <a:t>Pizza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ED1C24"/>
                </a:solidFill>
                <a:effectLst/>
                <a:uLnTx/>
                <a:uFillTx/>
                <a:latin typeface="Bricolage Grotesque 14pt" panose="020B0605040402000204" pitchFamily="34" charset="0"/>
                <a:ea typeface="Roboto" panose="02000000000000000000" pitchFamily="2" charset="0"/>
                <a:cs typeface="Heebo" pitchFamily="2" charset="-79"/>
              </a:rPr>
              <a:t>&amp; Burger</a:t>
            </a:r>
          </a:p>
        </p:txBody>
      </p:sp>
      <p:sp>
        <p:nvSpPr>
          <p:cNvPr id="8" name="Rectangle 7">
            <a:extLst>
              <a:ext uri="{FF2B5EF4-FFF2-40B4-BE49-F238E27FC236}">
                <a16:creationId xmlns:a16="http://schemas.microsoft.com/office/drawing/2014/main" id="{174DAE6E-88FC-8FBA-E7AF-836600D40A41}"/>
              </a:ext>
            </a:extLst>
          </p:cNvPr>
          <p:cNvSpPr/>
          <p:nvPr/>
        </p:nvSpPr>
        <p:spPr>
          <a:xfrm>
            <a:off x="5316921" y="1961182"/>
            <a:ext cx="6389921" cy="307778"/>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9" name="TextBox 8"/>
          <p:cNvSpPr txBox="1"/>
          <p:nvPr/>
        </p:nvSpPr>
        <p:spPr>
          <a:xfrm>
            <a:off x="5548779" y="1961181"/>
            <a:ext cx="5926204"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prstClr val="white"/>
                </a:solidFill>
                <a:effectLst/>
                <a:uLnTx/>
                <a:uFillTx/>
                <a:latin typeface="Söhne"/>
                <a:ea typeface="+mn-ea"/>
                <a:cs typeface="+mn-cs"/>
              </a:rPr>
              <a:t>Double cheese margarita Pizza, Veg Pesto Pizza </a:t>
            </a:r>
            <a:r>
              <a:rPr kumimoji="0" lang="en-US" sz="1400" b="1" i="0" u="none" strike="noStrike" kern="1200" cap="none" spc="0" normalizeH="0" baseline="0" noProof="0" dirty="0">
                <a:ln>
                  <a:noFill/>
                </a:ln>
                <a:solidFill>
                  <a:prstClr val="white"/>
                </a:solidFill>
                <a:effectLst/>
                <a:uLnTx/>
                <a:uFillTx/>
                <a:latin typeface="Söhne"/>
                <a:ea typeface="+mn-ea"/>
                <a:cs typeface="+mn-cs"/>
              </a:rPr>
              <a:t>&amp; many more…</a:t>
            </a:r>
          </a:p>
        </p:txBody>
      </p:sp>
      <p:sp>
        <p:nvSpPr>
          <p:cNvPr id="10" name="TextBox 9"/>
          <p:cNvSpPr txBox="1"/>
          <p:nvPr/>
        </p:nvSpPr>
        <p:spPr>
          <a:xfrm>
            <a:off x="4083522" y="2322854"/>
            <a:ext cx="7685104" cy="147732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Pizza and Burger redefine your culinary experience by combining the best of </a:t>
            </a:r>
            <a:r>
              <a:rPr kumimoji="0" lang="en-US" sz="1800" b="1" i="0" u="none" strike="noStrike" kern="1200" cap="none" spc="0" normalizeH="0" baseline="0" noProof="0" dirty="0">
                <a:ln>
                  <a:noFill/>
                </a:ln>
                <a:solidFill>
                  <a:srgbClr val="FFC000"/>
                </a:solidFill>
                <a:effectLst/>
                <a:uLnTx/>
                <a:uFillTx/>
                <a:latin typeface="Bricolage Grotesque 14pt" panose="020B0605040402000204" pitchFamily="34" charset="0"/>
                <a:ea typeface="+mn-ea"/>
                <a:cs typeface="+mn-cs"/>
              </a:rPr>
              <a:t>Italy and America under one roof. </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Our pizzas feature in-house, artisanal dough and wheat crusts topped with gourmet ingredients, while our burgers boast succulent, hand-pressed patties on freshly baked buns. Enjoy </a:t>
            </a:r>
            <a:r>
              <a:rPr kumimoji="0" lang="en-US" sz="1800" b="1" i="0" u="none" strike="noStrike" kern="1200" cap="none" spc="0" normalizeH="0" baseline="0" noProof="0" dirty="0">
                <a:ln>
                  <a:noFill/>
                </a:ln>
                <a:solidFill>
                  <a:srgbClr val="FFC000"/>
                </a:solidFill>
                <a:effectLst/>
                <a:uLnTx/>
                <a:uFillTx/>
                <a:latin typeface="Bricolage Grotesque 14pt" panose="020B0605040402000204" pitchFamily="34" charset="0"/>
                <a:ea typeface="+mn-ea"/>
                <a:cs typeface="+mn-cs"/>
              </a:rPr>
              <a:t>exclusive seasonings and signature sauces </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that make each bite unforgettable. </a:t>
            </a:r>
          </a:p>
        </p:txBody>
      </p:sp>
      <p:sp>
        <p:nvSpPr>
          <p:cNvPr id="11" name="Rounded Rectangle 10"/>
          <p:cNvSpPr/>
          <p:nvPr/>
        </p:nvSpPr>
        <p:spPr>
          <a:xfrm rot="5400000">
            <a:off x="7091065" y="1400492"/>
            <a:ext cx="1742406" cy="7685104"/>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4545196" y="4760101"/>
            <a:ext cx="6487900" cy="130805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Bricolage Grotesque 14pt" panose="020B0605040402000204" pitchFamily="34" charset="0"/>
                <a:ea typeface="+mn-ea"/>
                <a:cs typeface="+mn-cs"/>
              </a:rPr>
              <a:t>Pizzas crafted with in-house, artisanal dough and wheat crusts.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Bricolage Grotesque 14pt" panose="020B0605040402000204" pitchFamily="34" charset="0"/>
                <a:ea typeface="+mn-ea"/>
                <a:cs typeface="+mn-cs"/>
              </a:rPr>
              <a:t>Toppings made from the finest, gourmet ingredients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Bricolage Grotesque 14pt" panose="020B0605040402000204" pitchFamily="34" charset="0"/>
                <a:ea typeface="+mn-ea"/>
                <a:cs typeface="+mn-cs"/>
              </a:rPr>
              <a:t>Burgers featuring succulent, hand-pressed patties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Bricolage Grotesque 14pt" panose="020B0605040402000204" pitchFamily="34" charset="0"/>
                <a:ea typeface="+mn-ea"/>
                <a:cs typeface="+mn-cs"/>
              </a:rPr>
              <a:t>A perfect blend of Italian and American culinary traditions.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885FC6EF-4930-AF4E-777D-501E522B2C95}"/>
              </a:ext>
            </a:extLst>
          </p:cNvPr>
          <p:cNvSpPr/>
          <p:nvPr/>
        </p:nvSpPr>
        <p:spPr>
          <a:xfrm>
            <a:off x="7071386" y="4096108"/>
            <a:ext cx="1781764" cy="566995"/>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14" name="TextBox 13"/>
          <p:cNvSpPr txBox="1"/>
          <p:nvPr/>
        </p:nvSpPr>
        <p:spPr>
          <a:xfrm>
            <a:off x="7143614" y="4135717"/>
            <a:ext cx="170953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2" name="Rounded Rectangle 9">
            <a:extLst>
              <a:ext uri="{FF2B5EF4-FFF2-40B4-BE49-F238E27FC236}">
                <a16:creationId xmlns:a16="http://schemas.microsoft.com/office/drawing/2014/main" id="{FEFC11BA-4376-A75B-3C08-838F3ADDFA72}"/>
              </a:ext>
            </a:extLst>
          </p:cNvPr>
          <p:cNvSpPr/>
          <p:nvPr/>
        </p:nvSpPr>
        <p:spPr>
          <a:xfrm>
            <a:off x="145227" y="3967317"/>
            <a:ext cx="1707761" cy="1782339"/>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Rounded Rectangle 8">
            <a:extLst>
              <a:ext uri="{FF2B5EF4-FFF2-40B4-BE49-F238E27FC236}">
                <a16:creationId xmlns:a16="http://schemas.microsoft.com/office/drawing/2014/main" id="{CE342DEA-A491-B693-0BFF-F889A29A8DF1}"/>
              </a:ext>
            </a:extLst>
          </p:cNvPr>
          <p:cNvSpPr/>
          <p:nvPr/>
        </p:nvSpPr>
        <p:spPr>
          <a:xfrm>
            <a:off x="1980544" y="2537830"/>
            <a:ext cx="1707760" cy="1782339"/>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4360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1+#ppt_w/2"/>
                                          </p:val>
                                        </p:tav>
                                        <p:tav tm="100000">
                                          <p:val>
                                            <p:strVal val="#ppt_x"/>
                                          </p:val>
                                        </p:tav>
                                      </p:tavLst>
                                    </p:anim>
                                    <p:anim calcmode="lin" valueType="num">
                                      <p:cBhvr additive="base">
                                        <p:cTn id="24" dur="500" fill="hold"/>
                                        <p:tgtEl>
                                          <p:spTgt spid="3"/>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1+#ppt_w/2"/>
                                          </p:val>
                                        </p:tav>
                                        <p:tav tm="100000">
                                          <p:val>
                                            <p:strVal val="#ppt_x"/>
                                          </p:val>
                                        </p:tav>
                                      </p:tavLst>
                                    </p:anim>
                                    <p:anim calcmode="lin" valueType="num">
                                      <p:cBhvr additive="base">
                                        <p:cTn id="2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ppt_x"/>
                                          </p:val>
                                        </p:tav>
                                        <p:tav tm="100000">
                                          <p:val>
                                            <p:strVal val="#ppt_x"/>
                                          </p:val>
                                        </p:tav>
                                      </p:tavLst>
                                    </p:anim>
                                    <p:anim calcmode="lin" valueType="num">
                                      <p:cBhvr additive="base">
                                        <p:cTn id="48" dur="500" fill="hold"/>
                                        <p:tgtEl>
                                          <p:spTgt spid="1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500" fill="hold"/>
                                        <p:tgtEl>
                                          <p:spTgt spid="13"/>
                                        </p:tgtEl>
                                        <p:attrNameLst>
                                          <p:attrName>ppt_x</p:attrName>
                                        </p:attrNameLst>
                                      </p:cBhvr>
                                      <p:tavLst>
                                        <p:tav tm="0">
                                          <p:val>
                                            <p:strVal val="#ppt_x"/>
                                          </p:val>
                                        </p:tav>
                                        <p:tav tm="100000">
                                          <p:val>
                                            <p:strVal val="#ppt_x"/>
                                          </p:val>
                                        </p:tav>
                                      </p:tavLst>
                                    </p:anim>
                                    <p:anim calcmode="lin" valueType="num">
                                      <p:cBhvr additive="base">
                                        <p:cTn id="6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6" grpId="0"/>
      <p:bldP spid="8" grpId="0" animBg="1"/>
      <p:bldP spid="9" grpId="0"/>
      <p:bldP spid="10" grpId="0"/>
      <p:bldP spid="11" grpId="0" animBg="1"/>
      <p:bldP spid="12" grpId="0"/>
      <p:bldP spid="13" grpId="0" animBg="1"/>
      <p:bldP spid="14" grpId="0"/>
      <p:bldP spid="2" grpId="0" animBg="1"/>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2B52746-5B3C-D7E0-D590-188C93C5312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9BF7B02-DC29-C5E8-2A21-4B9F6074930A}"/>
              </a:ext>
            </a:extLst>
          </p:cNvPr>
          <p:cNvSpPr txBox="1"/>
          <p:nvPr/>
        </p:nvSpPr>
        <p:spPr>
          <a:xfrm>
            <a:off x="3265005" y="387481"/>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 MENU</a:t>
            </a:r>
          </a:p>
        </p:txBody>
      </p:sp>
      <p:pic>
        <p:nvPicPr>
          <p:cNvPr id="14" name="Picture 13">
            <a:extLst>
              <a:ext uri="{FF2B5EF4-FFF2-40B4-BE49-F238E27FC236}">
                <a16:creationId xmlns:a16="http://schemas.microsoft.com/office/drawing/2014/main" id="{B0F8C79E-5C7A-A31E-779D-2894D1ECF9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6" name="TextBox 5">
            <a:extLst>
              <a:ext uri="{FF2B5EF4-FFF2-40B4-BE49-F238E27FC236}">
                <a16:creationId xmlns:a16="http://schemas.microsoft.com/office/drawing/2014/main" id="{3371262A-9450-F02E-6B26-689139B60808}"/>
              </a:ext>
            </a:extLst>
          </p:cNvPr>
          <p:cNvSpPr txBox="1"/>
          <p:nvPr/>
        </p:nvSpPr>
        <p:spPr>
          <a:xfrm>
            <a:off x="1191587" y="1997839"/>
            <a:ext cx="4984259" cy="2862322"/>
          </a:xfrm>
          <a:prstGeom prst="rect">
            <a:avLst/>
          </a:prstGeom>
          <a:noFill/>
        </p:spPr>
        <p:txBody>
          <a:bodyPr wrap="square">
            <a:spAutoFit/>
          </a:bodyPr>
          <a:lstStyle/>
          <a:p>
            <a:pPr marL="457200" marR="0" lvl="1"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Garlic Bread</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it-IT" sz="2000" b="0" i="0" u="none" strike="noStrike" kern="1200" cap="none" spc="0" normalizeH="0" baseline="0" noProof="0" dirty="0">
                <a:ln>
                  <a:noFill/>
                </a:ln>
                <a:solidFill>
                  <a:prstClr val="white"/>
                </a:solidFill>
                <a:effectLst/>
                <a:uLnTx/>
                <a:uFillTx/>
                <a:latin typeface="Calibri" panose="020F0502020204030204"/>
                <a:ea typeface="+mn-ea"/>
                <a:cs typeface="+mn-cs"/>
              </a:rPr>
              <a:t>Cheese Garlic Bread</a:t>
            </a:r>
            <a:br>
              <a:rPr kumimoji="0" lang="it-IT"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it-IT" sz="2000" b="0" i="0" u="none" strike="noStrike" kern="1200" cap="none" spc="0" normalizeH="0" baseline="0" noProof="0" dirty="0">
                <a:ln>
                  <a:noFill/>
                </a:ln>
                <a:solidFill>
                  <a:prstClr val="white"/>
                </a:solidFill>
                <a:effectLst/>
                <a:uLnTx/>
                <a:uFillTx/>
                <a:latin typeface="Calibri" panose="020F0502020204030204"/>
                <a:ea typeface="+mn-ea"/>
                <a:cs typeface="+mn-cs"/>
              </a:rPr>
              <a:t>Quesadilla Veg </a:t>
            </a:r>
            <a:br>
              <a:rPr kumimoji="0" lang="it-IT"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Paneer Cheese Corn Quesadilla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Mushroom Cheese Corn Quesadilla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Spinich</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Cheese Corn Quesadilla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24558C90-B65A-74FB-445D-5EC1D216497A}"/>
              </a:ext>
            </a:extLst>
          </p:cNvPr>
          <p:cNvSpPr txBox="1"/>
          <p:nvPr/>
        </p:nvSpPr>
        <p:spPr>
          <a:xfrm>
            <a:off x="6800003" y="1997839"/>
            <a:ext cx="4744064" cy="2862322"/>
          </a:xfrm>
          <a:prstGeom prst="rect">
            <a:avLst/>
          </a:prstGeom>
          <a:noFill/>
        </p:spPr>
        <p:txBody>
          <a:bodyPr wrap="square">
            <a:spAutoFit/>
          </a:bodyPr>
          <a:lstStyle/>
          <a:p>
            <a:pPr marL="0" marR="0" lvl="0"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Indian Paneer tikka Quesadilla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Red Sauce Pasta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sv-SE" sz="2000" b="0" i="0" u="none" strike="noStrike" kern="1200" cap="none" spc="0" normalizeH="0" baseline="0" noProof="0" dirty="0">
                <a:ln>
                  <a:noFill/>
                </a:ln>
                <a:solidFill>
                  <a:prstClr val="white"/>
                </a:solidFill>
                <a:effectLst/>
                <a:uLnTx/>
                <a:uFillTx/>
                <a:latin typeface="Calibri" panose="020F0502020204030204"/>
                <a:ea typeface="+mn-ea"/>
                <a:cs typeface="+mn-cs"/>
              </a:rPr>
              <a:t>White Sauce Pasta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Pink sauce Pasta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Mac and cheese Pasta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Pesto Pasta</a:t>
            </a: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5137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769817"/>
            <a:ext cx="3382297" cy="5320432"/>
          </a:xfrm>
          <a:prstGeom prst="rect">
            <a:avLst/>
          </a:pr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Rounded Rectangle 5"/>
          <p:cNvSpPr/>
          <p:nvPr/>
        </p:nvSpPr>
        <p:spPr>
          <a:xfrm>
            <a:off x="165812" y="905778"/>
            <a:ext cx="1869465" cy="1807926"/>
          </a:xfrm>
          <a:prstGeom prst="round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B1C45F8-40C5-657A-8F6A-87E23F35D73B}"/>
              </a:ext>
            </a:extLst>
          </p:cNvPr>
          <p:cNvSpPr txBox="1"/>
          <p:nvPr/>
        </p:nvSpPr>
        <p:spPr>
          <a:xfrm>
            <a:off x="5504830" y="761903"/>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ED0000"/>
                </a:solidFill>
                <a:effectLst/>
                <a:uLnTx/>
                <a:uFillTx/>
                <a:latin typeface="Bricolage Grotesque 14pt" panose="020B0605040402000204" pitchFamily="34" charset="0"/>
                <a:ea typeface="Roboto" panose="02000000000000000000" pitchFamily="2" charset="0"/>
                <a:cs typeface="Heebo" pitchFamily="2" charset="-79"/>
              </a:rPr>
              <a:t>Chinese</a:t>
            </a:r>
          </a:p>
        </p:txBody>
      </p:sp>
      <p:sp>
        <p:nvSpPr>
          <p:cNvPr id="9" name="Rectangle 8">
            <a:extLst>
              <a:ext uri="{FF2B5EF4-FFF2-40B4-BE49-F238E27FC236}">
                <a16:creationId xmlns:a16="http://schemas.microsoft.com/office/drawing/2014/main" id="{174DAE6E-88FC-8FBA-E7AF-836600D40A41}"/>
              </a:ext>
            </a:extLst>
          </p:cNvPr>
          <p:cNvSpPr/>
          <p:nvPr/>
        </p:nvSpPr>
        <p:spPr>
          <a:xfrm>
            <a:off x="4463845" y="1894440"/>
            <a:ext cx="7242997" cy="374520"/>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10" name="TextBox 9"/>
          <p:cNvSpPr txBox="1"/>
          <p:nvPr/>
        </p:nvSpPr>
        <p:spPr>
          <a:xfrm>
            <a:off x="4385187" y="1882713"/>
            <a:ext cx="72429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white"/>
                </a:solidFill>
                <a:effectLst/>
                <a:uLnTx/>
                <a:uFillTx/>
                <a:latin typeface="Söhne"/>
                <a:ea typeface="+mn-ea"/>
                <a:cs typeface="+mn-cs"/>
              </a:rPr>
              <a:t>Paneer</a:t>
            </a:r>
            <a:r>
              <a:rPr kumimoji="0" lang="en-US" sz="1800" b="1" i="0" u="none" strike="noStrike" kern="1200" cap="none" spc="0" normalizeH="0" baseline="0" noProof="0" dirty="0">
                <a:ln>
                  <a:noFill/>
                </a:ln>
                <a:solidFill>
                  <a:prstClr val="white"/>
                </a:solidFill>
                <a:effectLst/>
                <a:uLnTx/>
                <a:uFillTx/>
                <a:latin typeface="Söhne"/>
                <a:ea typeface="+mn-ea"/>
                <a:cs typeface="+mn-cs"/>
              </a:rPr>
              <a:t> </a:t>
            </a:r>
            <a:r>
              <a:rPr kumimoji="0" lang="en-US" sz="1800" b="1" i="0" u="none" strike="noStrike" kern="1200" cap="none" spc="0" normalizeH="0" baseline="0" noProof="0" dirty="0" err="1">
                <a:ln>
                  <a:noFill/>
                </a:ln>
                <a:solidFill>
                  <a:prstClr val="white"/>
                </a:solidFill>
                <a:effectLst/>
                <a:uLnTx/>
                <a:uFillTx/>
                <a:latin typeface="Söhne"/>
                <a:ea typeface="+mn-ea"/>
                <a:cs typeface="+mn-cs"/>
              </a:rPr>
              <a:t>Chilli</a:t>
            </a:r>
            <a:r>
              <a:rPr kumimoji="0" lang="en-US" sz="1800" b="1" i="0" u="none" strike="noStrike" kern="1200" cap="none" spc="0" normalizeH="0" baseline="0" noProof="0" dirty="0">
                <a:ln>
                  <a:noFill/>
                </a:ln>
                <a:solidFill>
                  <a:prstClr val="white"/>
                </a:solidFill>
                <a:effectLst/>
                <a:uLnTx/>
                <a:uFillTx/>
                <a:latin typeface="Söhne"/>
                <a:ea typeface="+mn-ea"/>
                <a:cs typeface="+mn-cs"/>
              </a:rPr>
              <a:t> Dry, Manchurian Pot Rice, Kung </a:t>
            </a:r>
            <a:r>
              <a:rPr kumimoji="0" lang="en-US" sz="1800" b="1" i="0" u="none" strike="noStrike" kern="1200" cap="none" spc="0" normalizeH="0" baseline="0" noProof="0" dirty="0" err="1">
                <a:ln>
                  <a:noFill/>
                </a:ln>
                <a:solidFill>
                  <a:prstClr val="white"/>
                </a:solidFill>
                <a:effectLst/>
                <a:uLnTx/>
                <a:uFillTx/>
                <a:latin typeface="Söhne"/>
                <a:ea typeface="+mn-ea"/>
                <a:cs typeface="+mn-cs"/>
              </a:rPr>
              <a:t>Pao</a:t>
            </a:r>
            <a:r>
              <a:rPr kumimoji="0" lang="en-US" sz="1800" b="1" i="0" u="none" strike="noStrike" kern="1200" cap="none" spc="0" normalizeH="0" baseline="0" noProof="0" dirty="0">
                <a:ln>
                  <a:noFill/>
                </a:ln>
                <a:solidFill>
                  <a:prstClr val="white"/>
                </a:solidFill>
                <a:effectLst/>
                <a:uLnTx/>
                <a:uFillTx/>
                <a:latin typeface="Söhne"/>
                <a:ea typeface="+mn-ea"/>
                <a:cs typeface="+mn-cs"/>
              </a:rPr>
              <a:t> </a:t>
            </a:r>
            <a:r>
              <a:rPr kumimoji="0" lang="en-US" sz="1800" b="1" i="0" u="none" strike="noStrike" kern="1200" cap="none" spc="0" normalizeH="0" baseline="0" noProof="0" dirty="0" err="1">
                <a:ln>
                  <a:noFill/>
                </a:ln>
                <a:solidFill>
                  <a:prstClr val="white"/>
                </a:solidFill>
                <a:effectLst/>
                <a:uLnTx/>
                <a:uFillTx/>
                <a:latin typeface="Söhne"/>
                <a:ea typeface="+mn-ea"/>
                <a:cs typeface="+mn-cs"/>
              </a:rPr>
              <a:t>Paneer</a:t>
            </a:r>
            <a:r>
              <a:rPr kumimoji="0" lang="en-US" sz="1800" b="1" i="0" u="none" strike="noStrike" kern="1200" cap="none" spc="0" normalizeH="0" baseline="0" noProof="0" dirty="0">
                <a:ln>
                  <a:noFill/>
                </a:ln>
                <a:solidFill>
                  <a:prstClr val="white"/>
                </a:solidFill>
                <a:effectLst/>
                <a:uLnTx/>
                <a:uFillTx/>
                <a:latin typeface="Söhne"/>
                <a:ea typeface="+mn-ea"/>
                <a:cs typeface="+mn-cs"/>
              </a:rPr>
              <a:t> &amp; many more…</a:t>
            </a:r>
          </a:p>
        </p:txBody>
      </p:sp>
      <p:sp>
        <p:nvSpPr>
          <p:cNvPr id="11" name="TextBox 10"/>
          <p:cNvSpPr txBox="1"/>
          <p:nvPr/>
        </p:nvSpPr>
        <p:spPr>
          <a:xfrm>
            <a:off x="4198374" y="2322854"/>
            <a:ext cx="7570252" cy="120032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Chinese Nonsense is where </a:t>
            </a:r>
            <a:r>
              <a:rPr kumimoji="0" lang="en-US" sz="18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traditional Chinese flavors </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meet</a:t>
            </a:r>
            <a:r>
              <a:rPr kumimoji="0" lang="en-US" sz="18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 with a desi twist and</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a:t>
            </a:r>
            <a:r>
              <a:rPr kumimoji="0" lang="en-US" sz="18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modern creativity</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Our playful name reflects our belief that food should be both delicious and fun. Enjoy a culinary journey through </a:t>
            </a:r>
            <a:r>
              <a:rPr kumimoji="0" lang="en-US" sz="18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China</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with our innovative dishes, from spicy </a:t>
            </a:r>
            <a:r>
              <a:rPr kumimoji="0" lang="en-US" sz="1800" b="1" i="0" u="none" strike="noStrike" kern="1200" cap="none" spc="0" normalizeH="0" baseline="0" noProof="0" dirty="0">
                <a:ln>
                  <a:noFill/>
                </a:ln>
                <a:solidFill>
                  <a:srgbClr val="FDBB11"/>
                </a:solidFill>
                <a:effectLst/>
                <a:uLnTx/>
                <a:uFillTx/>
                <a:latin typeface="Bricolage Grotesque 14pt" panose="020B0605040402000204" pitchFamily="34" charset="0"/>
                <a:ea typeface="+mn-ea"/>
                <a:cs typeface="+mn-cs"/>
              </a:rPr>
              <a:t>Sichuan delights to savory Cantonese </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specialties. </a:t>
            </a:r>
          </a:p>
        </p:txBody>
      </p:sp>
      <p:sp>
        <p:nvSpPr>
          <p:cNvPr id="16" name="Rounded Rectangle 15"/>
          <p:cNvSpPr/>
          <p:nvPr/>
        </p:nvSpPr>
        <p:spPr>
          <a:xfrm rot="5400000">
            <a:off x="7130394" y="1439821"/>
            <a:ext cx="1742406" cy="7606446"/>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TextBox 16"/>
          <p:cNvSpPr txBox="1"/>
          <p:nvPr/>
        </p:nvSpPr>
        <p:spPr>
          <a:xfrm>
            <a:off x="4385187" y="4757269"/>
            <a:ext cx="7419633" cy="133882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Fusion of traditional Chinese flavors with a modern, playful twist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Delightful bites that blend Chinese traditions with a desi twist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Innovative dishes spanning regional specialties from Sichuan to Cantonese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culinary journey through diverse and flavorful Chinese cuisine</a:t>
            </a:r>
            <a:b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885FC6EF-4930-AF4E-777D-501E522B2C95}"/>
              </a:ext>
            </a:extLst>
          </p:cNvPr>
          <p:cNvSpPr/>
          <p:nvPr/>
        </p:nvSpPr>
        <p:spPr>
          <a:xfrm>
            <a:off x="7157884" y="4086569"/>
            <a:ext cx="1587626" cy="570544"/>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19" name="TextBox 18"/>
          <p:cNvSpPr txBox="1"/>
          <p:nvPr/>
        </p:nvSpPr>
        <p:spPr>
          <a:xfrm>
            <a:off x="7208044" y="4142968"/>
            <a:ext cx="148730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2" name="Rounded Rectangle 16">
            <a:extLst>
              <a:ext uri="{FF2B5EF4-FFF2-40B4-BE49-F238E27FC236}">
                <a16:creationId xmlns:a16="http://schemas.microsoft.com/office/drawing/2014/main" id="{E71055E0-E9DB-6622-2AD0-035D1D303F25}"/>
              </a:ext>
            </a:extLst>
          </p:cNvPr>
          <p:cNvSpPr/>
          <p:nvPr/>
        </p:nvSpPr>
        <p:spPr>
          <a:xfrm>
            <a:off x="165812" y="3836643"/>
            <a:ext cx="1948123" cy="1885732"/>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13">
            <a:extLst>
              <a:ext uri="{FF2B5EF4-FFF2-40B4-BE49-F238E27FC236}">
                <a16:creationId xmlns:a16="http://schemas.microsoft.com/office/drawing/2014/main" id="{8A9AB007-86C7-85D8-1095-C5ECA5E3040B}"/>
              </a:ext>
            </a:extLst>
          </p:cNvPr>
          <p:cNvSpPr/>
          <p:nvPr/>
        </p:nvSpPr>
        <p:spPr>
          <a:xfrm>
            <a:off x="2167780" y="2322854"/>
            <a:ext cx="1869465" cy="1874008"/>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w="1905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97490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1+#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1+#ppt_w/2"/>
                                          </p:val>
                                        </p:tav>
                                        <p:tav tm="100000">
                                          <p:val>
                                            <p:strVal val="#ppt_x"/>
                                          </p:val>
                                        </p:tav>
                                      </p:tavLst>
                                    </p:anim>
                                    <p:anim calcmode="lin" valueType="num">
                                      <p:cBhvr additive="base">
                                        <p:cTn id="2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0">
                                            <p:txEl>
                                              <p:pRg st="0" end="0"/>
                                            </p:txEl>
                                          </p:spTgt>
                                        </p:tgtEl>
                                        <p:attrNameLst>
                                          <p:attrName>style.visibility</p:attrName>
                                        </p:attrNameLst>
                                      </p:cBhvr>
                                      <p:to>
                                        <p:strVal val="visible"/>
                                      </p:to>
                                    </p:set>
                                    <p:anim calcmode="lin" valueType="num">
                                      <p:cBhvr additive="base">
                                        <p:cTn id="41"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ppt_x"/>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fill="hold"/>
                                        <p:tgtEl>
                                          <p:spTgt spid="16"/>
                                        </p:tgtEl>
                                        <p:attrNameLst>
                                          <p:attrName>ppt_x</p:attrName>
                                        </p:attrNameLst>
                                      </p:cBhvr>
                                      <p:tavLst>
                                        <p:tav tm="0">
                                          <p:val>
                                            <p:strVal val="#ppt_x"/>
                                          </p:val>
                                        </p:tav>
                                        <p:tav tm="100000">
                                          <p:val>
                                            <p:strVal val="#ppt_x"/>
                                          </p:val>
                                        </p:tav>
                                      </p:tavLst>
                                    </p:anim>
                                    <p:anim calcmode="lin" valueType="num">
                                      <p:cBhvr additive="base">
                                        <p:cTn id="52" dur="500" fill="hold"/>
                                        <p:tgtEl>
                                          <p:spTgt spid="16"/>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ppt_x"/>
                                          </p:val>
                                        </p:tav>
                                        <p:tav tm="100000">
                                          <p:val>
                                            <p:strVal val="#ppt_x"/>
                                          </p:val>
                                        </p:tav>
                                      </p:tavLst>
                                    </p:anim>
                                    <p:anim calcmode="lin" valueType="num">
                                      <p:cBhvr additive="base">
                                        <p:cTn id="56" dur="500" fill="hold"/>
                                        <p:tgtEl>
                                          <p:spTgt spid="17"/>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p:bldP spid="9" grpId="0" animBg="1"/>
      <p:bldP spid="10" grpId="0"/>
      <p:bldP spid="11" grpId="0"/>
      <p:bldP spid="16" grpId="0" animBg="1"/>
      <p:bldP spid="17" grpId="0"/>
      <p:bldP spid="18" grpId="0" animBg="1"/>
      <p:bldP spid="19" grpId="0"/>
      <p:bldP spid="2" grpId="0" animBg="1"/>
      <p:bldP spid="3"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DA30959-761B-80AE-8640-2457FA13924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AF6FE5E-0D07-8C6C-116B-2D3A8BE346EE}"/>
              </a:ext>
            </a:extLst>
          </p:cNvPr>
          <p:cNvSpPr txBox="1"/>
          <p:nvPr/>
        </p:nvSpPr>
        <p:spPr>
          <a:xfrm>
            <a:off x="3265005" y="387481"/>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 MENU</a:t>
            </a:r>
          </a:p>
        </p:txBody>
      </p:sp>
      <p:pic>
        <p:nvPicPr>
          <p:cNvPr id="14" name="Picture 13">
            <a:extLst>
              <a:ext uri="{FF2B5EF4-FFF2-40B4-BE49-F238E27FC236}">
                <a16:creationId xmlns:a16="http://schemas.microsoft.com/office/drawing/2014/main" id="{5DC134FD-662D-CFF2-0B00-72F76CC660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6" name="TextBox 5">
            <a:extLst>
              <a:ext uri="{FF2B5EF4-FFF2-40B4-BE49-F238E27FC236}">
                <a16:creationId xmlns:a16="http://schemas.microsoft.com/office/drawing/2014/main" id="{65652CE4-EEC5-B842-1E4E-B7F2080C51A7}"/>
              </a:ext>
            </a:extLst>
          </p:cNvPr>
          <p:cNvSpPr txBox="1"/>
          <p:nvPr/>
        </p:nvSpPr>
        <p:spPr>
          <a:xfrm>
            <a:off x="458640" y="1216919"/>
            <a:ext cx="3805084" cy="6509474"/>
          </a:xfrm>
          <a:prstGeom prst="rect">
            <a:avLst/>
          </a:prstGeom>
          <a:noFill/>
        </p:spPr>
        <p:txBody>
          <a:bodyPr wrap="square">
            <a:spAutoFit/>
          </a:bodyPr>
          <a:lstStyle/>
          <a:p>
            <a:pPr marL="457200" marR="0" lvl="1" indent="0" algn="l" defTabSz="914400" rtl="0" eaLnBrk="1" fontAlgn="t" latinLnBrk="0" hangingPunct="1">
              <a:lnSpc>
                <a:spcPct val="15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Honey Chilli Potato</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Veg Chinese Hakka Noodles</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Veg Chinese Hakka Noodles Gravy</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Dry Manchurian</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Gravy Manchurian</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Veg Manchurian Pot Rice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Veg Spring Roll</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Veg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Schezwan</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Fried Rice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Veg Triple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Schezwan</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Fried Rice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2098638B-C3CE-E4DC-A28E-05284A9A5439}"/>
              </a:ext>
            </a:extLst>
          </p:cNvPr>
          <p:cNvSpPr txBox="1"/>
          <p:nvPr/>
        </p:nvSpPr>
        <p:spPr>
          <a:xfrm>
            <a:off x="5994300" y="1216919"/>
            <a:ext cx="5712542" cy="5632311"/>
          </a:xfrm>
          <a:prstGeom prst="rect">
            <a:avLst/>
          </a:prstGeom>
          <a:noFill/>
        </p:spPr>
        <p:txBody>
          <a:bodyPr wrap="square">
            <a:spAutoFit/>
          </a:bodyPr>
          <a:lstStyle/>
          <a:p>
            <a:pPr marL="0" marR="0" lvl="0" indent="0" algn="l" defTabSz="914400" rtl="0" eaLnBrk="1" fontAlgn="t"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Veg </a:t>
            </a:r>
            <a:r>
              <a:rPr kumimoji="0" lang="en-US" sz="2000" b="0" i="0" u="none" strike="noStrike" kern="1200" cap="none" spc="0" normalizeH="0" baseline="0" noProof="0" dirty="0" err="1">
                <a:ln>
                  <a:noFill/>
                </a:ln>
                <a:solidFill>
                  <a:prstClr val="white"/>
                </a:solidFill>
                <a:effectLst/>
                <a:uLnTx/>
                <a:uFillTx/>
                <a:latin typeface="Calibri" panose="020F0502020204030204"/>
                <a:ea typeface="+mn-ea"/>
                <a:cs typeface="+mn-cs"/>
              </a:rPr>
              <a:t>Chilli</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Garlic Fried Rice</a:t>
            </a:r>
            <a:b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American </a:t>
            </a:r>
            <a:r>
              <a:rPr kumimoji="0" lang="en-US" sz="2000" b="0" i="0" u="none" strike="noStrike" kern="1200" cap="none" spc="0" normalizeH="0" baseline="0" noProof="0" dirty="0" err="1">
                <a:ln>
                  <a:noFill/>
                </a:ln>
                <a:solidFill>
                  <a:prstClr val="white"/>
                </a:solidFill>
                <a:effectLst/>
                <a:uLnTx/>
                <a:uFillTx/>
                <a:latin typeface="Calibri" panose="020F0502020204030204"/>
                <a:ea typeface="+mn-ea"/>
                <a:cs typeface="+mn-cs"/>
              </a:rPr>
              <a:t>Chopsey</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with Fried Noodle/ Rice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Veg Fried Rice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Paneer 65 / Chilli Dry</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Veg Medium Wok Bowl with Fried Noodle/ Rice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Veg Personal Wok Bowl with Fried Noodle/Rice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Kung Pao Paneer Dry</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Manchurian Veg Bowl</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Veg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Schezwan</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Noodle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Soups (</a:t>
            </a:r>
            <a:r>
              <a:rPr kumimoji="0" lang="en-US" sz="2000" b="0" i="0" u="none" strike="noStrike" kern="1200" cap="none" spc="0" normalizeH="0" baseline="0" noProof="0" dirty="0" err="1">
                <a:ln>
                  <a:noFill/>
                </a:ln>
                <a:solidFill>
                  <a:prstClr val="white"/>
                </a:solidFill>
                <a:effectLst/>
                <a:uLnTx/>
                <a:uFillTx/>
                <a:latin typeface="Calibri" panose="020F0502020204030204"/>
                <a:ea typeface="+mn-ea"/>
                <a:cs typeface="+mn-cs"/>
              </a:rPr>
              <a:t>Manchow</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 Hot &amp; Sour / Sweet Corn / Tomato)</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63148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769817"/>
            <a:ext cx="3494811" cy="5320432"/>
          </a:xfrm>
          <a:prstGeom prst="rect">
            <a:avLst/>
          </a:prstGeom>
          <a:solidFill>
            <a:srgbClr val="DD0B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a:off x="357408" y="932592"/>
            <a:ext cx="2562773" cy="2380879"/>
          </a:xfrm>
          <a:prstGeom prst="roundRect">
            <a:avLst/>
          </a:prstGeom>
          <a:blipFill dpi="0" rotWithShape="1">
            <a:blip r:embed="rId2" cstate="print">
              <a:extLst>
                <a:ext uri="{28A0092B-C50C-407E-A947-70E740481C1C}">
                  <a14:useLocalDpi xmlns:a14="http://schemas.microsoft.com/office/drawing/2010/main" val="0"/>
                </a:ext>
              </a:extLst>
            </a:blip>
            <a:srcRect/>
            <a:stretch>
              <a:fillRect/>
            </a:stretch>
          </a:blipFill>
          <a:ln w="1270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B1C45F8-40C5-657A-8F6A-87E23F35D73B}"/>
              </a:ext>
            </a:extLst>
          </p:cNvPr>
          <p:cNvSpPr txBox="1"/>
          <p:nvPr/>
        </p:nvSpPr>
        <p:spPr>
          <a:xfrm>
            <a:off x="6065015" y="580075"/>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0000"/>
                </a:solidFill>
                <a:effectLst/>
                <a:uLnTx/>
                <a:uFillTx/>
                <a:latin typeface="Bricolage Grotesque 14pt" panose="020B0605040402000204" pitchFamily="34" charset="0"/>
                <a:ea typeface="Roboto" panose="02000000000000000000" pitchFamily="2" charset="0"/>
                <a:cs typeface="Heebo" pitchFamily="2" charset="-79"/>
              </a:rPr>
              <a:t>Mexico</a:t>
            </a:r>
          </a:p>
        </p:txBody>
      </p:sp>
      <p:sp>
        <p:nvSpPr>
          <p:cNvPr id="9" name="Rectangle 8">
            <a:extLst>
              <a:ext uri="{FF2B5EF4-FFF2-40B4-BE49-F238E27FC236}">
                <a16:creationId xmlns:a16="http://schemas.microsoft.com/office/drawing/2014/main" id="{174DAE6E-88FC-8FBA-E7AF-836600D40A41}"/>
              </a:ext>
            </a:extLst>
          </p:cNvPr>
          <p:cNvSpPr/>
          <p:nvPr/>
        </p:nvSpPr>
        <p:spPr>
          <a:xfrm>
            <a:off x="4306529" y="1903514"/>
            <a:ext cx="7400313" cy="365446"/>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10" name="TextBox 9"/>
          <p:cNvSpPr txBox="1"/>
          <p:nvPr/>
        </p:nvSpPr>
        <p:spPr>
          <a:xfrm>
            <a:off x="5032543" y="1911889"/>
            <a:ext cx="592620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öhne"/>
                <a:ea typeface="+mn-ea"/>
                <a:cs typeface="+mn-cs"/>
              </a:rPr>
              <a:t>Loaded Nachos, Quesadilla, Mexican Hot Pot &amp; many more…</a:t>
            </a:r>
          </a:p>
        </p:txBody>
      </p:sp>
      <p:sp>
        <p:nvSpPr>
          <p:cNvPr id="11" name="TextBox 10"/>
          <p:cNvSpPr txBox="1"/>
          <p:nvPr/>
        </p:nvSpPr>
        <p:spPr>
          <a:xfrm>
            <a:off x="4149213" y="2322854"/>
            <a:ext cx="7619413" cy="175432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Mexico Culture Eatery is your gateway into the vibrant tapestry of </a:t>
            </a:r>
            <a:r>
              <a:rPr kumimoji="0" lang="en-US" sz="1800" b="1" i="0" u="none" strike="noStrike" kern="1200" cap="none" spc="0" normalizeH="0" baseline="0" noProof="0" dirty="0">
                <a:ln>
                  <a:noFill/>
                </a:ln>
                <a:solidFill>
                  <a:srgbClr val="FFC000"/>
                </a:solidFill>
                <a:effectLst/>
                <a:uLnTx/>
                <a:uFillTx/>
                <a:latin typeface="Bricolage Grotesque 14pt" panose="020B0605040402000204" pitchFamily="34" charset="0"/>
                <a:ea typeface="+mn-ea"/>
                <a:cs typeface="+mn-cs"/>
              </a:rPr>
              <a:t>Mexican cuisine</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From zesty  </a:t>
            </a:r>
            <a:r>
              <a:rPr kumimoji="0" lang="en-US" sz="1800" b="1" i="0" u="none" strike="noStrike" kern="1200" cap="none" spc="0" normalizeH="0" baseline="0" noProof="0" dirty="0">
                <a:ln>
                  <a:noFill/>
                </a:ln>
                <a:solidFill>
                  <a:srgbClr val="FFC000"/>
                </a:solidFill>
                <a:effectLst/>
                <a:uLnTx/>
                <a:uFillTx/>
                <a:latin typeface="Bricolage Grotesque 14pt" panose="020B0605040402000204" pitchFamily="34" charset="0"/>
                <a:ea typeface="+mn-ea"/>
                <a:cs typeface="+mn-cs"/>
              </a:rPr>
              <a:t>tacos to nachos</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savour the rich flavors that define Mexican cultural heritage. We serve freshly made nachos, tacos, tostadas, and wraps, with all dips prepared </a:t>
            </a:r>
            <a:r>
              <a:rPr kumimoji="0" lang="en-US" sz="1800" b="1" i="0" u="none" strike="noStrike" kern="1200" cap="none" spc="0" normalizeH="0" baseline="0" noProof="0" dirty="0">
                <a:ln>
                  <a:noFill/>
                </a:ln>
                <a:solidFill>
                  <a:srgbClr val="FFC000"/>
                </a:solidFill>
                <a:effectLst/>
                <a:uLnTx/>
                <a:uFillTx/>
                <a:latin typeface="Bricolage Grotesque 14pt" panose="020B0605040402000204" pitchFamily="34" charset="0"/>
                <a:ea typeface="+mn-ea"/>
                <a:cs typeface="+mn-cs"/>
              </a:rPr>
              <a:t>in-house</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Enjoy the freshness of our salsa and other dips with every bite. Join us for an authentic taste of Mexico right in your neighbourhood</a:t>
            </a:r>
          </a:p>
        </p:txBody>
      </p:sp>
      <p:sp>
        <p:nvSpPr>
          <p:cNvPr id="16" name="Rounded Rectangle 15"/>
          <p:cNvSpPr/>
          <p:nvPr/>
        </p:nvSpPr>
        <p:spPr>
          <a:xfrm rot="5400000">
            <a:off x="7071401" y="1380827"/>
            <a:ext cx="1742406" cy="7724433"/>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TextBox 17"/>
          <p:cNvSpPr txBox="1"/>
          <p:nvPr/>
        </p:nvSpPr>
        <p:spPr>
          <a:xfrm>
            <a:off x="4306529" y="4824439"/>
            <a:ext cx="7532227" cy="107721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Mexico's rich tapestry of flavors and traditions.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Artisanal crafted nachos, tacos, tostadas, and wraps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Signature homemade dips, bursting with authentic flavors.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Quick and delicious taste of Mexico in your neighbourhood.</a:t>
            </a:r>
          </a:p>
        </p:txBody>
      </p:sp>
      <p:sp>
        <p:nvSpPr>
          <p:cNvPr id="19" name="Rectangle 18">
            <a:extLst>
              <a:ext uri="{FF2B5EF4-FFF2-40B4-BE49-F238E27FC236}">
                <a16:creationId xmlns:a16="http://schemas.microsoft.com/office/drawing/2014/main" id="{885FC6EF-4930-AF4E-777D-501E522B2C95}"/>
              </a:ext>
            </a:extLst>
          </p:cNvPr>
          <p:cNvSpPr/>
          <p:nvPr/>
        </p:nvSpPr>
        <p:spPr>
          <a:xfrm>
            <a:off x="7216877" y="4158016"/>
            <a:ext cx="2017739" cy="561468"/>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20" name="TextBox 19"/>
          <p:cNvSpPr txBox="1"/>
          <p:nvPr/>
        </p:nvSpPr>
        <p:spPr>
          <a:xfrm>
            <a:off x="7462684" y="4148949"/>
            <a:ext cx="170603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2" name="Rounded Rectangle 13">
            <a:extLst>
              <a:ext uri="{FF2B5EF4-FFF2-40B4-BE49-F238E27FC236}">
                <a16:creationId xmlns:a16="http://schemas.microsoft.com/office/drawing/2014/main" id="{885DD209-CE0D-EDFC-00C2-53DDF93FBAA5}"/>
              </a:ext>
            </a:extLst>
          </p:cNvPr>
          <p:cNvSpPr/>
          <p:nvPr/>
        </p:nvSpPr>
        <p:spPr>
          <a:xfrm>
            <a:off x="300434" y="3429000"/>
            <a:ext cx="2676719" cy="2457848"/>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6320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1+#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ppt_x"/>
                                          </p:val>
                                        </p:tav>
                                        <p:tav tm="100000">
                                          <p:val>
                                            <p:strVal val="#ppt_x"/>
                                          </p:val>
                                        </p:tav>
                                      </p:tavLst>
                                    </p:anim>
                                    <p:anim calcmode="lin" valueType="num">
                                      <p:cBhvr additive="base">
                                        <p:cTn id="48" dur="500" fill="hold"/>
                                        <p:tgtEl>
                                          <p:spTgt spid="1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8" grpId="0"/>
      <p:bldP spid="9" grpId="0" animBg="1"/>
      <p:bldP spid="10" grpId="0"/>
      <p:bldP spid="11" grpId="0"/>
      <p:bldP spid="16" grpId="0" animBg="1"/>
      <p:bldP spid="18" grpId="0"/>
      <p:bldP spid="19" grpId="0" animBg="1"/>
      <p:bldP spid="20" grpId="0"/>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097D2A0-34A1-441D-A31E-775E98F6ADB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253AE2A-8394-AEB0-ADBF-F4E2BE240682}"/>
              </a:ext>
            </a:extLst>
          </p:cNvPr>
          <p:cNvSpPr txBox="1"/>
          <p:nvPr/>
        </p:nvSpPr>
        <p:spPr>
          <a:xfrm>
            <a:off x="3265005" y="387481"/>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 MENU</a:t>
            </a:r>
          </a:p>
        </p:txBody>
      </p:sp>
      <p:pic>
        <p:nvPicPr>
          <p:cNvPr id="14" name="Picture 13">
            <a:extLst>
              <a:ext uri="{FF2B5EF4-FFF2-40B4-BE49-F238E27FC236}">
                <a16:creationId xmlns:a16="http://schemas.microsoft.com/office/drawing/2014/main" id="{214CD9DA-672A-B025-5A12-10E6E6CD1A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6" name="TextBox 5">
            <a:extLst>
              <a:ext uri="{FF2B5EF4-FFF2-40B4-BE49-F238E27FC236}">
                <a16:creationId xmlns:a16="http://schemas.microsoft.com/office/drawing/2014/main" id="{3C00B6A2-1099-D6DD-62E4-A55C7C3FDE81}"/>
              </a:ext>
            </a:extLst>
          </p:cNvPr>
          <p:cNvSpPr txBox="1"/>
          <p:nvPr/>
        </p:nvSpPr>
        <p:spPr>
          <a:xfrm>
            <a:off x="647640" y="1569618"/>
            <a:ext cx="4558073" cy="4401205"/>
          </a:xfrm>
          <a:prstGeom prst="rect">
            <a:avLst/>
          </a:prstGeom>
          <a:noFill/>
        </p:spPr>
        <p:txBody>
          <a:bodyPr wrap="square">
            <a:spAutoFit/>
          </a:bodyPr>
          <a:lstStyle/>
          <a:p>
            <a:pPr marL="457200" marR="0" lvl="1" indent="0" algn="l" defTabSz="914400" rtl="0" eaLnBrk="1" fontAlgn="t" latinLnBrk="0" hangingPunct="1">
              <a:lnSpc>
                <a:spcPct val="2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Nacho Chips With Salsa &amp; Cheese Dip</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Mexican Fries With Cheese Tacos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Loaded Nachos</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Falafal</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Tacos</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Quesadilla</a:t>
            </a:r>
          </a:p>
          <a:p>
            <a:pPr lvl="1" fontAlgn="t">
              <a:lnSpc>
                <a:spcPct val="200000"/>
              </a:lnSpc>
              <a:defRPr/>
            </a:pPr>
            <a:r>
              <a:rPr lang="en-IN" sz="2000" dirty="0">
                <a:solidFill>
                  <a:prstClr val="white"/>
                </a:solidFill>
              </a:rPr>
              <a:t>Mexican Tostada</a:t>
            </a:r>
            <a:br>
              <a:rPr lang="en-US" sz="2000" dirty="0">
                <a:solidFill>
                  <a:prstClr val="white"/>
                </a:solidFill>
              </a:rPr>
            </a:br>
            <a:r>
              <a:rPr lang="en-IN" sz="2000" dirty="0">
                <a:solidFill>
                  <a:prstClr val="white"/>
                </a:solidFill>
              </a:rPr>
              <a:t>Cheese &amp; Spring Onion Toasted</a:t>
            </a:r>
            <a:endPar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7F351E4E-C96E-C851-4E56-614ECEACBD94}"/>
              </a:ext>
            </a:extLst>
          </p:cNvPr>
          <p:cNvSpPr txBox="1"/>
          <p:nvPr/>
        </p:nvSpPr>
        <p:spPr>
          <a:xfrm>
            <a:off x="5921148" y="1877394"/>
            <a:ext cx="5712542" cy="3785652"/>
          </a:xfrm>
          <a:prstGeom prst="rect">
            <a:avLst/>
          </a:prstGeom>
          <a:noFill/>
        </p:spPr>
        <p:txBody>
          <a:bodyPr wrap="square">
            <a:spAutoFit/>
          </a:bodyPr>
          <a:lstStyle/>
          <a:p>
            <a:pPr marL="0" marR="0" lvl="0" indent="0" algn="l" defTabSz="914400" rtl="0" eaLnBrk="1" fontAlgn="t" latinLnBrk="0" hangingPunct="1">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Spicy Cottage Cheese &amp; Pinto Bean Tacos</a:t>
            </a:r>
          </a:p>
          <a:p>
            <a:pPr marL="0" marR="0" lvl="0" indent="0" algn="l" defTabSz="914400" rtl="0" eaLnBrk="1" fontAlgn="t" latinLnBrk="0" hangingPunct="1">
              <a:spcBef>
                <a:spcPts val="0"/>
              </a:spcBef>
              <a:spcAft>
                <a:spcPts val="0"/>
              </a:spcAft>
              <a:buClrTx/>
              <a:buSzTx/>
              <a:buFontTx/>
              <a:buNone/>
              <a:tabLst/>
              <a:defRPr/>
            </a:pP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Mexican Hot Pot</a:t>
            </a:r>
          </a:p>
          <a:p>
            <a:pPr marL="0" marR="0" lvl="0" indent="0" algn="l" defTabSz="914400" rtl="0" eaLnBrk="1" fontAlgn="t" latinLnBrk="0" hangingPunct="1">
              <a:spcBef>
                <a:spcPts val="0"/>
              </a:spcBef>
              <a:spcAft>
                <a:spcPts val="0"/>
              </a:spcAft>
              <a:buClrTx/>
              <a:buSzTx/>
              <a:buFontTx/>
              <a:buNone/>
              <a:tabLst/>
              <a:defRPr/>
            </a:pP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Burrito Wrap (Veggies &amp; Cheese / beans &amp; Cottage Cheese/the Mexican) </a:t>
            </a:r>
          </a:p>
          <a:p>
            <a:pPr lvl="0" fontAlgn="t">
              <a:lnSpc>
                <a:spcPct val="200000"/>
              </a:lnSpc>
              <a:defRPr/>
            </a:pPr>
            <a:r>
              <a:rPr lang="en-IN" sz="2000" dirty="0">
                <a:solidFill>
                  <a:prstClr val="white"/>
                </a:solidFill>
              </a:rPr>
              <a:t>Salted Fries</a:t>
            </a:r>
          </a:p>
          <a:p>
            <a:pPr lvl="0" fontAlgn="t">
              <a:lnSpc>
                <a:spcPct val="200000"/>
              </a:lnSpc>
              <a:defRPr/>
            </a:pPr>
            <a:r>
              <a:rPr lang="en-IN" sz="2000" dirty="0">
                <a:solidFill>
                  <a:prstClr val="white"/>
                </a:solidFill>
              </a:rPr>
              <a:t>Peri </a:t>
            </a:r>
            <a:r>
              <a:rPr lang="en-IN" sz="2000" dirty="0" err="1">
                <a:solidFill>
                  <a:prstClr val="white"/>
                </a:solidFill>
              </a:rPr>
              <a:t>Peri</a:t>
            </a:r>
            <a:r>
              <a:rPr lang="en-IN" sz="2000" dirty="0">
                <a:solidFill>
                  <a:prstClr val="white"/>
                </a:solidFill>
              </a:rPr>
              <a:t> Fries</a:t>
            </a:r>
          </a:p>
          <a:p>
            <a:pPr lvl="0" fontAlgn="t">
              <a:lnSpc>
                <a:spcPct val="200000"/>
              </a:lnSpc>
              <a:defRPr/>
            </a:pPr>
            <a:r>
              <a:rPr lang="en-IN" sz="2000" dirty="0">
                <a:solidFill>
                  <a:prstClr val="white"/>
                </a:solidFill>
              </a:rPr>
              <a:t>Cheese Balls</a:t>
            </a:r>
            <a:endParaRPr kumimoji="0" lang="en-IN" sz="200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5157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22825" y="731622"/>
            <a:ext cx="3880582" cy="5320432"/>
          </a:xfrm>
          <a:prstGeom prst="rect">
            <a:avLst/>
          </a:prstGeom>
          <a:solidFill>
            <a:srgbClr val="FF9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a:off x="251399" y="947438"/>
            <a:ext cx="1974511" cy="1919697"/>
          </a:xfrm>
          <a:prstGeom prst="roundRect">
            <a:avLst/>
          </a:prstGeom>
          <a:blipFill dpi="0" rotWithShape="1">
            <a:blip r:embed="rId2"/>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4B1C45F8-40C5-657A-8F6A-87E23F35D73B}"/>
              </a:ext>
            </a:extLst>
          </p:cNvPr>
          <p:cNvSpPr txBox="1"/>
          <p:nvPr/>
        </p:nvSpPr>
        <p:spPr>
          <a:xfrm>
            <a:off x="5656972" y="1001225"/>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9D00"/>
                </a:solidFill>
                <a:effectLst/>
                <a:uLnTx/>
                <a:uFillTx/>
                <a:latin typeface="Bricolage Grotesque 14pt" panose="020B0605040402000204" pitchFamily="34" charset="0"/>
                <a:ea typeface="Roboto" panose="02000000000000000000" pitchFamily="2" charset="0"/>
                <a:cs typeface="Heebo" pitchFamily="2" charset="-79"/>
              </a:rPr>
              <a:t>Frankie</a:t>
            </a:r>
          </a:p>
        </p:txBody>
      </p:sp>
      <p:sp>
        <p:nvSpPr>
          <p:cNvPr id="8" name="Rectangle 7">
            <a:extLst>
              <a:ext uri="{FF2B5EF4-FFF2-40B4-BE49-F238E27FC236}">
                <a16:creationId xmlns:a16="http://schemas.microsoft.com/office/drawing/2014/main" id="{174DAE6E-88FC-8FBA-E7AF-836600D40A41}"/>
              </a:ext>
            </a:extLst>
          </p:cNvPr>
          <p:cNvSpPr/>
          <p:nvPr/>
        </p:nvSpPr>
        <p:spPr>
          <a:xfrm>
            <a:off x="4611329" y="1907287"/>
            <a:ext cx="7095513" cy="361673"/>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9" name="TextBox 8"/>
          <p:cNvSpPr txBox="1"/>
          <p:nvPr/>
        </p:nvSpPr>
        <p:spPr>
          <a:xfrm>
            <a:off x="5140736" y="1925598"/>
            <a:ext cx="592620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öhne"/>
                <a:ea typeface="+mn-ea"/>
                <a:cs typeface="+mn-cs"/>
              </a:rPr>
              <a:t>Mad Mix Frankie, BBQ </a:t>
            </a:r>
            <a:r>
              <a:rPr kumimoji="0" lang="en-US" sz="1800" b="1" i="0" u="none" strike="noStrike" kern="1200" cap="none" spc="0" normalizeH="0" baseline="0" noProof="0" dirty="0" err="1">
                <a:ln>
                  <a:noFill/>
                </a:ln>
                <a:solidFill>
                  <a:prstClr val="white"/>
                </a:solidFill>
                <a:effectLst/>
                <a:uLnTx/>
                <a:uFillTx/>
                <a:latin typeface="Söhne"/>
                <a:ea typeface="+mn-ea"/>
                <a:cs typeface="+mn-cs"/>
              </a:rPr>
              <a:t>Paneer</a:t>
            </a:r>
            <a:r>
              <a:rPr kumimoji="0" lang="en-US" sz="1800" b="1" i="0" u="none" strike="noStrike" kern="1200" cap="none" spc="0" normalizeH="0" baseline="0" noProof="0" dirty="0">
                <a:ln>
                  <a:noFill/>
                </a:ln>
                <a:solidFill>
                  <a:prstClr val="white"/>
                </a:solidFill>
                <a:effectLst/>
                <a:uLnTx/>
                <a:uFillTx/>
                <a:latin typeface="Söhne"/>
                <a:ea typeface="+mn-ea"/>
                <a:cs typeface="+mn-cs"/>
              </a:rPr>
              <a:t> Frankie &amp; many more…</a:t>
            </a:r>
          </a:p>
        </p:txBody>
      </p:sp>
      <p:sp>
        <p:nvSpPr>
          <p:cNvPr id="10" name="TextBox 9"/>
          <p:cNvSpPr txBox="1"/>
          <p:nvPr/>
        </p:nvSpPr>
        <p:spPr>
          <a:xfrm>
            <a:off x="4452626" y="2322854"/>
            <a:ext cx="7316000" cy="175432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Frankiestaan welcomes you to a paradise of flavor and variety! Indulge in our delectable selection of Frankies, made with </a:t>
            </a:r>
            <a:r>
              <a:rPr kumimoji="0" lang="en-US" sz="1800" b="1" i="0" u="none" strike="noStrike" kern="1200" cap="none" spc="0" normalizeH="0" baseline="0" noProof="0" dirty="0">
                <a:ln>
                  <a:noFill/>
                </a:ln>
                <a:solidFill>
                  <a:srgbClr val="FFC000"/>
                </a:solidFill>
                <a:effectLst/>
                <a:uLnTx/>
                <a:uFillTx/>
                <a:latin typeface="Bricolage Grotesque 14pt" panose="020B0605040402000204" pitchFamily="34" charset="0"/>
                <a:ea typeface="+mn-ea"/>
                <a:cs typeface="+mn-cs"/>
              </a:rPr>
              <a:t>fresh tortillas crafted from wheat flour</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and filled with a variety of mouthwatering ingredients, our Frankies offer a unique twist on this classic street food. From </a:t>
            </a:r>
            <a:r>
              <a:rPr kumimoji="0" lang="en-US" sz="1800" b="1" i="0" u="none" strike="noStrike" kern="1200" cap="none" spc="0" normalizeH="0" baseline="0" noProof="0" dirty="0">
                <a:ln>
                  <a:noFill/>
                </a:ln>
                <a:solidFill>
                  <a:srgbClr val="FFC000"/>
                </a:solidFill>
                <a:effectLst/>
                <a:uLnTx/>
                <a:uFillTx/>
                <a:latin typeface="Bricolage Grotesque 14pt" panose="020B0605040402000204" pitchFamily="34" charset="0"/>
                <a:ea typeface="+mn-ea"/>
                <a:cs typeface="+mn-cs"/>
              </a:rPr>
              <a:t>classic favorites to innovative creations</a:t>
            </a:r>
            <a:r>
              <a:rPr kumimoji="0" lang="en-US" sz="18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 it offers a tantalizing array of options to satisfy your cravings. </a:t>
            </a:r>
          </a:p>
        </p:txBody>
      </p:sp>
      <p:sp>
        <p:nvSpPr>
          <p:cNvPr id="11" name="Rounded Rectangle 10"/>
          <p:cNvSpPr/>
          <p:nvPr/>
        </p:nvSpPr>
        <p:spPr>
          <a:xfrm rot="5400000">
            <a:off x="7232635" y="1542061"/>
            <a:ext cx="1742406" cy="7401965"/>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4699819" y="4824439"/>
            <a:ext cx="7138937" cy="107721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Frankies made with fresh wheat flour tortillas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Classic favourites to innovative creations, catering to every taste.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Range of dips, sauces, and fillings, tailored to every tastebud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Go-to destination for a delicious and satisfying meal on the go.</a:t>
            </a:r>
          </a:p>
        </p:txBody>
      </p:sp>
      <p:sp>
        <p:nvSpPr>
          <p:cNvPr id="13" name="Rectangle 12">
            <a:extLst>
              <a:ext uri="{FF2B5EF4-FFF2-40B4-BE49-F238E27FC236}">
                <a16:creationId xmlns:a16="http://schemas.microsoft.com/office/drawing/2014/main" id="{885FC6EF-4930-AF4E-777D-501E522B2C95}"/>
              </a:ext>
            </a:extLst>
          </p:cNvPr>
          <p:cNvSpPr/>
          <p:nvPr/>
        </p:nvSpPr>
        <p:spPr>
          <a:xfrm>
            <a:off x="7413523" y="4050890"/>
            <a:ext cx="1821093" cy="550658"/>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14" name="TextBox 13"/>
          <p:cNvSpPr txBox="1"/>
          <p:nvPr/>
        </p:nvSpPr>
        <p:spPr>
          <a:xfrm>
            <a:off x="7446473" y="4042853"/>
            <a:ext cx="1755191"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2" name="Rounded Rectangle 14">
            <a:extLst>
              <a:ext uri="{FF2B5EF4-FFF2-40B4-BE49-F238E27FC236}">
                <a16:creationId xmlns:a16="http://schemas.microsoft.com/office/drawing/2014/main" id="{16A3050E-117F-53F4-B6C7-4D45C915B72C}"/>
              </a:ext>
            </a:extLst>
          </p:cNvPr>
          <p:cNvSpPr/>
          <p:nvPr/>
        </p:nvSpPr>
        <p:spPr>
          <a:xfrm>
            <a:off x="251399" y="3864590"/>
            <a:ext cx="2049350" cy="1919697"/>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w="1270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17">
            <a:extLst>
              <a:ext uri="{FF2B5EF4-FFF2-40B4-BE49-F238E27FC236}">
                <a16:creationId xmlns:a16="http://schemas.microsoft.com/office/drawing/2014/main" id="{C4643956-3865-322E-F58C-9813C14FB870}"/>
              </a:ext>
            </a:extLst>
          </p:cNvPr>
          <p:cNvSpPr/>
          <p:nvPr/>
        </p:nvSpPr>
        <p:spPr>
          <a:xfrm>
            <a:off x="2333699" y="2268960"/>
            <a:ext cx="1974511" cy="1919697"/>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41167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1+#ppt_w/2"/>
                                          </p:val>
                                        </p:tav>
                                        <p:tav tm="100000">
                                          <p:val>
                                            <p:strVal val="#ppt_x"/>
                                          </p:val>
                                        </p:tav>
                                      </p:tavLst>
                                    </p:anim>
                                    <p:anim calcmode="lin" valueType="num">
                                      <p:cBhvr additive="base">
                                        <p:cTn id="24" dur="500" fill="hold"/>
                                        <p:tgtEl>
                                          <p:spTgt spid="3"/>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1+#ppt_w/2"/>
                                          </p:val>
                                        </p:tav>
                                        <p:tav tm="100000">
                                          <p:val>
                                            <p:strVal val="#ppt_x"/>
                                          </p:val>
                                        </p:tav>
                                      </p:tavLst>
                                    </p:anim>
                                    <p:anim calcmode="lin" valueType="num">
                                      <p:cBhvr additive="base">
                                        <p:cTn id="2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ppt_x"/>
                                          </p:val>
                                        </p:tav>
                                        <p:tav tm="100000">
                                          <p:val>
                                            <p:strVal val="#ppt_x"/>
                                          </p:val>
                                        </p:tav>
                                      </p:tavLst>
                                    </p:anim>
                                    <p:anim calcmode="lin" valueType="num">
                                      <p:cBhvr additive="base">
                                        <p:cTn id="50" dur="500" fill="hold"/>
                                        <p:tgtEl>
                                          <p:spTgt spid="11"/>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additive="base">
                                        <p:cTn id="53" dur="500" fill="hold"/>
                                        <p:tgtEl>
                                          <p:spTgt spid="12"/>
                                        </p:tgtEl>
                                        <p:attrNameLst>
                                          <p:attrName>ppt_x</p:attrName>
                                        </p:attrNameLst>
                                      </p:cBhvr>
                                      <p:tavLst>
                                        <p:tav tm="0">
                                          <p:val>
                                            <p:strVal val="#ppt_x"/>
                                          </p:val>
                                        </p:tav>
                                        <p:tav tm="100000">
                                          <p:val>
                                            <p:strVal val="#ppt_x"/>
                                          </p:val>
                                        </p:tav>
                                      </p:tavLst>
                                    </p:anim>
                                    <p:anim calcmode="lin" valueType="num">
                                      <p:cBhvr additive="base">
                                        <p:cTn id="54" dur="500" fill="hold"/>
                                        <p:tgtEl>
                                          <p:spTgt spid="12"/>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ppt_x"/>
                                          </p:val>
                                        </p:tav>
                                        <p:tav tm="100000">
                                          <p:val>
                                            <p:strVal val="#ppt_x"/>
                                          </p:val>
                                        </p:tav>
                                      </p:tavLst>
                                    </p:anim>
                                    <p:anim calcmode="lin" valueType="num">
                                      <p:cBhvr additive="base">
                                        <p:cTn id="58" dur="500" fill="hold"/>
                                        <p:tgtEl>
                                          <p:spTgt spid="1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500" fill="hold"/>
                                        <p:tgtEl>
                                          <p:spTgt spid="13"/>
                                        </p:tgtEl>
                                        <p:attrNameLst>
                                          <p:attrName>ppt_x</p:attrName>
                                        </p:attrNameLst>
                                      </p:cBhvr>
                                      <p:tavLst>
                                        <p:tav tm="0">
                                          <p:val>
                                            <p:strVal val="#ppt_x"/>
                                          </p:val>
                                        </p:tav>
                                        <p:tav tm="100000">
                                          <p:val>
                                            <p:strVal val="#ppt_x"/>
                                          </p:val>
                                        </p:tav>
                                      </p:tavLst>
                                    </p:anim>
                                    <p:anim calcmode="lin" valueType="num">
                                      <p:cBhvr additive="base">
                                        <p:cTn id="6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6" grpId="0"/>
      <p:bldP spid="8" grpId="0" animBg="1"/>
      <p:bldP spid="9" grpId="0"/>
      <p:bldP spid="10" grpId="0"/>
      <p:bldP spid="11" grpId="0" animBg="1"/>
      <p:bldP spid="12" grpId="0"/>
      <p:bldP spid="13" grpId="0" animBg="1"/>
      <p:bldP spid="14" grpId="0"/>
      <p:bldP spid="2" grpId="0" animBg="1"/>
      <p:bldP spid="3"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D563257-6D3F-010A-B21F-9612156480A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AC6F2BB-FAA8-D6AB-EB0D-F01057F4B587}"/>
              </a:ext>
            </a:extLst>
          </p:cNvPr>
          <p:cNvSpPr txBox="1"/>
          <p:nvPr/>
        </p:nvSpPr>
        <p:spPr>
          <a:xfrm>
            <a:off x="3265005" y="387481"/>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 MENU</a:t>
            </a:r>
          </a:p>
        </p:txBody>
      </p:sp>
      <p:pic>
        <p:nvPicPr>
          <p:cNvPr id="14" name="Picture 13">
            <a:extLst>
              <a:ext uri="{FF2B5EF4-FFF2-40B4-BE49-F238E27FC236}">
                <a16:creationId xmlns:a16="http://schemas.microsoft.com/office/drawing/2014/main" id="{5EEF2633-3D41-A5DF-4D7C-252F93AE5C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6" name="TextBox 5">
            <a:extLst>
              <a:ext uri="{FF2B5EF4-FFF2-40B4-BE49-F238E27FC236}">
                <a16:creationId xmlns:a16="http://schemas.microsoft.com/office/drawing/2014/main" id="{5BFF0A54-014D-2FC5-32FD-B094284EA4AA}"/>
              </a:ext>
            </a:extLst>
          </p:cNvPr>
          <p:cNvSpPr txBox="1"/>
          <p:nvPr/>
        </p:nvSpPr>
        <p:spPr>
          <a:xfrm>
            <a:off x="2062235" y="1656526"/>
            <a:ext cx="3805084" cy="3724096"/>
          </a:xfrm>
          <a:prstGeom prst="rect">
            <a:avLst/>
          </a:prstGeom>
          <a:noFill/>
        </p:spPr>
        <p:txBody>
          <a:bodyPr wrap="square">
            <a:spAutoFit/>
          </a:bodyPr>
          <a:lstStyle/>
          <a:p>
            <a:pPr marL="457200" marR="0" lvl="1" indent="0" algn="l"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Mad mix Frankie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Spicy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Schezwan</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Frankie Cheesy Corn Frankie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Veggie Delight Frankie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Pizza Punch Frankie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Noodles Frankie</a:t>
            </a:r>
          </a:p>
        </p:txBody>
      </p:sp>
      <p:sp>
        <p:nvSpPr>
          <p:cNvPr id="8" name="TextBox 7">
            <a:extLst>
              <a:ext uri="{FF2B5EF4-FFF2-40B4-BE49-F238E27FC236}">
                <a16:creationId xmlns:a16="http://schemas.microsoft.com/office/drawing/2014/main" id="{3A2F1CC9-4A23-47B8-D052-BEBF0315D5B9}"/>
              </a:ext>
            </a:extLst>
          </p:cNvPr>
          <p:cNvSpPr txBox="1"/>
          <p:nvPr/>
        </p:nvSpPr>
        <p:spPr>
          <a:xfrm>
            <a:off x="6256195" y="1625748"/>
            <a:ext cx="3805084" cy="3785652"/>
          </a:xfrm>
          <a:prstGeom prst="rect">
            <a:avLst/>
          </a:prstGeom>
          <a:noFill/>
        </p:spPr>
        <p:txBody>
          <a:bodyPr wrap="square">
            <a:spAutoFit/>
          </a:bodyPr>
          <a:lstStyle/>
          <a:p>
            <a:pPr marL="0" marR="0" lvl="0" indent="0" algn="l"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Tandoori Paneer Frankie</a:t>
            </a:r>
            <a:b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Paneer Delight Frankie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Cheese Chilli Paneer Frankie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Cheese Peri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Peri</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Frankie</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Paneer Peri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Peri</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Frankie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Cheese Chilli Corn Frankie</a:t>
            </a: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7102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769817"/>
            <a:ext cx="3539613" cy="5320432"/>
          </a:xfrm>
          <a:prstGeom prst="rect">
            <a:avLst/>
          </a:prstGeom>
          <a:gradFill flip="none" rotWithShape="1">
            <a:gsLst>
              <a:gs pos="0">
                <a:srgbClr val="FC5204">
                  <a:shade val="30000"/>
                  <a:satMod val="115000"/>
                </a:srgbClr>
              </a:gs>
              <a:gs pos="50000">
                <a:srgbClr val="FC5204">
                  <a:shade val="67500"/>
                  <a:satMod val="115000"/>
                </a:srgbClr>
              </a:gs>
              <a:gs pos="100000">
                <a:srgbClr val="FC5204">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a:off x="423374" y="895967"/>
            <a:ext cx="2667531" cy="2533033"/>
          </a:xfrm>
          <a:prstGeom prst="round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3816" y="769817"/>
            <a:ext cx="325550" cy="325550"/>
          </a:xfrm>
          <a:prstGeom prst="rect">
            <a:avLst/>
          </a:prstGeom>
        </p:spPr>
      </p:pic>
      <p:sp>
        <p:nvSpPr>
          <p:cNvPr id="10" name="TextBox 9">
            <a:extLst>
              <a:ext uri="{FF2B5EF4-FFF2-40B4-BE49-F238E27FC236}">
                <a16:creationId xmlns:a16="http://schemas.microsoft.com/office/drawing/2014/main" id="{4B1C45F8-40C5-657A-8F6A-87E23F35D73B}"/>
              </a:ext>
            </a:extLst>
          </p:cNvPr>
          <p:cNvSpPr txBox="1"/>
          <p:nvPr/>
        </p:nvSpPr>
        <p:spPr>
          <a:xfrm>
            <a:off x="6899459" y="580075"/>
            <a:ext cx="3224844"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err="1">
                <a:ln>
                  <a:noFill/>
                </a:ln>
                <a:solidFill>
                  <a:srgbClr val="FFB500"/>
                </a:solidFill>
                <a:effectLst/>
                <a:uLnTx/>
                <a:uFillTx/>
                <a:latin typeface="Bricolage Grotesque 14pt" panose="020B0605040402000204" pitchFamily="34" charset="0"/>
                <a:ea typeface="Roboto" panose="02000000000000000000" pitchFamily="2" charset="0"/>
                <a:cs typeface="Heebo" pitchFamily="2" charset="-79"/>
              </a:rPr>
              <a:t>Kabab</a:t>
            </a:r>
            <a:endParaRPr kumimoji="0" lang="en-US" sz="4000" b="1" i="0" u="none" strike="noStrike" kern="1200" cap="none" spc="0" normalizeH="0" baseline="0" noProof="0" dirty="0">
              <a:ln>
                <a:noFill/>
              </a:ln>
              <a:solidFill>
                <a:srgbClr val="FFB500"/>
              </a:solidFill>
              <a:effectLst/>
              <a:uLnTx/>
              <a:uFillTx/>
              <a:latin typeface="Bricolage Grotesque 14pt" panose="020B0605040402000204" pitchFamily="34" charset="0"/>
              <a:ea typeface="Roboto" panose="02000000000000000000" pitchFamily="2" charset="0"/>
              <a:cs typeface="Heebo" pitchFamily="2" charset="-79"/>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C4605"/>
                </a:solidFill>
                <a:effectLst/>
                <a:uLnTx/>
                <a:uFillTx/>
                <a:latin typeface="Bricolage Grotesque 14pt" panose="020B0605040402000204" pitchFamily="34" charset="0"/>
                <a:ea typeface="Roboto" panose="02000000000000000000" pitchFamily="2" charset="0"/>
                <a:cs typeface="Heebo" pitchFamily="2" charset="-79"/>
              </a:rPr>
              <a:t>Karkhana</a:t>
            </a:r>
          </a:p>
        </p:txBody>
      </p:sp>
      <p:sp>
        <p:nvSpPr>
          <p:cNvPr id="11" name="Rectangle 10">
            <a:extLst>
              <a:ext uri="{FF2B5EF4-FFF2-40B4-BE49-F238E27FC236}">
                <a16:creationId xmlns:a16="http://schemas.microsoft.com/office/drawing/2014/main" id="{174DAE6E-88FC-8FBA-E7AF-836600D40A41}"/>
              </a:ext>
            </a:extLst>
          </p:cNvPr>
          <p:cNvSpPr/>
          <p:nvPr/>
        </p:nvSpPr>
        <p:spPr>
          <a:xfrm>
            <a:off x="5316921" y="1961182"/>
            <a:ext cx="6389921" cy="307778"/>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12" name="TextBox 11"/>
          <p:cNvSpPr txBox="1"/>
          <p:nvPr/>
        </p:nvSpPr>
        <p:spPr>
          <a:xfrm>
            <a:off x="5370270" y="1943049"/>
            <a:ext cx="633657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prstClr val="white"/>
                </a:solidFill>
                <a:effectLst/>
                <a:uLnTx/>
                <a:uFillTx/>
                <a:latin typeface="Söhne"/>
                <a:ea typeface="+mn-ea"/>
                <a:cs typeface="+mn-cs"/>
              </a:rPr>
              <a:t>Kabab</a:t>
            </a:r>
            <a:r>
              <a:rPr kumimoji="0" lang="en-US" sz="1400" b="1" i="0" u="none" strike="noStrike" kern="1200" cap="none" spc="0" normalizeH="0" baseline="0" noProof="0" dirty="0">
                <a:ln>
                  <a:noFill/>
                </a:ln>
                <a:solidFill>
                  <a:prstClr val="white"/>
                </a:solidFill>
                <a:effectLst/>
                <a:uLnTx/>
                <a:uFillTx/>
                <a:latin typeface="Söhne"/>
                <a:ea typeface="+mn-ea"/>
                <a:cs typeface="+mn-cs"/>
              </a:rPr>
              <a:t>, </a:t>
            </a:r>
            <a:r>
              <a:rPr kumimoji="0" lang="en-US" sz="1400" b="1" i="0" u="none" strike="noStrike" kern="1200" cap="none" spc="0" normalizeH="0" baseline="0" noProof="0" dirty="0" err="1">
                <a:ln>
                  <a:noFill/>
                </a:ln>
                <a:solidFill>
                  <a:prstClr val="white"/>
                </a:solidFill>
                <a:effectLst/>
                <a:uLnTx/>
                <a:uFillTx/>
                <a:latin typeface="Söhne"/>
                <a:ea typeface="+mn-ea"/>
                <a:cs typeface="+mn-cs"/>
              </a:rPr>
              <a:t>Murg</a:t>
            </a:r>
            <a:r>
              <a:rPr kumimoji="0" lang="en-US" sz="1400" b="1" i="0" u="none" strike="noStrike" kern="1200" cap="none" spc="0" normalizeH="0" baseline="0" noProof="0" dirty="0">
                <a:ln>
                  <a:noFill/>
                </a:ln>
                <a:solidFill>
                  <a:prstClr val="white"/>
                </a:solidFill>
                <a:effectLst/>
                <a:uLnTx/>
                <a:uFillTx/>
                <a:latin typeface="Söhne"/>
                <a:ea typeface="+mn-ea"/>
                <a:cs typeface="+mn-cs"/>
              </a:rPr>
              <a:t> Tandoori Tikka, Chicken and Mutton Dishes &amp; many more…</a:t>
            </a:r>
          </a:p>
        </p:txBody>
      </p:sp>
      <p:sp>
        <p:nvSpPr>
          <p:cNvPr id="13" name="TextBox 12"/>
          <p:cNvSpPr txBox="1"/>
          <p:nvPr/>
        </p:nvSpPr>
        <p:spPr>
          <a:xfrm>
            <a:off x="5255136" y="2322854"/>
            <a:ext cx="6513490" cy="132343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Bricolage Grotesque 14pt" panose="020B0605040402000204" pitchFamily="34" charset="0"/>
                <a:ea typeface="+mn-ea"/>
                <a:cs typeface="+mn-cs"/>
              </a:rPr>
              <a:t>Kabab Karkhana gives you the royal flavors of Lucknow right in your neighbourhood. Specializing in succulent kababs, flavorful rolls, aromatic biryani, etc our eatery brings the authentic taste of Lucknowi cuisine to every dish. Join us and indulge in the exquisite flavors of Nawabi tradition at Kabab Karkhana.</a:t>
            </a:r>
          </a:p>
        </p:txBody>
      </p:sp>
      <p:sp>
        <p:nvSpPr>
          <p:cNvPr id="14" name="Rounded Rectangle 13"/>
          <p:cNvSpPr/>
          <p:nvPr/>
        </p:nvSpPr>
        <p:spPr>
          <a:xfrm rot="5400000">
            <a:off x="7640678" y="1950105"/>
            <a:ext cx="1742406" cy="6585878"/>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TextBox 14"/>
          <p:cNvSpPr txBox="1"/>
          <p:nvPr/>
        </p:nvSpPr>
        <p:spPr>
          <a:xfrm>
            <a:off x="5316921" y="4619681"/>
            <a:ext cx="6521835" cy="147732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Authentic Non-veg and veg Lucknowi Cuisine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Specialization in Kababs, Rolls, and Biryani with the similar Lucknowi taste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Royal Flavors and the essence of Nawabi tradition, offer a taste of royalty in every bite.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Finest Mughlayi ingredients with authentic flavors.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easy access to Lucknowi delicacies whenever you crave them</a:t>
            </a:r>
          </a:p>
        </p:txBody>
      </p:sp>
      <p:sp>
        <p:nvSpPr>
          <p:cNvPr id="16" name="Rectangle 15">
            <a:extLst>
              <a:ext uri="{FF2B5EF4-FFF2-40B4-BE49-F238E27FC236}">
                <a16:creationId xmlns:a16="http://schemas.microsoft.com/office/drawing/2014/main" id="{885FC6EF-4930-AF4E-777D-501E522B2C95}"/>
              </a:ext>
            </a:extLst>
          </p:cNvPr>
          <p:cNvSpPr/>
          <p:nvPr/>
        </p:nvSpPr>
        <p:spPr>
          <a:xfrm>
            <a:off x="7789146" y="4158016"/>
            <a:ext cx="1445470" cy="443532"/>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18" name="TextBox 17"/>
          <p:cNvSpPr txBox="1"/>
          <p:nvPr/>
        </p:nvSpPr>
        <p:spPr>
          <a:xfrm>
            <a:off x="7861374" y="4148949"/>
            <a:ext cx="130101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sp>
        <p:nvSpPr>
          <p:cNvPr id="6" name="Rounded Rectangle 9">
            <a:extLst>
              <a:ext uri="{FF2B5EF4-FFF2-40B4-BE49-F238E27FC236}">
                <a16:creationId xmlns:a16="http://schemas.microsoft.com/office/drawing/2014/main" id="{16692016-A9FF-06D5-84AD-CCBD74246BA3}"/>
              </a:ext>
            </a:extLst>
          </p:cNvPr>
          <p:cNvSpPr/>
          <p:nvPr/>
        </p:nvSpPr>
        <p:spPr>
          <a:xfrm>
            <a:off x="408942" y="3534005"/>
            <a:ext cx="2667531" cy="2428028"/>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393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1+#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xEl>
                                              <p:pRg st="0" end="0"/>
                                            </p:txEl>
                                          </p:spTgt>
                                        </p:tgtEl>
                                        <p:attrNameLst>
                                          <p:attrName>style.visibility</p:attrName>
                                        </p:attrNameLst>
                                      </p:cBhvr>
                                      <p:to>
                                        <p:strVal val="visible"/>
                                      </p:to>
                                    </p:set>
                                    <p:anim calcmode="lin" valueType="num">
                                      <p:cBhvr additive="base">
                                        <p:cTn id="33"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10" grpId="0"/>
      <p:bldP spid="11" grpId="0" animBg="1"/>
      <p:bldP spid="12" grpId="0"/>
      <p:bldP spid="13" grpId="0"/>
      <p:bldP spid="14" grpId="0" animBg="1"/>
      <p:bldP spid="15" grpId="0"/>
      <p:bldP spid="16" grpId="0" animBg="1"/>
      <p:bldP spid="18" grpId="0"/>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65D8EAC-14A4-3D9B-3829-52B303D0ACA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74EF019-A4DE-EB3C-A4CF-6B544F2B7528}"/>
              </a:ext>
            </a:extLst>
          </p:cNvPr>
          <p:cNvSpPr txBox="1"/>
          <p:nvPr/>
        </p:nvSpPr>
        <p:spPr>
          <a:xfrm>
            <a:off x="3265005" y="387481"/>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 MENU</a:t>
            </a:r>
          </a:p>
        </p:txBody>
      </p:sp>
      <p:pic>
        <p:nvPicPr>
          <p:cNvPr id="14" name="Picture 13">
            <a:extLst>
              <a:ext uri="{FF2B5EF4-FFF2-40B4-BE49-F238E27FC236}">
                <a16:creationId xmlns:a16="http://schemas.microsoft.com/office/drawing/2014/main" id="{8CA0C979-A074-3658-EE1E-7716FFFE97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8" name="TextBox 7">
            <a:extLst>
              <a:ext uri="{FF2B5EF4-FFF2-40B4-BE49-F238E27FC236}">
                <a16:creationId xmlns:a16="http://schemas.microsoft.com/office/drawing/2014/main" id="{47A181F1-0806-1C61-C503-03ADFC8BB64A}"/>
              </a:ext>
            </a:extLst>
          </p:cNvPr>
          <p:cNvSpPr txBox="1"/>
          <p:nvPr/>
        </p:nvSpPr>
        <p:spPr>
          <a:xfrm>
            <a:off x="632570" y="1153468"/>
            <a:ext cx="2970166" cy="5016758"/>
          </a:xfrm>
          <a:prstGeom prst="rect">
            <a:avLst/>
          </a:prstGeom>
          <a:noFill/>
        </p:spPr>
        <p:txBody>
          <a:bodyPr wrap="square">
            <a:spAutoFit/>
          </a:bodyPr>
          <a:lstStyle/>
          <a:p>
            <a:pPr marL="0" marR="0" lvl="0" indent="0"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Mutton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Galouti</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Kabab</a:t>
            </a:r>
            <a:b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Mutton Shami Kabab</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Mutton Seekh Kabab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Murgh</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Kabab</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Murgh</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Seekh Kabab</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Roasted Chicken</a:t>
            </a:r>
          </a:p>
          <a:p>
            <a:pPr marL="0" marR="0" lvl="0" indent="0"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Fried Chicken</a:t>
            </a:r>
          </a:p>
          <a:p>
            <a:pPr marL="0" marR="0" lvl="0" indent="0"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Murgh</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Tandoori Tikka</a:t>
            </a: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A9732D4B-0DF7-4439-B4A2-F7534F1C5483}"/>
              </a:ext>
            </a:extLst>
          </p:cNvPr>
          <p:cNvSpPr txBox="1"/>
          <p:nvPr/>
        </p:nvSpPr>
        <p:spPr>
          <a:xfrm>
            <a:off x="7393112" y="1153468"/>
            <a:ext cx="4568183" cy="5016758"/>
          </a:xfrm>
          <a:prstGeom prst="rect">
            <a:avLst/>
          </a:prstGeom>
          <a:noFill/>
        </p:spPr>
        <p:txBody>
          <a:bodyPr wrap="square">
            <a:spAutoFit/>
          </a:bodyPr>
          <a:lstStyle/>
          <a:p>
            <a:pPr marL="0" marR="0" lvl="0" indent="0"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Murgh</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Malai Tikka</a:t>
            </a:r>
            <a:b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Mutton Boti Kabab</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Chicken Boti Kabab</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Lucknow Special Dum Chicken Biryani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Lucknow Special Dum Mutton Biryani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it-IT" sz="2000" b="0" i="0" u="none" strike="noStrike" kern="1200" cap="none" spc="0" normalizeH="0" baseline="0" noProof="0" dirty="0">
                <a:ln>
                  <a:noFill/>
                </a:ln>
                <a:solidFill>
                  <a:prstClr val="white"/>
                </a:solidFill>
                <a:effectLst/>
                <a:uLnTx/>
                <a:uFillTx/>
                <a:latin typeface="Calibri" panose="020F0502020204030204"/>
                <a:ea typeface="+mn-ea"/>
                <a:cs typeface="+mn-cs"/>
              </a:rPr>
              <a:t>Muradabadi Special Chicken Dum Biryani</a:t>
            </a:r>
            <a:endPar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Kolkata Special Chicken Biryani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Anda Dum Biryani</a:t>
            </a: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7F392C75-FEFE-82C7-1590-7A0A57C9EEA4}"/>
              </a:ext>
            </a:extLst>
          </p:cNvPr>
          <p:cNvSpPr txBox="1"/>
          <p:nvPr/>
        </p:nvSpPr>
        <p:spPr>
          <a:xfrm>
            <a:off x="4386545" y="1153468"/>
            <a:ext cx="2650651" cy="5016758"/>
          </a:xfrm>
          <a:prstGeom prst="rect">
            <a:avLst/>
          </a:prstGeom>
          <a:noFill/>
        </p:spPr>
        <p:txBody>
          <a:bodyPr wrap="square">
            <a:spAutoFit/>
          </a:bodyPr>
          <a:lstStyle/>
          <a:p>
            <a:pPr marL="0" marR="0" lvl="0" indent="0"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Desi Chicken Gravy</a:t>
            </a:r>
            <a:b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Butter Chicken</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Chicken</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Bhuna Masala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Chicken Kali Mirch</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Chicken Korma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Mutton Rogan Josh</a:t>
            </a:r>
          </a:p>
          <a:p>
            <a:pPr marL="0" marR="0" lvl="0" indent="0"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Nalli Nihari</a:t>
            </a:r>
          </a:p>
          <a:p>
            <a:pPr marL="0" marR="0" lvl="0" indent="0"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Fish Fry</a:t>
            </a: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1828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769817"/>
            <a:ext cx="2889849" cy="5320432"/>
          </a:xfrm>
          <a:prstGeom prst="rect">
            <a:avLst/>
          </a:prstGeom>
          <a:gradFill flip="none" rotWithShape="1">
            <a:gsLst>
              <a:gs pos="0">
                <a:srgbClr val="E6326F">
                  <a:shade val="30000"/>
                  <a:satMod val="115000"/>
                </a:srgbClr>
              </a:gs>
              <a:gs pos="50000">
                <a:srgbClr val="E6326F">
                  <a:shade val="67500"/>
                  <a:satMod val="115000"/>
                </a:srgbClr>
              </a:gs>
              <a:gs pos="100000">
                <a:srgbClr val="E6326F">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174DAE6E-88FC-8FBA-E7AF-836600D40A41}"/>
              </a:ext>
            </a:extLst>
          </p:cNvPr>
          <p:cNvSpPr/>
          <p:nvPr/>
        </p:nvSpPr>
        <p:spPr>
          <a:xfrm>
            <a:off x="5316921" y="1961182"/>
            <a:ext cx="6389921" cy="307778"/>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Open Sans" panose="020B0606030504020204" pitchFamily="34" charset="0"/>
              <a:ea typeface="+mn-ea"/>
              <a:cs typeface="+mn-cs"/>
            </a:endParaRPr>
          </a:p>
        </p:txBody>
      </p:sp>
      <p:sp>
        <p:nvSpPr>
          <p:cNvPr id="8" name="TextBox 7"/>
          <p:cNvSpPr txBox="1"/>
          <p:nvPr/>
        </p:nvSpPr>
        <p:spPr>
          <a:xfrm>
            <a:off x="5548779" y="1961181"/>
            <a:ext cx="5926204"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Söhne"/>
                <a:ea typeface="+mn-ea"/>
                <a:cs typeface="+mn-cs"/>
              </a:rPr>
              <a:t>Jalebi, Gulab Jamuns, Cheese cake &amp; many more…</a:t>
            </a:r>
          </a:p>
        </p:txBody>
      </p:sp>
      <p:sp>
        <p:nvSpPr>
          <p:cNvPr id="10" name="TextBox 9">
            <a:extLst>
              <a:ext uri="{FF2B5EF4-FFF2-40B4-BE49-F238E27FC236}">
                <a16:creationId xmlns:a16="http://schemas.microsoft.com/office/drawing/2014/main" id="{4B1C45F8-40C5-657A-8F6A-87E23F35D73B}"/>
              </a:ext>
            </a:extLst>
          </p:cNvPr>
          <p:cNvSpPr txBox="1"/>
          <p:nvPr/>
        </p:nvSpPr>
        <p:spPr>
          <a:xfrm>
            <a:off x="6065015" y="1049349"/>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ED7D31"/>
                </a:solidFill>
                <a:effectLst/>
                <a:uLnTx/>
                <a:uFillTx/>
                <a:latin typeface="Bricolage Grotesque 14pt" panose="020B0605040402000204" pitchFamily="34" charset="0"/>
                <a:ea typeface="Roboto" panose="02000000000000000000" pitchFamily="2" charset="0"/>
                <a:cs typeface="Heebo" pitchFamily="2" charset="-79"/>
              </a:rPr>
              <a:t>Sweetoo</a:t>
            </a:r>
          </a:p>
        </p:txBody>
      </p:sp>
      <p:sp>
        <p:nvSpPr>
          <p:cNvPr id="11" name="TextBox 10"/>
          <p:cNvSpPr txBox="1"/>
          <p:nvPr/>
        </p:nvSpPr>
        <p:spPr>
          <a:xfrm>
            <a:off x="5255136" y="2322854"/>
            <a:ext cx="6513490" cy="163121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C000"/>
                </a:solidFill>
                <a:effectLst/>
                <a:uLnTx/>
                <a:uFillTx/>
                <a:latin typeface="Bricolage Grotesque 14pt" panose="020B0605040402000204"/>
                <a:ea typeface="+mn-ea"/>
                <a:cs typeface="+mn-cs"/>
              </a:rPr>
              <a:t>Sweetoo</a:t>
            </a:r>
            <a:r>
              <a:rPr kumimoji="0" lang="en-US" sz="1600" b="0" i="0" u="none" strike="noStrike" kern="1200" cap="none" spc="0" normalizeH="0" baseline="0" noProof="0" dirty="0">
                <a:ln>
                  <a:noFill/>
                </a:ln>
                <a:solidFill>
                  <a:prstClr val="white"/>
                </a:solidFill>
                <a:effectLst/>
                <a:uLnTx/>
                <a:uFillTx/>
                <a:latin typeface="Bricolage Grotesque 14pt" panose="020B0605040402000204"/>
                <a:ea typeface="+mn-ea"/>
                <a:cs typeface="+mn-cs"/>
              </a:rPr>
              <a:t> presents an exquisite combination of authentic Indian sweets &amp; Contemporary dessert, meticulously prepared using tried-and-true recipes that have been passed down through generations. Delight your taste buds with the rich, luscious </a:t>
            </a:r>
            <a:r>
              <a:rPr kumimoji="0" lang="en-US" sz="1600" b="0" i="0" u="none" strike="noStrike" kern="1200" cap="none" spc="0" normalizeH="0" baseline="0" noProof="0" dirty="0">
                <a:ln>
                  <a:noFill/>
                </a:ln>
                <a:solidFill>
                  <a:srgbClr val="FFC000"/>
                </a:solidFill>
                <a:effectLst/>
                <a:uLnTx/>
                <a:uFillTx/>
                <a:latin typeface="Bricolage Grotesque 14pt" panose="020B0605040402000204"/>
                <a:ea typeface="+mn-ea"/>
                <a:cs typeface="+mn-cs"/>
              </a:rPr>
              <a:t>gulab jamuns </a:t>
            </a:r>
            <a:r>
              <a:rPr kumimoji="0" lang="en-US" sz="1600" b="0" i="0" u="none" strike="noStrike" kern="1200" cap="none" spc="0" normalizeH="0" baseline="0" noProof="0" dirty="0">
                <a:ln>
                  <a:noFill/>
                </a:ln>
                <a:solidFill>
                  <a:prstClr val="white"/>
                </a:solidFill>
                <a:effectLst/>
                <a:uLnTx/>
                <a:uFillTx/>
                <a:latin typeface="Bricolage Grotesque 14pt" panose="020B0605040402000204"/>
                <a:ea typeface="+mn-ea"/>
                <a:cs typeface="+mn-cs"/>
              </a:rPr>
              <a:t>oozing with decadent syrup, or savor the crisp, </a:t>
            </a:r>
            <a:r>
              <a:rPr kumimoji="0" lang="en-US" sz="1600" b="0" i="0" u="none" strike="noStrike" kern="1200" cap="none" spc="0" normalizeH="0" baseline="0" noProof="0" dirty="0">
                <a:ln>
                  <a:noFill/>
                </a:ln>
                <a:solidFill>
                  <a:srgbClr val="FFC000"/>
                </a:solidFill>
                <a:effectLst/>
                <a:uLnTx/>
                <a:uFillTx/>
                <a:latin typeface="Bricolage Grotesque 14pt" panose="020B0605040402000204"/>
                <a:ea typeface="+mn-ea"/>
                <a:cs typeface="+mn-cs"/>
              </a:rPr>
              <a:t>golden jalebis </a:t>
            </a:r>
            <a:r>
              <a:rPr kumimoji="0" lang="en-US" sz="1600" b="0" i="0" u="none" strike="noStrike" kern="1200" cap="none" spc="0" normalizeH="0" baseline="0" noProof="0" dirty="0">
                <a:ln>
                  <a:noFill/>
                </a:ln>
                <a:solidFill>
                  <a:prstClr val="white"/>
                </a:solidFill>
                <a:effectLst/>
                <a:uLnTx/>
                <a:uFillTx/>
                <a:latin typeface="Bricolage Grotesque 14pt" panose="020B0605040402000204"/>
                <a:ea typeface="+mn-ea"/>
                <a:cs typeface="+mn-cs"/>
              </a:rPr>
              <a:t>that are fried to perfection. Every sweet from Sweetoo reflects our dedication to preserving traditional Indian flavors.</a:t>
            </a:r>
          </a:p>
        </p:txBody>
      </p:sp>
      <p:sp>
        <p:nvSpPr>
          <p:cNvPr id="13" name="Rounded Rectangle 12"/>
          <p:cNvSpPr/>
          <p:nvPr/>
        </p:nvSpPr>
        <p:spPr>
          <a:xfrm rot="5400000">
            <a:off x="7640678" y="1950105"/>
            <a:ext cx="1742406" cy="6585878"/>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TextBox 13"/>
          <p:cNvSpPr txBox="1"/>
          <p:nvPr/>
        </p:nvSpPr>
        <p:spPr>
          <a:xfrm>
            <a:off x="5350856" y="4824439"/>
            <a:ext cx="6487900" cy="124649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Authentic and traditional sweets for a genuine taste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Delicious freshly made sweets, exquisitely crafted.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Diverse Menu of sweets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rPr>
              <a:t>Contemporary dessert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885FC6EF-4930-AF4E-777D-501E522B2C95}"/>
              </a:ext>
            </a:extLst>
          </p:cNvPr>
          <p:cNvSpPr/>
          <p:nvPr/>
        </p:nvSpPr>
        <p:spPr>
          <a:xfrm>
            <a:off x="7789146" y="4158016"/>
            <a:ext cx="1445470" cy="443532"/>
          </a:xfrm>
          <a:prstGeom prst="rect">
            <a:avLst/>
          </a:prstGeom>
          <a:solidFill>
            <a:srgbClr val="16DB6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6DB65"/>
              </a:solidFill>
              <a:effectLst/>
              <a:uLnTx/>
              <a:uFillTx/>
              <a:latin typeface="Open Sans" panose="020B0606030504020204" pitchFamily="34" charset="0"/>
              <a:ea typeface="+mn-ea"/>
              <a:cs typeface="+mn-cs"/>
            </a:endParaRPr>
          </a:p>
        </p:txBody>
      </p:sp>
      <p:sp>
        <p:nvSpPr>
          <p:cNvPr id="16" name="TextBox 15"/>
          <p:cNvSpPr txBox="1"/>
          <p:nvPr/>
        </p:nvSpPr>
        <p:spPr>
          <a:xfrm>
            <a:off x="7861374" y="4158016"/>
            <a:ext cx="130101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Our USP</a:t>
            </a:r>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18" name="Rounded Rectangle 16">
            <a:extLst>
              <a:ext uri="{FF2B5EF4-FFF2-40B4-BE49-F238E27FC236}">
                <a16:creationId xmlns:a16="http://schemas.microsoft.com/office/drawing/2014/main" id="{4AE2442A-39E2-509B-7A4A-E45229AB7F50}"/>
              </a:ext>
            </a:extLst>
          </p:cNvPr>
          <p:cNvSpPr/>
          <p:nvPr/>
        </p:nvSpPr>
        <p:spPr>
          <a:xfrm>
            <a:off x="1000982" y="1575833"/>
            <a:ext cx="3777733" cy="3708400"/>
          </a:xfrm>
          <a:prstGeom prst="roundRect">
            <a:avLst/>
          </a:prstGeom>
          <a:blipFill dpi="0" rotWithShape="1">
            <a:blip r:embed="rId3"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8832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1+#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p:bldP spid="10" grpId="0"/>
      <p:bldP spid="11" grpId="0"/>
      <p:bldP spid="13" grpId="0" animBg="1"/>
      <p:bldP spid="14" grpId="0"/>
      <p:bldP spid="15" grpId="0" animBg="1"/>
      <p:bldP spid="16" grpId="0"/>
      <p:bldP spid="18"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DF19BF7-798B-E84F-1EB5-0F7CDDF26FB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CBB0F40-5F25-5DDA-85CC-83D786964B6C}"/>
              </a:ext>
            </a:extLst>
          </p:cNvPr>
          <p:cNvSpPr txBox="1"/>
          <p:nvPr/>
        </p:nvSpPr>
        <p:spPr>
          <a:xfrm>
            <a:off x="3265005" y="387481"/>
            <a:ext cx="4893732"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DBB11"/>
                </a:solidFill>
                <a:effectLst/>
                <a:uLnTx/>
                <a:uFillTx/>
                <a:latin typeface="Bricolage Grotesque 14pt" panose="020B0605040402000204" pitchFamily="34" charset="0"/>
                <a:ea typeface="Roboto" panose="02000000000000000000" pitchFamily="2" charset="0"/>
                <a:cs typeface="Heebo" pitchFamily="2" charset="-79"/>
              </a:rPr>
              <a:t> MENU</a:t>
            </a:r>
          </a:p>
        </p:txBody>
      </p:sp>
      <p:pic>
        <p:nvPicPr>
          <p:cNvPr id="14" name="Picture 13">
            <a:extLst>
              <a:ext uri="{FF2B5EF4-FFF2-40B4-BE49-F238E27FC236}">
                <a16:creationId xmlns:a16="http://schemas.microsoft.com/office/drawing/2014/main" id="{1F86DC35-95BD-5F6B-4C97-CF4CB25285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sp>
        <p:nvSpPr>
          <p:cNvPr id="6" name="TextBox 5">
            <a:extLst>
              <a:ext uri="{FF2B5EF4-FFF2-40B4-BE49-F238E27FC236}">
                <a16:creationId xmlns:a16="http://schemas.microsoft.com/office/drawing/2014/main" id="{18A4DCF1-5A2B-0509-1CB6-3DC9778BEB01}"/>
              </a:ext>
            </a:extLst>
          </p:cNvPr>
          <p:cNvSpPr txBox="1"/>
          <p:nvPr/>
        </p:nvSpPr>
        <p:spPr>
          <a:xfrm>
            <a:off x="2010351" y="1606856"/>
            <a:ext cx="3248317" cy="3785652"/>
          </a:xfrm>
          <a:prstGeom prst="rect">
            <a:avLst/>
          </a:prstGeom>
          <a:noFill/>
        </p:spPr>
        <p:txBody>
          <a:bodyPr wrap="square">
            <a:spAutoFit/>
          </a:bodyPr>
          <a:lstStyle/>
          <a:p>
            <a:pPr marL="457200" marR="0" lvl="1" indent="0" algn="ctr"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Kesar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Pista</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Srikhand</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Rasgulla</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Shahi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Tukda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Malai Sandwich</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Ras Malai </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Gulab Jamun</a:t>
            </a:r>
          </a:p>
        </p:txBody>
      </p:sp>
      <p:sp>
        <p:nvSpPr>
          <p:cNvPr id="8" name="TextBox 7">
            <a:extLst>
              <a:ext uri="{FF2B5EF4-FFF2-40B4-BE49-F238E27FC236}">
                <a16:creationId xmlns:a16="http://schemas.microsoft.com/office/drawing/2014/main" id="{EBDE34BE-A736-ED12-7280-D09425A0F97D}"/>
              </a:ext>
            </a:extLst>
          </p:cNvPr>
          <p:cNvSpPr txBox="1"/>
          <p:nvPr/>
        </p:nvSpPr>
        <p:spPr>
          <a:xfrm>
            <a:off x="5872629" y="1650088"/>
            <a:ext cx="3805084" cy="3785652"/>
          </a:xfrm>
          <a:prstGeom prst="rect">
            <a:avLst/>
          </a:prstGeom>
          <a:noFill/>
        </p:spPr>
        <p:txBody>
          <a:bodyPr wrap="square">
            <a:spAutoFit/>
          </a:bodyPr>
          <a:lstStyle/>
          <a:p>
            <a:pPr marL="0" marR="0" lvl="0" indent="0" algn="ctr" defTabSz="914400" rtl="0" eaLnBrk="1" fontAlgn="t" latinLnBrk="0" hangingPunct="1">
              <a:lnSpc>
                <a:spcPct val="2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Kala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Jaam</a:t>
            </a:r>
            <a:b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Malai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Rabdi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Mohan Thal</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Jalebi</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Moong Dal Halwa</a:t>
            </a:r>
            <a:b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Akhroth</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IN" sz="2000" b="0" i="0" u="none" strike="noStrike" kern="1200" cap="none" spc="0" normalizeH="0" baseline="0" noProof="0" dirty="0" err="1">
                <a:ln>
                  <a:noFill/>
                </a:ln>
                <a:solidFill>
                  <a:prstClr val="white"/>
                </a:solidFill>
                <a:effectLst/>
                <a:uLnTx/>
                <a:uFillTx/>
                <a:latin typeface="Calibri" panose="020F0502020204030204"/>
                <a:ea typeface="+mn-ea"/>
                <a:cs typeface="+mn-cs"/>
              </a:rPr>
              <a:t>Badam</a:t>
            </a:r>
            <a:r>
              <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rPr>
              <a:t> ka Halwa</a:t>
            </a:r>
            <a:endParaRPr kumimoji="0" lang="en-IN"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299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9C863CA-360D-30D7-4F79-B102BE0D77E3}"/>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44038613-C596-FAB1-A96C-D2B72A25D3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pic>
        <p:nvPicPr>
          <p:cNvPr id="19" name="Picture 18">
            <a:extLst>
              <a:ext uri="{FF2B5EF4-FFF2-40B4-BE49-F238E27FC236}">
                <a16:creationId xmlns:a16="http://schemas.microsoft.com/office/drawing/2014/main" id="{6ED6429B-3E08-B3C8-967D-A0D33A5D13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281" y="769817"/>
            <a:ext cx="5601328" cy="6019685"/>
          </a:xfrm>
          <a:prstGeom prst="rect">
            <a:avLst/>
          </a:prstGeom>
        </p:spPr>
      </p:pic>
      <p:pic>
        <p:nvPicPr>
          <p:cNvPr id="23" name="Picture 22">
            <a:extLst>
              <a:ext uri="{FF2B5EF4-FFF2-40B4-BE49-F238E27FC236}">
                <a16:creationId xmlns:a16="http://schemas.microsoft.com/office/drawing/2014/main" id="{8813D161-31E9-5F51-7D5B-F4A1A2F0C5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7269" y="1623896"/>
            <a:ext cx="5505450" cy="4114800"/>
          </a:xfrm>
          <a:prstGeom prst="rect">
            <a:avLst/>
          </a:prstGeom>
        </p:spPr>
      </p:pic>
    </p:spTree>
    <p:extLst>
      <p:ext uri="{BB962C8B-B14F-4D97-AF65-F5344CB8AC3E}">
        <p14:creationId xmlns:p14="http://schemas.microsoft.com/office/powerpoint/2010/main" val="4177587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0CB4D6E-A4F6-6FB3-A76D-58560EC74C34}"/>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97EEAF0D-C906-703D-9682-2DCB5ED7AF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1292" y="769817"/>
            <a:ext cx="325550" cy="325550"/>
          </a:xfrm>
          <a:prstGeom prst="rect">
            <a:avLst/>
          </a:prstGeom>
        </p:spPr>
      </p:pic>
      <p:pic>
        <p:nvPicPr>
          <p:cNvPr id="15" name="Picture 14">
            <a:extLst>
              <a:ext uri="{FF2B5EF4-FFF2-40B4-BE49-F238E27FC236}">
                <a16:creationId xmlns:a16="http://schemas.microsoft.com/office/drawing/2014/main" id="{231BFE67-69FB-9150-30BA-891F20CE8AA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20000"/>
                    </a14:imgEffect>
                  </a14:imgLayer>
                </a14:imgProps>
              </a:ext>
              <a:ext uri="{28A0092B-C50C-407E-A947-70E740481C1C}">
                <a14:useLocalDpi xmlns:a14="http://schemas.microsoft.com/office/drawing/2010/main" val="0"/>
              </a:ext>
            </a:extLst>
          </a:blip>
          <a:stretch>
            <a:fillRect/>
          </a:stretch>
        </p:blipFill>
        <p:spPr>
          <a:xfrm>
            <a:off x="232909" y="769817"/>
            <a:ext cx="5247468" cy="5561235"/>
          </a:xfrm>
          <a:prstGeom prst="rect">
            <a:avLst/>
          </a:prstGeom>
        </p:spPr>
      </p:pic>
      <p:pic>
        <p:nvPicPr>
          <p:cNvPr id="17" name="Picture 16">
            <a:extLst>
              <a:ext uri="{FF2B5EF4-FFF2-40B4-BE49-F238E27FC236}">
                <a16:creationId xmlns:a16="http://schemas.microsoft.com/office/drawing/2014/main" id="{5570B006-94B9-9B70-10D8-C2486F305A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0377" y="-421258"/>
            <a:ext cx="6967133" cy="7700516"/>
          </a:xfrm>
          <a:prstGeom prst="rect">
            <a:avLst/>
          </a:prstGeom>
        </p:spPr>
      </p:pic>
    </p:spTree>
    <p:extLst>
      <p:ext uri="{BB962C8B-B14F-4D97-AF65-F5344CB8AC3E}">
        <p14:creationId xmlns:p14="http://schemas.microsoft.com/office/powerpoint/2010/main" val="4188563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56945F5-30C1-A62E-32F8-BF48F50FAF30}"/>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89B77DD6-7ACE-EF11-D6F7-94BC0A0E5B04}"/>
              </a:ext>
            </a:extLst>
          </p:cNvPr>
          <p:cNvSpPr txBox="1"/>
          <p:nvPr/>
        </p:nvSpPr>
        <p:spPr>
          <a:xfrm>
            <a:off x="1540376" y="175113"/>
            <a:ext cx="9193428" cy="707886"/>
          </a:xfrm>
          <a:prstGeom prst="rect">
            <a:avLst/>
          </a:prstGeom>
          <a:noFill/>
        </p:spPr>
        <p:txBody>
          <a:bodyPr wrap="square" rtlCol="0">
            <a:spAutoFit/>
          </a:bodyPr>
          <a:lstStyle/>
          <a:p>
            <a:pPr algn="ct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Food Trolley </a:t>
            </a: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Franchise</a:t>
            </a:r>
            <a:endParaRPr lang="en-US" sz="4000" b="1" dirty="0">
              <a:solidFill>
                <a:schemeClr val="bg1"/>
              </a:solidFill>
              <a:latin typeface="Bricolage Grotesque 14pt" panose="020B0605040402000204" pitchFamily="34" charset="0"/>
              <a:ea typeface="Roboto" panose="02000000000000000000" pitchFamily="2" charset="0"/>
              <a:cs typeface="Heebo" pitchFamily="2" charset="-79"/>
            </a:endParaRPr>
          </a:p>
        </p:txBody>
      </p:sp>
      <p:sp>
        <p:nvSpPr>
          <p:cNvPr id="16" name="TextBox 15">
            <a:extLst>
              <a:ext uri="{FF2B5EF4-FFF2-40B4-BE49-F238E27FC236}">
                <a16:creationId xmlns:a16="http://schemas.microsoft.com/office/drawing/2014/main" id="{3B6DB174-370A-B620-C69D-DE3F755D43D4}"/>
              </a:ext>
            </a:extLst>
          </p:cNvPr>
          <p:cNvSpPr txBox="1"/>
          <p:nvPr/>
        </p:nvSpPr>
        <p:spPr>
          <a:xfrm>
            <a:off x="3008651" y="875716"/>
            <a:ext cx="6174698" cy="523220"/>
          </a:xfrm>
          <a:prstGeom prst="rect">
            <a:avLst/>
          </a:prstGeom>
          <a:noFill/>
        </p:spPr>
        <p:txBody>
          <a:bodyPr wrap="square">
            <a:spAutoFit/>
          </a:bodyPr>
          <a:lstStyle/>
          <a:p>
            <a:pPr algn="ctr"/>
            <a:r>
              <a:rPr lang="en-US" sz="28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FO</a:t>
            </a:r>
            <a:r>
              <a:rPr lang="en-US" sz="2800" b="1"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a:t>
            </a:r>
            <a:r>
              <a:rPr lang="en-US" sz="28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O Model</a:t>
            </a:r>
            <a:endParaRPr lang="en-IN" sz="2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8" name="Group 7">
            <a:extLst>
              <a:ext uri="{FF2B5EF4-FFF2-40B4-BE49-F238E27FC236}">
                <a16:creationId xmlns:a16="http://schemas.microsoft.com/office/drawing/2014/main" id="{A41B6FB8-822C-6357-39E8-EED17BE23EA9}"/>
              </a:ext>
            </a:extLst>
          </p:cNvPr>
          <p:cNvGrpSpPr/>
          <p:nvPr/>
        </p:nvGrpSpPr>
        <p:grpSpPr>
          <a:xfrm>
            <a:off x="965701" y="2699487"/>
            <a:ext cx="10249059" cy="1701727"/>
            <a:chOff x="977238" y="2844949"/>
            <a:chExt cx="10249059" cy="1701727"/>
          </a:xfrm>
        </p:grpSpPr>
        <p:sp>
          <p:nvSpPr>
            <p:cNvPr id="30" name="Rounded Rectangle 29">
              <a:extLst>
                <a:ext uri="{FF2B5EF4-FFF2-40B4-BE49-F238E27FC236}">
                  <a16:creationId xmlns:a16="http://schemas.microsoft.com/office/drawing/2014/main" id="{C62313FF-9A98-F0EF-CF75-32829A4109B6}"/>
                </a:ext>
              </a:extLst>
            </p:cNvPr>
            <p:cNvSpPr/>
            <p:nvPr/>
          </p:nvSpPr>
          <p:spPr>
            <a:xfrm>
              <a:off x="5234997" y="2844951"/>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31" name="TextBox 30">
              <a:extLst>
                <a:ext uri="{FF2B5EF4-FFF2-40B4-BE49-F238E27FC236}">
                  <a16:creationId xmlns:a16="http://schemas.microsoft.com/office/drawing/2014/main" id="{FA9418A9-B9CB-BA7A-2FD9-EAA4AECE6452}"/>
                </a:ext>
              </a:extLst>
            </p:cNvPr>
            <p:cNvSpPr txBox="1"/>
            <p:nvPr/>
          </p:nvSpPr>
          <p:spPr>
            <a:xfrm>
              <a:off x="5159354" y="3912966"/>
              <a:ext cx="1884826"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No Location Constraint</a:t>
              </a:r>
            </a:p>
          </p:txBody>
        </p:sp>
        <p:sp>
          <p:nvSpPr>
            <p:cNvPr id="27" name="Rounded Rectangle 26">
              <a:extLst>
                <a:ext uri="{FF2B5EF4-FFF2-40B4-BE49-F238E27FC236}">
                  <a16:creationId xmlns:a16="http://schemas.microsoft.com/office/drawing/2014/main" id="{B3BCAAAF-2143-DC24-ECCC-C5991E9E2CFF}"/>
                </a:ext>
              </a:extLst>
            </p:cNvPr>
            <p:cNvSpPr/>
            <p:nvPr/>
          </p:nvSpPr>
          <p:spPr>
            <a:xfrm>
              <a:off x="7326055" y="2844949"/>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28" name="TextBox 27">
              <a:extLst>
                <a:ext uri="{FF2B5EF4-FFF2-40B4-BE49-F238E27FC236}">
                  <a16:creationId xmlns:a16="http://schemas.microsoft.com/office/drawing/2014/main" id="{3FA1E33C-EFA7-5056-D4FA-162430BA9286}"/>
                </a:ext>
              </a:extLst>
            </p:cNvPr>
            <p:cNvSpPr txBox="1"/>
            <p:nvPr/>
          </p:nvSpPr>
          <p:spPr>
            <a:xfrm>
              <a:off x="7250412" y="3912966"/>
              <a:ext cx="1884826"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In-built</a:t>
              </a:r>
            </a:p>
            <a:p>
              <a:pPr algn="ctr"/>
              <a:r>
                <a:rPr lang="en-US" sz="1400" b="1" dirty="0">
                  <a:solidFill>
                    <a:srgbClr val="F95050"/>
                  </a:solidFill>
                  <a:latin typeface="Bricolage Grotesque 14pt" panose="020B0605040402000204" pitchFamily="34" charset="0"/>
                </a:rPr>
                <a:t>Freezer/hotpot</a:t>
              </a:r>
            </a:p>
          </p:txBody>
        </p:sp>
        <p:sp>
          <p:nvSpPr>
            <p:cNvPr id="24" name="Rounded Rectangle 23">
              <a:extLst>
                <a:ext uri="{FF2B5EF4-FFF2-40B4-BE49-F238E27FC236}">
                  <a16:creationId xmlns:a16="http://schemas.microsoft.com/office/drawing/2014/main" id="{3BD748DE-57DD-3960-F680-47B8F999F672}"/>
                </a:ext>
              </a:extLst>
            </p:cNvPr>
            <p:cNvSpPr/>
            <p:nvPr/>
          </p:nvSpPr>
          <p:spPr>
            <a:xfrm>
              <a:off x="1052881" y="2844951"/>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25" name="TextBox 24">
              <a:extLst>
                <a:ext uri="{FF2B5EF4-FFF2-40B4-BE49-F238E27FC236}">
                  <a16:creationId xmlns:a16="http://schemas.microsoft.com/office/drawing/2014/main" id="{050D50A5-1668-A678-B6CE-A0BDD9237A9D}"/>
                </a:ext>
              </a:extLst>
            </p:cNvPr>
            <p:cNvSpPr txBox="1"/>
            <p:nvPr/>
          </p:nvSpPr>
          <p:spPr>
            <a:xfrm>
              <a:off x="977238" y="3912966"/>
              <a:ext cx="1884826"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Food</a:t>
              </a:r>
            </a:p>
            <a:p>
              <a:pPr algn="ctr"/>
              <a:r>
                <a:rPr lang="en-US" sz="1400" b="1" dirty="0">
                  <a:solidFill>
                    <a:srgbClr val="F95050"/>
                  </a:solidFill>
                  <a:latin typeface="Bricolage Grotesque 14pt" panose="020B0605040402000204" pitchFamily="34" charset="0"/>
                </a:rPr>
                <a:t>Trolley</a:t>
              </a:r>
            </a:p>
          </p:txBody>
        </p:sp>
        <p:sp>
          <p:nvSpPr>
            <p:cNvPr id="21" name="Rounded Rectangle 20">
              <a:extLst>
                <a:ext uri="{FF2B5EF4-FFF2-40B4-BE49-F238E27FC236}">
                  <a16:creationId xmlns:a16="http://schemas.microsoft.com/office/drawing/2014/main" id="{FC73EB9E-DD3E-A50A-825F-C32738377A14}"/>
                </a:ext>
              </a:extLst>
            </p:cNvPr>
            <p:cNvSpPr/>
            <p:nvPr/>
          </p:nvSpPr>
          <p:spPr>
            <a:xfrm>
              <a:off x="3143939" y="2844952"/>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22" name="TextBox 21">
              <a:extLst>
                <a:ext uri="{FF2B5EF4-FFF2-40B4-BE49-F238E27FC236}">
                  <a16:creationId xmlns:a16="http://schemas.microsoft.com/office/drawing/2014/main" id="{FAC025FE-EDE1-3101-3C06-523D75BAEC49}"/>
                </a:ext>
              </a:extLst>
            </p:cNvPr>
            <p:cNvSpPr txBox="1"/>
            <p:nvPr/>
          </p:nvSpPr>
          <p:spPr>
            <a:xfrm>
              <a:off x="3068296" y="3912966"/>
              <a:ext cx="1884826"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Centralized kitchen supply</a:t>
              </a:r>
            </a:p>
          </p:txBody>
        </p:sp>
        <p:sp>
          <p:nvSpPr>
            <p:cNvPr id="36" name="Rounded Rectangle 35">
              <a:extLst>
                <a:ext uri="{FF2B5EF4-FFF2-40B4-BE49-F238E27FC236}">
                  <a16:creationId xmlns:a16="http://schemas.microsoft.com/office/drawing/2014/main" id="{A66008B1-E1EA-E3C5-CB97-57415BE93D37}"/>
                </a:ext>
              </a:extLst>
            </p:cNvPr>
            <p:cNvSpPr/>
            <p:nvPr/>
          </p:nvSpPr>
          <p:spPr>
            <a:xfrm>
              <a:off x="9417114" y="2844950"/>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37" name="TextBox 36">
              <a:extLst>
                <a:ext uri="{FF2B5EF4-FFF2-40B4-BE49-F238E27FC236}">
                  <a16:creationId xmlns:a16="http://schemas.microsoft.com/office/drawing/2014/main" id="{EC343160-8C3B-12EE-7E4C-E3F2984A5178}"/>
                </a:ext>
              </a:extLst>
            </p:cNvPr>
            <p:cNvSpPr txBox="1"/>
            <p:nvPr/>
          </p:nvSpPr>
          <p:spPr>
            <a:xfrm>
              <a:off x="9341471" y="3912966"/>
              <a:ext cx="1884826"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Ultra Modern Design</a:t>
              </a:r>
            </a:p>
          </p:txBody>
        </p:sp>
        <p:pic>
          <p:nvPicPr>
            <p:cNvPr id="3" name="Picture 2">
              <a:extLst>
                <a:ext uri="{FF2B5EF4-FFF2-40B4-BE49-F238E27FC236}">
                  <a16:creationId xmlns:a16="http://schemas.microsoft.com/office/drawing/2014/main" id="{39652E97-BD61-4161-D2AD-E316A534FB1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65969" y="2986826"/>
              <a:ext cx="903281" cy="903281"/>
            </a:xfrm>
            <a:prstGeom prst="rect">
              <a:avLst/>
            </a:prstGeom>
          </p:spPr>
        </p:pic>
        <p:pic>
          <p:nvPicPr>
            <p:cNvPr id="4" name="Picture 3">
              <a:extLst>
                <a:ext uri="{FF2B5EF4-FFF2-40B4-BE49-F238E27FC236}">
                  <a16:creationId xmlns:a16="http://schemas.microsoft.com/office/drawing/2014/main" id="{681E91F7-CBBD-C8C6-3619-5E255142AF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3539" y="3036006"/>
              <a:ext cx="804921" cy="804921"/>
            </a:xfrm>
            <a:prstGeom prst="rect">
              <a:avLst/>
            </a:prstGeom>
          </p:spPr>
        </p:pic>
        <p:pic>
          <p:nvPicPr>
            <p:cNvPr id="5" name="Picture 4">
              <a:extLst>
                <a:ext uri="{FF2B5EF4-FFF2-40B4-BE49-F238E27FC236}">
                  <a16:creationId xmlns:a16="http://schemas.microsoft.com/office/drawing/2014/main" id="{24B6FC46-B85A-50E0-ADC1-FB052525A6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51913" y="3043582"/>
              <a:ext cx="789768" cy="789768"/>
            </a:xfrm>
            <a:prstGeom prst="rect">
              <a:avLst/>
            </a:prstGeom>
          </p:spPr>
        </p:pic>
        <p:pic>
          <p:nvPicPr>
            <p:cNvPr id="6" name="Picture 5">
              <a:extLst>
                <a:ext uri="{FF2B5EF4-FFF2-40B4-BE49-F238E27FC236}">
                  <a16:creationId xmlns:a16="http://schemas.microsoft.com/office/drawing/2014/main" id="{C6CAB99B-219C-B7DB-62CE-11B862FDC1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05226" y="3050867"/>
              <a:ext cx="775198" cy="775198"/>
            </a:xfrm>
            <a:prstGeom prst="rect">
              <a:avLst/>
            </a:prstGeom>
          </p:spPr>
        </p:pic>
        <p:pic>
          <p:nvPicPr>
            <p:cNvPr id="7" name="Picture 6">
              <a:extLst>
                <a:ext uri="{FF2B5EF4-FFF2-40B4-BE49-F238E27FC236}">
                  <a16:creationId xmlns:a16="http://schemas.microsoft.com/office/drawing/2014/main" id="{79B99039-1DF9-D42A-E797-34515D6BB77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98862" y="3053444"/>
              <a:ext cx="770044" cy="770044"/>
            </a:xfrm>
            <a:prstGeom prst="rect">
              <a:avLst/>
            </a:prstGeom>
          </p:spPr>
        </p:pic>
      </p:grpSp>
      <p:grpSp>
        <p:nvGrpSpPr>
          <p:cNvPr id="44" name="Group 43">
            <a:extLst>
              <a:ext uri="{FF2B5EF4-FFF2-40B4-BE49-F238E27FC236}">
                <a16:creationId xmlns:a16="http://schemas.microsoft.com/office/drawing/2014/main" id="{5915F648-9EB5-53C6-0617-98002AC27123}"/>
              </a:ext>
            </a:extLst>
          </p:cNvPr>
          <p:cNvGrpSpPr/>
          <p:nvPr/>
        </p:nvGrpSpPr>
        <p:grpSpPr>
          <a:xfrm>
            <a:off x="2263753" y="1567222"/>
            <a:ext cx="7641418" cy="650470"/>
            <a:chOff x="766032" y="5308938"/>
            <a:chExt cx="14093202" cy="1199674"/>
          </a:xfrm>
        </p:grpSpPr>
        <p:sp>
          <p:nvSpPr>
            <p:cNvPr id="45" name="Rectangle 44">
              <a:extLst>
                <a:ext uri="{FF2B5EF4-FFF2-40B4-BE49-F238E27FC236}">
                  <a16:creationId xmlns:a16="http://schemas.microsoft.com/office/drawing/2014/main" id="{25EFD436-B461-76DE-2DC4-4A9FDB5C16BC}"/>
                </a:ext>
              </a:extLst>
            </p:cNvPr>
            <p:cNvSpPr/>
            <p:nvPr/>
          </p:nvSpPr>
          <p:spPr>
            <a:xfrm>
              <a:off x="766032" y="5589352"/>
              <a:ext cx="1182739" cy="919260"/>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1AEE5F2-79FB-F3D3-3890-7C4AB5C13F63}"/>
                </a:ext>
              </a:extLst>
            </p:cNvPr>
            <p:cNvSpPr/>
            <p:nvPr/>
          </p:nvSpPr>
          <p:spPr>
            <a:xfrm>
              <a:off x="874758" y="5308938"/>
              <a:ext cx="13984476" cy="1086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77B5CD88-1897-BF22-0707-31873D3C648A}"/>
              </a:ext>
            </a:extLst>
          </p:cNvPr>
          <p:cNvSpPr txBox="1"/>
          <p:nvPr/>
        </p:nvSpPr>
        <p:spPr>
          <a:xfrm>
            <a:off x="2598828" y="1505683"/>
            <a:ext cx="6971268" cy="646331"/>
          </a:xfrm>
          <a:prstGeom prst="rect">
            <a:avLst/>
          </a:prstGeom>
          <a:noFill/>
        </p:spPr>
        <p:txBody>
          <a:bodyPr wrap="none" rtlCol="0">
            <a:spAutoFit/>
          </a:bodyPr>
          <a:lstStyle/>
          <a:p>
            <a:pPr lvl="0" algn="ctr">
              <a:defRPr/>
            </a:pPr>
            <a:r>
              <a:rPr lang="en-US" sz="3600" b="1" dirty="0">
                <a:solidFill>
                  <a:srgbClr val="F95050"/>
                </a:solidFill>
              </a:rPr>
              <a:t>Franchise Fees : </a:t>
            </a:r>
            <a:r>
              <a:rPr lang="en-US" sz="3200" dirty="0">
                <a:solidFill>
                  <a:srgbClr val="F95050"/>
                </a:solidFill>
                <a:latin typeface="Arial" panose="020B0604020202020204" pitchFamily="34" charset="0"/>
                <a:cs typeface="Arial" panose="020B0604020202020204" pitchFamily="34" charset="0"/>
              </a:rPr>
              <a:t>₹</a:t>
            </a:r>
            <a:r>
              <a:rPr lang="en-US" sz="3600" b="1" dirty="0">
                <a:solidFill>
                  <a:srgbClr val="F95050"/>
                </a:solidFill>
              </a:rPr>
              <a:t>2,70,000/- (+ GST)</a:t>
            </a:r>
            <a:endParaRPr lang="en-IN" sz="3600" dirty="0">
              <a:solidFill>
                <a:srgbClr val="F95050"/>
              </a:solidFill>
            </a:endParaRPr>
          </a:p>
        </p:txBody>
      </p:sp>
      <p:grpSp>
        <p:nvGrpSpPr>
          <p:cNvPr id="2" name="Group 1">
            <a:extLst>
              <a:ext uri="{FF2B5EF4-FFF2-40B4-BE49-F238E27FC236}">
                <a16:creationId xmlns:a16="http://schemas.microsoft.com/office/drawing/2014/main" id="{0AEBB906-478B-936F-6659-F7BBCDC0C347}"/>
              </a:ext>
            </a:extLst>
          </p:cNvPr>
          <p:cNvGrpSpPr/>
          <p:nvPr/>
        </p:nvGrpSpPr>
        <p:grpSpPr>
          <a:xfrm>
            <a:off x="2373946" y="5980486"/>
            <a:ext cx="9308203" cy="461665"/>
            <a:chOff x="2973657" y="6485781"/>
            <a:chExt cx="9308203" cy="461665"/>
          </a:xfrm>
        </p:grpSpPr>
        <p:sp>
          <p:nvSpPr>
            <p:cNvPr id="11" name="TextBox 10">
              <a:extLst>
                <a:ext uri="{FF2B5EF4-FFF2-40B4-BE49-F238E27FC236}">
                  <a16:creationId xmlns:a16="http://schemas.microsoft.com/office/drawing/2014/main" id="{6E050ACB-6B7A-EBED-4977-1C2F8AF2FDFC}"/>
                </a:ext>
              </a:extLst>
            </p:cNvPr>
            <p:cNvSpPr txBox="1"/>
            <p:nvPr/>
          </p:nvSpPr>
          <p:spPr>
            <a:xfrm>
              <a:off x="3418385" y="6485781"/>
              <a:ext cx="8863475" cy="461665"/>
            </a:xfrm>
            <a:prstGeom prst="rect">
              <a:avLst/>
            </a:prstGeom>
            <a:noFill/>
          </p:spPr>
          <p:txBody>
            <a:bodyPr wrap="square" rtlCol="0">
              <a:spAutoFit/>
            </a:bodyPr>
            <a:lstStyle/>
            <a:p>
              <a:r>
                <a:rPr lang="en-US" sz="2400" dirty="0">
                  <a:solidFill>
                    <a:schemeClr val="bg1"/>
                  </a:solidFill>
                  <a:latin typeface="Bricolage Grotesque 14pt" panose="020B0605040402000204" pitchFamily="34" charset="0"/>
                </a:rPr>
                <a:t>NON-VEG Option also available for all brands</a:t>
              </a:r>
            </a:p>
          </p:txBody>
        </p:sp>
        <p:pic>
          <p:nvPicPr>
            <p:cNvPr id="35" name="Picture 34">
              <a:extLst>
                <a:ext uri="{FF2B5EF4-FFF2-40B4-BE49-F238E27FC236}">
                  <a16:creationId xmlns:a16="http://schemas.microsoft.com/office/drawing/2014/main" id="{7EB3D4D1-1C4B-8467-38E4-4184B397435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973657" y="6557634"/>
              <a:ext cx="362494" cy="362494"/>
            </a:xfrm>
            <a:prstGeom prst="rect">
              <a:avLst/>
            </a:prstGeom>
          </p:spPr>
        </p:pic>
      </p:grpSp>
      <p:sp>
        <p:nvSpPr>
          <p:cNvPr id="9" name="TextBox 8">
            <a:extLst>
              <a:ext uri="{FF2B5EF4-FFF2-40B4-BE49-F238E27FC236}">
                <a16:creationId xmlns:a16="http://schemas.microsoft.com/office/drawing/2014/main" id="{36C3D40C-9F0C-6334-BAF0-806B789F6018}"/>
              </a:ext>
            </a:extLst>
          </p:cNvPr>
          <p:cNvSpPr txBox="1"/>
          <p:nvPr/>
        </p:nvSpPr>
        <p:spPr>
          <a:xfrm>
            <a:off x="324437" y="4689178"/>
            <a:ext cx="11531588" cy="1200329"/>
          </a:xfrm>
          <a:prstGeom prst="rect">
            <a:avLst/>
          </a:prstGeom>
          <a:noFill/>
        </p:spPr>
        <p:txBody>
          <a:bodyPr wrap="square" rtlCol="0">
            <a:spAutoFit/>
          </a:bodyPr>
          <a:lstStyle/>
          <a:p>
            <a:pPr algn="ctr"/>
            <a:r>
              <a:rPr lang="en-US" sz="3600" b="1" dirty="0">
                <a:solidFill>
                  <a:schemeClr val="bg1"/>
                </a:solidFill>
              </a:rPr>
              <a:t>Earnings</a:t>
            </a:r>
            <a:r>
              <a:rPr lang="en-US" sz="3600" dirty="0">
                <a:solidFill>
                  <a:schemeClr val="bg1"/>
                </a:solidFill>
              </a:rPr>
              <a:t> :- Earn </a:t>
            </a:r>
            <a:r>
              <a:rPr lang="en-US" sz="3600" b="1" dirty="0">
                <a:solidFill>
                  <a:schemeClr val="bg1"/>
                </a:solidFill>
              </a:rPr>
              <a:t>9% ROI or 5% of the billing amount (whichever is higher)</a:t>
            </a:r>
            <a:endParaRPr lang="en-US" sz="3600" b="1" dirty="0">
              <a:solidFill>
                <a:schemeClr val="bg1"/>
              </a:solidFill>
              <a:latin typeface="Bricolage Grotesque 14pt" panose="020B0605040402000204" pitchFamily="34" charset="0"/>
            </a:endParaRPr>
          </a:p>
        </p:txBody>
      </p:sp>
    </p:spTree>
    <p:extLst>
      <p:ext uri="{BB962C8B-B14F-4D97-AF65-F5344CB8AC3E}">
        <p14:creationId xmlns:p14="http://schemas.microsoft.com/office/powerpoint/2010/main" val="2607942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anim calcmode="lin" valueType="num">
                                      <p:cBhvr additive="base">
                                        <p:cTn id="11"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ppt_x"/>
                                          </p:val>
                                        </p:tav>
                                        <p:tav tm="100000">
                                          <p:val>
                                            <p:strVal val="#ppt_x"/>
                                          </p:val>
                                        </p:tav>
                                      </p:tavLst>
                                    </p:anim>
                                    <p:anim calcmode="lin" valueType="num">
                                      <p:cBhvr additive="base">
                                        <p:cTn id="16" dur="500" fill="hold"/>
                                        <p:tgtEl>
                                          <p:spTgt spid="3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additive="base">
                                        <p:cTn id="19" dur="500" fill="hold"/>
                                        <p:tgtEl>
                                          <p:spTgt spid="44"/>
                                        </p:tgtEl>
                                        <p:attrNameLst>
                                          <p:attrName>ppt_x</p:attrName>
                                        </p:attrNameLst>
                                      </p:cBhvr>
                                      <p:tavLst>
                                        <p:tav tm="0">
                                          <p:val>
                                            <p:strVal val="#ppt_x"/>
                                          </p:val>
                                        </p:tav>
                                        <p:tav tm="100000">
                                          <p:val>
                                            <p:strVal val="#ppt_x"/>
                                          </p:val>
                                        </p:tav>
                                      </p:tavLst>
                                    </p:anim>
                                    <p:anim calcmode="lin" valueType="num">
                                      <p:cBhvr additive="base">
                                        <p:cTn id="2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3" grpId="0"/>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DB8BBE4-198A-C117-1DD1-F28C05FE58E7}"/>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7DCB9BF4-2FF8-F9AF-BC26-F30C8984A475}"/>
              </a:ext>
            </a:extLst>
          </p:cNvPr>
          <p:cNvSpPr txBox="1"/>
          <p:nvPr/>
        </p:nvSpPr>
        <p:spPr>
          <a:xfrm>
            <a:off x="257998" y="1419300"/>
            <a:ext cx="6508954" cy="4493538"/>
          </a:xfrm>
          <a:prstGeom prst="rect">
            <a:avLst/>
          </a:prstGeom>
          <a:noFill/>
        </p:spPr>
        <p:txBody>
          <a:bodyPr wrap="square" rtlCol="0">
            <a:spAutoFit/>
          </a:bodyPr>
          <a:lstStyle/>
          <a:p>
            <a:pPr algn="ctr"/>
            <a:r>
              <a:rPr lang="en-US" sz="2200" dirty="0">
                <a:solidFill>
                  <a:schemeClr val="bg1"/>
                </a:solidFill>
              </a:rPr>
              <a:t>If the daily billing is just </a:t>
            </a:r>
            <a:r>
              <a:rPr lang="en-US" sz="2200" b="1" dirty="0">
                <a:solidFill>
                  <a:srgbClr val="FF0000"/>
                </a:solidFill>
              </a:rPr>
              <a:t>₹5,000,</a:t>
            </a:r>
          </a:p>
          <a:p>
            <a:pPr algn="ctr"/>
            <a:br>
              <a:rPr lang="en-US" sz="2200" b="1" dirty="0">
                <a:solidFill>
                  <a:srgbClr val="FF0000"/>
                </a:solidFill>
              </a:rPr>
            </a:br>
            <a:r>
              <a:rPr lang="en-US" sz="2200" b="1" dirty="0">
                <a:solidFill>
                  <a:schemeClr val="bg1"/>
                </a:solidFill>
              </a:rPr>
              <a:t>Monthly Billing</a:t>
            </a:r>
            <a:r>
              <a:rPr lang="en-US" sz="2200" dirty="0">
                <a:solidFill>
                  <a:schemeClr val="bg1"/>
                </a:solidFill>
              </a:rPr>
              <a:t> will be:</a:t>
            </a:r>
            <a:endParaRPr lang="en-US" sz="2200" dirty="0">
              <a:solidFill>
                <a:srgbClr val="FFFF00"/>
              </a:solidFill>
            </a:endParaRPr>
          </a:p>
          <a:p>
            <a:pPr algn="ctr"/>
            <a:r>
              <a:rPr lang="en-IN" sz="2200" dirty="0">
                <a:solidFill>
                  <a:srgbClr val="FFFF00"/>
                </a:solidFill>
              </a:rPr>
              <a:t>5,000×30=₹1,50,000</a:t>
            </a:r>
          </a:p>
          <a:p>
            <a:pPr algn="ctr"/>
            <a:endParaRPr lang="en-IN" sz="2200" b="1" dirty="0">
              <a:solidFill>
                <a:schemeClr val="bg1"/>
              </a:solidFill>
            </a:endParaRPr>
          </a:p>
          <a:p>
            <a:pPr algn="ctr"/>
            <a:r>
              <a:rPr lang="en-US" sz="2200" dirty="0">
                <a:solidFill>
                  <a:schemeClr val="bg1"/>
                </a:solidFill>
              </a:rPr>
              <a:t>The </a:t>
            </a:r>
            <a:r>
              <a:rPr lang="en-US" sz="2200" b="1" dirty="0">
                <a:solidFill>
                  <a:schemeClr val="bg1"/>
                </a:solidFill>
              </a:rPr>
              <a:t>annual revenue</a:t>
            </a:r>
            <a:r>
              <a:rPr lang="en-US" sz="2200" dirty="0">
                <a:solidFill>
                  <a:schemeClr val="bg1"/>
                </a:solidFill>
              </a:rPr>
              <a:t> amounts to approximately:</a:t>
            </a:r>
          </a:p>
          <a:p>
            <a:pPr algn="ctr"/>
            <a:r>
              <a:rPr lang="en-US" sz="2200" dirty="0">
                <a:solidFill>
                  <a:srgbClr val="FFFF00"/>
                </a:solidFill>
              </a:rPr>
              <a:t>1,50,000×12=₹18,00,000(or ₹18 lakh)</a:t>
            </a:r>
          </a:p>
          <a:p>
            <a:pPr algn="ctr"/>
            <a:endParaRPr lang="en-US" sz="2200" b="1" dirty="0">
              <a:solidFill>
                <a:schemeClr val="bg1"/>
              </a:solidFill>
            </a:endParaRPr>
          </a:p>
          <a:p>
            <a:pPr algn="ctr"/>
            <a:r>
              <a:rPr lang="en-US" sz="2200" dirty="0">
                <a:solidFill>
                  <a:schemeClr val="bg1"/>
                </a:solidFill>
              </a:rPr>
              <a:t>Now, if you receive a </a:t>
            </a:r>
            <a:r>
              <a:rPr lang="en-US" sz="2200" b="1" dirty="0">
                <a:solidFill>
                  <a:schemeClr val="bg1"/>
                </a:solidFill>
              </a:rPr>
              <a:t>5% share</a:t>
            </a:r>
            <a:r>
              <a:rPr lang="en-US" sz="2200" dirty="0">
                <a:solidFill>
                  <a:schemeClr val="bg1"/>
                </a:solidFill>
              </a:rPr>
              <a:t> from that, it totals:</a:t>
            </a:r>
            <a:endParaRPr lang="en-US" sz="2200" dirty="0">
              <a:solidFill>
                <a:srgbClr val="FFFF00"/>
              </a:solidFill>
            </a:endParaRPr>
          </a:p>
          <a:p>
            <a:pPr algn="ctr"/>
            <a:r>
              <a:rPr lang="en-US" sz="2200" dirty="0">
                <a:solidFill>
                  <a:srgbClr val="FFFF00"/>
                </a:solidFill>
              </a:rPr>
              <a:t>5%×₹18,00,000=₹91,000 per year</a:t>
            </a:r>
          </a:p>
          <a:p>
            <a:pPr algn="ctr"/>
            <a:endParaRPr lang="en-US" sz="2200" b="1" dirty="0">
              <a:solidFill>
                <a:schemeClr val="bg1"/>
              </a:solidFill>
            </a:endParaRPr>
          </a:p>
          <a:p>
            <a:pPr algn="ctr"/>
            <a:r>
              <a:rPr lang="en-US" sz="2200" dirty="0">
                <a:solidFill>
                  <a:schemeClr val="bg1"/>
                </a:solidFill>
              </a:rPr>
              <a:t>Just think about it — on an </a:t>
            </a:r>
            <a:r>
              <a:rPr lang="en-US" sz="2200" b="1" dirty="0">
                <a:solidFill>
                  <a:srgbClr val="FF0000"/>
                </a:solidFill>
              </a:rPr>
              <a:t>investment of ₹2.7 lakh</a:t>
            </a:r>
            <a:r>
              <a:rPr lang="en-US" sz="2200" dirty="0">
                <a:solidFill>
                  <a:srgbClr val="FF0000"/>
                </a:solidFill>
              </a:rPr>
              <a:t>,</a:t>
            </a:r>
            <a:br>
              <a:rPr lang="en-US" sz="2200" dirty="0">
                <a:solidFill>
                  <a:srgbClr val="FF0000"/>
                </a:solidFill>
              </a:rPr>
            </a:br>
            <a:r>
              <a:rPr lang="en-US" sz="2200" dirty="0">
                <a:solidFill>
                  <a:schemeClr val="bg1"/>
                </a:solidFill>
              </a:rPr>
              <a:t>you're getting a </a:t>
            </a:r>
            <a:r>
              <a:rPr lang="en-US" sz="2200" b="1" dirty="0">
                <a:solidFill>
                  <a:srgbClr val="FF0000"/>
                </a:solidFill>
              </a:rPr>
              <a:t>return of over 30%</a:t>
            </a:r>
            <a:r>
              <a:rPr lang="en-US" sz="2200" dirty="0">
                <a:solidFill>
                  <a:srgbClr val="FF0000"/>
                </a:solidFill>
              </a:rPr>
              <a:t>.</a:t>
            </a:r>
            <a:endParaRPr lang="en-US" sz="2200" b="1" dirty="0">
              <a:solidFill>
                <a:srgbClr val="FF0000"/>
              </a:solidFill>
            </a:endParaRPr>
          </a:p>
        </p:txBody>
      </p:sp>
      <p:sp>
        <p:nvSpPr>
          <p:cNvPr id="10" name="TextBox 9">
            <a:extLst>
              <a:ext uri="{FF2B5EF4-FFF2-40B4-BE49-F238E27FC236}">
                <a16:creationId xmlns:a16="http://schemas.microsoft.com/office/drawing/2014/main" id="{B2216BA7-A536-8C0D-D903-19269976664B}"/>
              </a:ext>
            </a:extLst>
          </p:cNvPr>
          <p:cNvSpPr txBox="1"/>
          <p:nvPr/>
        </p:nvSpPr>
        <p:spPr>
          <a:xfrm>
            <a:off x="2158315" y="312123"/>
            <a:ext cx="7875370" cy="707886"/>
          </a:xfrm>
          <a:prstGeom prst="rect">
            <a:avLst/>
          </a:prstGeom>
          <a:noFill/>
        </p:spPr>
        <p:txBody>
          <a:bodyPr wrap="square" rtlCol="0">
            <a:spAutoFit/>
          </a:bodyPr>
          <a:lstStyle/>
          <a:p>
            <a:pPr algn="ct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Earning Potential Food Trolley</a:t>
            </a:r>
            <a:endParaRPr lang="en-US" sz="4000" b="1" dirty="0">
              <a:solidFill>
                <a:srgbClr val="16DB65"/>
              </a:solidFill>
              <a:latin typeface="Bricolage Grotesque 14pt" panose="020B0605040402000204" pitchFamily="34" charset="0"/>
              <a:ea typeface="Roboto" panose="02000000000000000000" pitchFamily="2" charset="0"/>
              <a:cs typeface="Heebo" pitchFamily="2" charset="-79"/>
            </a:endParaRPr>
          </a:p>
        </p:txBody>
      </p:sp>
      <p:sp>
        <p:nvSpPr>
          <p:cNvPr id="15" name="Rectangle 14">
            <a:extLst>
              <a:ext uri="{FF2B5EF4-FFF2-40B4-BE49-F238E27FC236}">
                <a16:creationId xmlns:a16="http://schemas.microsoft.com/office/drawing/2014/main" id="{BEC9B887-6439-0F3C-5546-20616E6EC050}"/>
              </a:ext>
            </a:extLst>
          </p:cNvPr>
          <p:cNvSpPr/>
          <p:nvPr/>
        </p:nvSpPr>
        <p:spPr>
          <a:xfrm>
            <a:off x="1727919" y="2010474"/>
            <a:ext cx="3569109" cy="884902"/>
          </a:xfrm>
          <a:prstGeom prst="rect">
            <a:avLst/>
          </a:prstGeom>
          <a:noFill/>
          <a:ln w="9525">
            <a:solidFill>
              <a:srgbClr val="16DB65"/>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Open Sans" panose="020B0606030504020204" pitchFamily="34" charset="0"/>
            </a:endParaRPr>
          </a:p>
        </p:txBody>
      </p:sp>
      <p:sp>
        <p:nvSpPr>
          <p:cNvPr id="17" name="Rectangle 16">
            <a:extLst>
              <a:ext uri="{FF2B5EF4-FFF2-40B4-BE49-F238E27FC236}">
                <a16:creationId xmlns:a16="http://schemas.microsoft.com/office/drawing/2014/main" id="{9437700C-89FE-975A-60E9-8C55894ED1F2}"/>
              </a:ext>
            </a:extLst>
          </p:cNvPr>
          <p:cNvSpPr/>
          <p:nvPr/>
        </p:nvSpPr>
        <p:spPr>
          <a:xfrm>
            <a:off x="609668" y="3064939"/>
            <a:ext cx="5840227" cy="883446"/>
          </a:xfrm>
          <a:prstGeom prst="rect">
            <a:avLst/>
          </a:prstGeom>
          <a:noFill/>
          <a:ln w="9525">
            <a:solidFill>
              <a:srgbClr val="16DB65"/>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Open Sans" panose="020B0606030504020204" pitchFamily="34" charset="0"/>
            </a:endParaRPr>
          </a:p>
        </p:txBody>
      </p:sp>
      <p:sp>
        <p:nvSpPr>
          <p:cNvPr id="18" name="Rectangle 17">
            <a:extLst>
              <a:ext uri="{FF2B5EF4-FFF2-40B4-BE49-F238E27FC236}">
                <a16:creationId xmlns:a16="http://schemas.microsoft.com/office/drawing/2014/main" id="{44856E44-D75A-0ABC-2871-E4CCBFD6F89F}"/>
              </a:ext>
            </a:extLst>
          </p:cNvPr>
          <p:cNvSpPr/>
          <p:nvPr/>
        </p:nvSpPr>
        <p:spPr>
          <a:xfrm>
            <a:off x="373626" y="5090343"/>
            <a:ext cx="6292645" cy="822495"/>
          </a:xfrm>
          <a:prstGeom prst="rect">
            <a:avLst/>
          </a:prstGeom>
          <a:noFill/>
          <a:ln w="9525">
            <a:solidFill>
              <a:srgbClr val="16DB65"/>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Open Sans" panose="020B0606030504020204" pitchFamily="34" charset="0"/>
            </a:endParaRPr>
          </a:p>
        </p:txBody>
      </p:sp>
      <p:sp>
        <p:nvSpPr>
          <p:cNvPr id="19" name="Rectangle 18">
            <a:extLst>
              <a:ext uri="{FF2B5EF4-FFF2-40B4-BE49-F238E27FC236}">
                <a16:creationId xmlns:a16="http://schemas.microsoft.com/office/drawing/2014/main" id="{FB93D35A-BA75-E471-6B90-65F9F0A4FAE3}"/>
              </a:ext>
            </a:extLst>
          </p:cNvPr>
          <p:cNvSpPr/>
          <p:nvPr/>
        </p:nvSpPr>
        <p:spPr>
          <a:xfrm>
            <a:off x="366152" y="4108116"/>
            <a:ext cx="6292645" cy="822495"/>
          </a:xfrm>
          <a:prstGeom prst="rect">
            <a:avLst/>
          </a:prstGeom>
          <a:noFill/>
          <a:ln w="9525">
            <a:solidFill>
              <a:srgbClr val="16DB65"/>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Open Sans" panose="020B0606030504020204" pitchFamily="34" charset="0"/>
            </a:endParaRPr>
          </a:p>
        </p:txBody>
      </p:sp>
      <p:pic>
        <p:nvPicPr>
          <p:cNvPr id="1028" name="Picture 4" descr="Trolley Franchise">
            <a:extLst>
              <a:ext uri="{FF2B5EF4-FFF2-40B4-BE49-F238E27FC236}">
                <a16:creationId xmlns:a16="http://schemas.microsoft.com/office/drawing/2014/main" id="{7ED063EF-C273-44C1-EC24-D1E4B11798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9137" y="1688124"/>
            <a:ext cx="4083196" cy="4260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716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B1C45F8-40C5-657A-8F6A-87E23F35D73B}"/>
              </a:ext>
            </a:extLst>
          </p:cNvPr>
          <p:cNvSpPr txBox="1"/>
          <p:nvPr/>
        </p:nvSpPr>
        <p:spPr>
          <a:xfrm>
            <a:off x="1499285" y="360381"/>
            <a:ext cx="9193428" cy="707886"/>
          </a:xfrm>
          <a:prstGeom prst="rect">
            <a:avLst/>
          </a:prstGeom>
          <a:noFill/>
        </p:spPr>
        <p:txBody>
          <a:bodyPr wrap="square" rtlCol="0">
            <a:spAutoFit/>
          </a:bodyPr>
          <a:lstStyle/>
          <a:p>
            <a:pPr algn="ct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Food Tempo </a:t>
            </a: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Franchise</a:t>
            </a:r>
            <a:endParaRPr lang="en-US" sz="4000" b="1" dirty="0">
              <a:solidFill>
                <a:schemeClr val="bg1"/>
              </a:solidFill>
              <a:latin typeface="Bricolage Grotesque 14pt" panose="020B0605040402000204" pitchFamily="34" charset="0"/>
              <a:ea typeface="Roboto" panose="02000000000000000000" pitchFamily="2" charset="0"/>
              <a:cs typeface="Heebo" pitchFamily="2" charset="-79"/>
            </a:endParaRPr>
          </a:p>
        </p:txBody>
      </p:sp>
      <p:grpSp>
        <p:nvGrpSpPr>
          <p:cNvPr id="8" name="Group 7"/>
          <p:cNvGrpSpPr/>
          <p:nvPr/>
        </p:nvGrpSpPr>
        <p:grpSpPr>
          <a:xfrm>
            <a:off x="971470" y="2302591"/>
            <a:ext cx="10249059" cy="1701727"/>
            <a:chOff x="977238" y="2844949"/>
            <a:chExt cx="10249059" cy="1701727"/>
          </a:xfrm>
        </p:grpSpPr>
        <p:sp>
          <p:nvSpPr>
            <p:cNvPr id="30" name="Rounded Rectangle 29"/>
            <p:cNvSpPr/>
            <p:nvPr/>
          </p:nvSpPr>
          <p:spPr>
            <a:xfrm>
              <a:off x="5234997" y="2844951"/>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31" name="TextBox 30"/>
            <p:cNvSpPr txBox="1"/>
            <p:nvPr/>
          </p:nvSpPr>
          <p:spPr>
            <a:xfrm>
              <a:off x="5159354" y="3912966"/>
              <a:ext cx="1884826"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No Location Constraint</a:t>
              </a:r>
            </a:p>
          </p:txBody>
        </p:sp>
        <p:sp>
          <p:nvSpPr>
            <p:cNvPr id="27" name="Rounded Rectangle 26"/>
            <p:cNvSpPr/>
            <p:nvPr/>
          </p:nvSpPr>
          <p:spPr>
            <a:xfrm>
              <a:off x="7326055" y="2844949"/>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28" name="TextBox 27"/>
            <p:cNvSpPr txBox="1"/>
            <p:nvPr/>
          </p:nvSpPr>
          <p:spPr>
            <a:xfrm>
              <a:off x="7250412" y="3912966"/>
              <a:ext cx="1884826"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In-built</a:t>
              </a:r>
            </a:p>
            <a:p>
              <a:pPr algn="ctr"/>
              <a:r>
                <a:rPr lang="en-US" sz="1400" b="1" dirty="0">
                  <a:solidFill>
                    <a:srgbClr val="F95050"/>
                  </a:solidFill>
                  <a:latin typeface="Bricolage Grotesque 14pt" panose="020B0605040402000204" pitchFamily="34" charset="0"/>
                </a:rPr>
                <a:t>Freezer</a:t>
              </a:r>
            </a:p>
          </p:txBody>
        </p:sp>
        <p:sp>
          <p:nvSpPr>
            <p:cNvPr id="24" name="Rounded Rectangle 23"/>
            <p:cNvSpPr/>
            <p:nvPr/>
          </p:nvSpPr>
          <p:spPr>
            <a:xfrm>
              <a:off x="1052881" y="2844951"/>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25" name="TextBox 24"/>
            <p:cNvSpPr txBox="1"/>
            <p:nvPr/>
          </p:nvSpPr>
          <p:spPr>
            <a:xfrm>
              <a:off x="977238" y="3912966"/>
              <a:ext cx="1884826"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Food</a:t>
              </a:r>
            </a:p>
            <a:p>
              <a:pPr algn="ctr"/>
              <a:r>
                <a:rPr lang="en-US" sz="1400" b="1" dirty="0">
                  <a:solidFill>
                    <a:srgbClr val="F95050"/>
                  </a:solidFill>
                  <a:latin typeface="Bricolage Grotesque 14pt" panose="020B0605040402000204" pitchFamily="34" charset="0"/>
                </a:rPr>
                <a:t>Trolley</a:t>
              </a:r>
            </a:p>
          </p:txBody>
        </p:sp>
        <p:sp>
          <p:nvSpPr>
            <p:cNvPr id="21" name="Rounded Rectangle 20"/>
            <p:cNvSpPr/>
            <p:nvPr/>
          </p:nvSpPr>
          <p:spPr>
            <a:xfrm>
              <a:off x="3143939" y="2844952"/>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22" name="TextBox 21"/>
            <p:cNvSpPr txBox="1"/>
            <p:nvPr/>
          </p:nvSpPr>
          <p:spPr>
            <a:xfrm>
              <a:off x="3068296" y="3912966"/>
              <a:ext cx="1884826"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Centralized kitchen supply</a:t>
              </a:r>
            </a:p>
          </p:txBody>
        </p:sp>
        <p:sp>
          <p:nvSpPr>
            <p:cNvPr id="36" name="Rounded Rectangle 35"/>
            <p:cNvSpPr/>
            <p:nvPr/>
          </p:nvSpPr>
          <p:spPr>
            <a:xfrm>
              <a:off x="9417114" y="2844950"/>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37" name="TextBox 36"/>
            <p:cNvSpPr txBox="1"/>
            <p:nvPr/>
          </p:nvSpPr>
          <p:spPr>
            <a:xfrm>
              <a:off x="9341471" y="3912966"/>
              <a:ext cx="1884826"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Ultra Modern Design</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65969" y="2986826"/>
              <a:ext cx="903281" cy="903281"/>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3539" y="3036006"/>
              <a:ext cx="804921" cy="804921"/>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51913" y="3043582"/>
              <a:ext cx="789768" cy="789768"/>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05226" y="3050867"/>
              <a:ext cx="775198" cy="775198"/>
            </a:xfrm>
            <a:prstGeom prst="rect">
              <a:avLst/>
            </a:prstGeom>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98862" y="3053444"/>
              <a:ext cx="770044" cy="770044"/>
            </a:xfrm>
            <a:prstGeom prst="rect">
              <a:avLst/>
            </a:prstGeom>
          </p:spPr>
        </p:pic>
      </p:grpSp>
      <p:grpSp>
        <p:nvGrpSpPr>
          <p:cNvPr id="44" name="Group 43"/>
          <p:cNvGrpSpPr/>
          <p:nvPr/>
        </p:nvGrpSpPr>
        <p:grpSpPr>
          <a:xfrm>
            <a:off x="2275290" y="1292459"/>
            <a:ext cx="7641418" cy="650470"/>
            <a:chOff x="766032" y="5308938"/>
            <a:chExt cx="14093202" cy="1199674"/>
          </a:xfrm>
        </p:grpSpPr>
        <p:sp>
          <p:nvSpPr>
            <p:cNvPr id="45" name="Rectangle 44">
              <a:extLst>
                <a:ext uri="{FF2B5EF4-FFF2-40B4-BE49-F238E27FC236}">
                  <a16:creationId xmlns:a16="http://schemas.microsoft.com/office/drawing/2014/main" id="{F8F14494-17BF-2306-007C-0E44E7EC7CEB}"/>
                </a:ext>
              </a:extLst>
            </p:cNvPr>
            <p:cNvSpPr/>
            <p:nvPr/>
          </p:nvSpPr>
          <p:spPr>
            <a:xfrm>
              <a:off x="766032" y="5589352"/>
              <a:ext cx="1182739" cy="919260"/>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874758" y="5308938"/>
              <a:ext cx="13984476" cy="1086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A2A37558-46FE-A5AC-1D0C-4F14C8299FBD}"/>
              </a:ext>
            </a:extLst>
          </p:cNvPr>
          <p:cNvSpPr txBox="1"/>
          <p:nvPr/>
        </p:nvSpPr>
        <p:spPr>
          <a:xfrm>
            <a:off x="2610365" y="1230920"/>
            <a:ext cx="6971268" cy="646331"/>
          </a:xfrm>
          <a:prstGeom prst="rect">
            <a:avLst/>
          </a:prstGeom>
          <a:noFill/>
        </p:spPr>
        <p:txBody>
          <a:bodyPr wrap="none" rtlCol="0">
            <a:spAutoFit/>
          </a:bodyPr>
          <a:lstStyle/>
          <a:p>
            <a:pPr lvl="0" algn="ctr">
              <a:defRPr/>
            </a:pPr>
            <a:r>
              <a:rPr lang="en-US" sz="3600" b="1" dirty="0">
                <a:solidFill>
                  <a:srgbClr val="F95050"/>
                </a:solidFill>
              </a:rPr>
              <a:t>Franchise Fees : </a:t>
            </a:r>
            <a:r>
              <a:rPr lang="en-US" sz="3200" dirty="0">
                <a:solidFill>
                  <a:srgbClr val="F95050"/>
                </a:solidFill>
                <a:latin typeface="Arial" panose="020B0604020202020204" pitchFamily="34" charset="0"/>
                <a:cs typeface="Arial" panose="020B0604020202020204" pitchFamily="34" charset="0"/>
              </a:rPr>
              <a:t>₹</a:t>
            </a:r>
            <a:r>
              <a:rPr lang="en-US" sz="3600" b="1" dirty="0">
                <a:solidFill>
                  <a:srgbClr val="F95050"/>
                </a:solidFill>
              </a:rPr>
              <a:t>5,40,000/- (+ GST)</a:t>
            </a:r>
            <a:endParaRPr lang="en-IN" sz="3600" dirty="0">
              <a:solidFill>
                <a:srgbClr val="F95050"/>
              </a:solidFill>
            </a:endParaRPr>
          </a:p>
        </p:txBody>
      </p:sp>
      <p:grpSp>
        <p:nvGrpSpPr>
          <p:cNvPr id="2" name="Group 1"/>
          <p:cNvGrpSpPr/>
          <p:nvPr/>
        </p:nvGrpSpPr>
        <p:grpSpPr>
          <a:xfrm>
            <a:off x="2677936" y="5871161"/>
            <a:ext cx="9212070" cy="461665"/>
            <a:chOff x="3077847" y="5887121"/>
            <a:chExt cx="9464740" cy="515978"/>
          </a:xfrm>
        </p:grpSpPr>
        <p:sp>
          <p:nvSpPr>
            <p:cNvPr id="11" name="TextBox 10">
              <a:extLst>
                <a:ext uri="{FF2B5EF4-FFF2-40B4-BE49-F238E27FC236}">
                  <a16:creationId xmlns:a16="http://schemas.microsoft.com/office/drawing/2014/main" id="{AC113199-89E3-3489-3655-2ED35E2C3CD7}"/>
                </a:ext>
              </a:extLst>
            </p:cNvPr>
            <p:cNvSpPr txBox="1"/>
            <p:nvPr/>
          </p:nvSpPr>
          <p:spPr>
            <a:xfrm>
              <a:off x="3679112" y="5887121"/>
              <a:ext cx="8863475" cy="515978"/>
            </a:xfrm>
            <a:prstGeom prst="rect">
              <a:avLst/>
            </a:prstGeom>
            <a:noFill/>
          </p:spPr>
          <p:txBody>
            <a:bodyPr wrap="square" rtlCol="0">
              <a:spAutoFit/>
            </a:bodyPr>
            <a:lstStyle/>
            <a:p>
              <a:r>
                <a:rPr lang="en-US" sz="2400" dirty="0">
                  <a:solidFill>
                    <a:schemeClr val="bg1"/>
                  </a:solidFill>
                  <a:latin typeface="Bricolage Grotesque 14pt" panose="020B0605040402000204" pitchFamily="34" charset="0"/>
                </a:rPr>
                <a:t>NON-VEG Option also available for all brands</a:t>
              </a:r>
            </a:p>
          </p:txBody>
        </p:sp>
        <p:pic>
          <p:nvPicPr>
            <p:cNvPr id="35" name="Picture 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77847" y="5887121"/>
              <a:ext cx="490374" cy="490374"/>
            </a:xfrm>
            <a:prstGeom prst="rect">
              <a:avLst/>
            </a:prstGeom>
          </p:spPr>
        </p:pic>
      </p:grpSp>
      <p:sp>
        <p:nvSpPr>
          <p:cNvPr id="9" name="TextBox 8">
            <a:extLst>
              <a:ext uri="{FF2B5EF4-FFF2-40B4-BE49-F238E27FC236}">
                <a16:creationId xmlns:a16="http://schemas.microsoft.com/office/drawing/2014/main" id="{EA367652-E298-CAD3-019D-993B178E1369}"/>
              </a:ext>
            </a:extLst>
          </p:cNvPr>
          <p:cNvSpPr txBox="1"/>
          <p:nvPr/>
        </p:nvSpPr>
        <p:spPr>
          <a:xfrm>
            <a:off x="4463482" y="4320388"/>
            <a:ext cx="3034722" cy="646331"/>
          </a:xfrm>
          <a:prstGeom prst="rect">
            <a:avLst/>
          </a:prstGeom>
          <a:noFill/>
        </p:spPr>
        <p:txBody>
          <a:bodyPr wrap="square">
            <a:spAutoFit/>
          </a:bodyPr>
          <a:lstStyle/>
          <a:p>
            <a:pPr algn="ctr"/>
            <a:r>
              <a:rPr lang="en-US" sz="36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FOFO Model</a:t>
            </a:r>
            <a:endParaRPr lang="en-IN" sz="3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4F89C43E-D972-B9FD-071C-20A39E9B1117}"/>
              </a:ext>
            </a:extLst>
          </p:cNvPr>
          <p:cNvSpPr txBox="1"/>
          <p:nvPr/>
        </p:nvSpPr>
        <p:spPr>
          <a:xfrm>
            <a:off x="147462" y="5035098"/>
            <a:ext cx="11956025" cy="553998"/>
          </a:xfrm>
          <a:prstGeom prst="rect">
            <a:avLst/>
          </a:prstGeom>
          <a:noFill/>
        </p:spPr>
        <p:txBody>
          <a:bodyPr wrap="square">
            <a:spAutoFit/>
          </a:bodyPr>
          <a:lstStyle/>
          <a:p>
            <a:pPr algn="ctr"/>
            <a:r>
              <a:rPr lang="en-US" sz="3000" b="1" dirty="0">
                <a:solidFill>
                  <a:schemeClr val="bg1"/>
                </a:solidFill>
              </a:rPr>
              <a:t>Earnings</a:t>
            </a:r>
            <a:r>
              <a:rPr lang="en-US" sz="3000" dirty="0">
                <a:solidFill>
                  <a:schemeClr val="bg1"/>
                </a:solidFill>
              </a:rPr>
              <a:t> :- Earn </a:t>
            </a:r>
            <a:r>
              <a:rPr lang="en-US" sz="3000" b="1" dirty="0">
                <a:solidFill>
                  <a:schemeClr val="bg1"/>
                </a:solidFill>
              </a:rPr>
              <a:t>9% ROI or 5% of the billing amount (whichever is higher)</a:t>
            </a:r>
            <a:endParaRPr lang="en-US" sz="3000" b="1" dirty="0">
              <a:solidFill>
                <a:schemeClr val="bg1"/>
              </a:solidFill>
              <a:latin typeface="Bricolage Grotesque 14pt" panose="020B0605040402000204" pitchFamily="34" charset="0"/>
            </a:endParaRPr>
          </a:p>
        </p:txBody>
      </p:sp>
    </p:spTree>
    <p:extLst>
      <p:ext uri="{BB962C8B-B14F-4D97-AF65-F5344CB8AC3E}">
        <p14:creationId xmlns:p14="http://schemas.microsoft.com/office/powerpoint/2010/main" val="3925171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additive="base">
                                        <p:cTn id="11" dur="500" fill="hold"/>
                                        <p:tgtEl>
                                          <p:spTgt spid="33"/>
                                        </p:tgtEl>
                                        <p:attrNameLst>
                                          <p:attrName>ppt_x</p:attrName>
                                        </p:attrNameLst>
                                      </p:cBhvr>
                                      <p:tavLst>
                                        <p:tav tm="0">
                                          <p:val>
                                            <p:strVal val="#ppt_x"/>
                                          </p:val>
                                        </p:tav>
                                        <p:tav tm="100000">
                                          <p:val>
                                            <p:strVal val="#ppt_x"/>
                                          </p:val>
                                        </p:tav>
                                      </p:tavLst>
                                    </p:anim>
                                    <p:anim calcmode="lin" valueType="num">
                                      <p:cBhvr additive="base">
                                        <p:cTn id="12" dur="500" fill="hold"/>
                                        <p:tgtEl>
                                          <p:spTgt spid="3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anim calcmode="lin" valueType="num">
                                      <p:cBhvr additive="base">
                                        <p:cTn id="15" dur="500" fill="hold"/>
                                        <p:tgtEl>
                                          <p:spTgt spid="44"/>
                                        </p:tgtEl>
                                        <p:attrNameLst>
                                          <p:attrName>ppt_x</p:attrName>
                                        </p:attrNameLst>
                                      </p:cBhvr>
                                      <p:tavLst>
                                        <p:tav tm="0">
                                          <p:val>
                                            <p:strVal val="#ppt_x"/>
                                          </p:val>
                                        </p:tav>
                                        <p:tav tm="100000">
                                          <p:val>
                                            <p:strVal val="#ppt_x"/>
                                          </p:val>
                                        </p:tav>
                                      </p:tavLst>
                                    </p:anim>
                                    <p:anim calcmode="lin" valueType="num">
                                      <p:cBhvr additive="base">
                                        <p:cTn id="16"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 calcmode="lin" valueType="num">
                                      <p:cBhvr additive="base">
                                        <p:cTn id="35"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3" grpId="0"/>
      <p:bldP spid="1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3731" y="833259"/>
            <a:ext cx="10564538" cy="954107"/>
          </a:xfrm>
          <a:prstGeom prst="rect">
            <a:avLst/>
          </a:prstGeom>
          <a:noFill/>
        </p:spPr>
        <p:txBody>
          <a:bodyPr wrap="square" rtlCol="0">
            <a:spAutoFit/>
          </a:bodyPr>
          <a:lstStyle/>
          <a:p>
            <a:pPr algn="ctr"/>
            <a:r>
              <a:rPr lang="en-US" sz="1400" dirty="0">
                <a:solidFill>
                  <a:schemeClr val="bg1"/>
                </a:solidFill>
                <a:latin typeface="Bricolage Grotesque 14pt" panose="020B0605040402000204" pitchFamily="34" charset="0"/>
              </a:rPr>
              <a:t>Assuming that a </a:t>
            </a:r>
            <a:r>
              <a:rPr lang="en-US" sz="1400" dirty="0">
                <a:solidFill>
                  <a:srgbClr val="FFFF00"/>
                </a:solidFill>
                <a:latin typeface="Bricolage Grotesque 14pt" panose="020B0605040402000204" pitchFamily="34" charset="0"/>
              </a:rPr>
              <a:t>minimum of 100 orders </a:t>
            </a:r>
            <a:r>
              <a:rPr lang="en-US" sz="1400" dirty="0">
                <a:solidFill>
                  <a:schemeClr val="bg1"/>
                </a:solidFill>
                <a:latin typeface="Bricolage Grotesque 14pt" panose="020B0605040402000204" pitchFamily="34" charset="0"/>
              </a:rPr>
              <a:t>are placed daily, with a minimum ticket size of </a:t>
            </a:r>
            <a:r>
              <a:rPr lang="en-US" sz="1400" dirty="0">
                <a:solidFill>
                  <a:srgbClr val="16DB65"/>
                </a:solidFill>
                <a:latin typeface="Arial" panose="020B0604020202020204" pitchFamily="34" charset="0"/>
                <a:cs typeface="Arial" panose="020B0604020202020204" pitchFamily="34" charset="0"/>
              </a:rPr>
              <a:t>₹</a:t>
            </a:r>
            <a:r>
              <a:rPr lang="en-US" sz="1400" dirty="0">
                <a:solidFill>
                  <a:srgbClr val="16DB65"/>
                </a:solidFill>
                <a:latin typeface="Bricolage Grotesque 14pt" panose="020B0605040402000204" pitchFamily="34" charset="0"/>
              </a:rPr>
              <a:t>100 per order</a:t>
            </a:r>
            <a:r>
              <a:rPr lang="en-US" sz="1400" dirty="0">
                <a:solidFill>
                  <a:schemeClr val="bg1"/>
                </a:solidFill>
                <a:latin typeface="Bricolage Grotesque 14pt" panose="020B0605040402000204" pitchFamily="34" charset="0"/>
              </a:rPr>
              <a:t>,</a:t>
            </a:r>
          </a:p>
          <a:p>
            <a:pPr algn="ctr"/>
            <a:r>
              <a:rPr lang="en-US" sz="1400" dirty="0">
                <a:solidFill>
                  <a:schemeClr val="bg1"/>
                </a:solidFill>
                <a:latin typeface="Bricolage Grotesque 14pt" panose="020B0605040402000204" pitchFamily="34" charset="0"/>
              </a:rPr>
              <a:t>resulting in a total of </a:t>
            </a:r>
            <a:r>
              <a:rPr lang="en-US" sz="1400" dirty="0">
                <a:solidFill>
                  <a:srgbClr val="16DB65"/>
                </a:solidFill>
                <a:latin typeface="Bricolage Grotesque 14pt" panose="020B0605040402000204" pitchFamily="34" charset="0"/>
              </a:rPr>
              <a:t>30 (Days) x 100 = 3000 orders in a month</a:t>
            </a:r>
            <a:r>
              <a:rPr lang="en-US" sz="1400" dirty="0">
                <a:solidFill>
                  <a:schemeClr val="bg1"/>
                </a:solidFill>
                <a:latin typeface="Bricolage Grotesque 14pt" panose="020B0605040402000204" pitchFamily="34" charset="0"/>
              </a:rPr>
              <a:t>, generating a total monthly revenue of </a:t>
            </a:r>
            <a:r>
              <a:rPr lang="en-US" sz="1400" dirty="0">
                <a:solidFill>
                  <a:srgbClr val="FFFF00"/>
                </a:solidFill>
                <a:latin typeface="Bricolage Grotesque 14pt" panose="020B0605040402000204" pitchFamily="34" charset="0"/>
              </a:rPr>
              <a:t>3000 x ₹100 = (a) </a:t>
            </a:r>
            <a:r>
              <a:rPr lang="en-US" sz="1400" dirty="0">
                <a:solidFill>
                  <a:srgbClr val="FFFF00"/>
                </a:solidFill>
                <a:latin typeface="Arial" panose="020B0604020202020204" pitchFamily="34" charset="0"/>
                <a:cs typeface="Arial" panose="020B0604020202020204" pitchFamily="34" charset="0"/>
              </a:rPr>
              <a:t>₹</a:t>
            </a:r>
            <a:r>
              <a:rPr lang="en-US" sz="1400" dirty="0">
                <a:solidFill>
                  <a:srgbClr val="FFFF00"/>
                </a:solidFill>
                <a:latin typeface="Bricolage Grotesque 14pt" panose="020B0605040402000204" pitchFamily="34" charset="0"/>
              </a:rPr>
              <a:t>3,00,000</a:t>
            </a:r>
          </a:p>
          <a:p>
            <a:pPr algn="ctr"/>
            <a:endParaRPr lang="en-US" sz="1400" dirty="0">
              <a:solidFill>
                <a:srgbClr val="16DB65"/>
              </a:solidFill>
              <a:latin typeface="Bricolage Grotesque 14pt" panose="020B0605040402000204" pitchFamily="34" charset="0"/>
            </a:endParaRPr>
          </a:p>
          <a:p>
            <a:pPr algn="ctr"/>
            <a:r>
              <a:rPr lang="en-US" sz="1400" dirty="0">
                <a:solidFill>
                  <a:schemeClr val="bg1"/>
                </a:solidFill>
                <a:latin typeface="Bricolage Grotesque 14pt" panose="020B0605040402000204" pitchFamily="34" charset="0"/>
              </a:rPr>
              <a:t>Considering the food margin to be 50%</a:t>
            </a:r>
            <a:r>
              <a:rPr lang="en-US" sz="1400" dirty="0">
                <a:solidFill>
                  <a:srgbClr val="16DB65"/>
                </a:solidFill>
                <a:latin typeface="Bricolage Grotesque 14pt" panose="020B0605040402000204" pitchFamily="34" charset="0"/>
              </a:rPr>
              <a:t>, </a:t>
            </a:r>
            <a:r>
              <a:rPr lang="en-US" sz="1400" dirty="0">
                <a:solidFill>
                  <a:schemeClr val="bg1"/>
                </a:solidFill>
                <a:latin typeface="Bricolage Grotesque 14pt" panose="020B0605040402000204" pitchFamily="34" charset="0"/>
              </a:rPr>
              <a:t>the monthly food cost expense will be </a:t>
            </a:r>
            <a:r>
              <a:rPr lang="en-US" sz="1400" dirty="0">
                <a:solidFill>
                  <a:srgbClr val="FFFF00"/>
                </a:solidFill>
                <a:latin typeface="Bricolage Grotesque 14pt" panose="020B0605040402000204" pitchFamily="34" charset="0"/>
              </a:rPr>
              <a:t>(b) </a:t>
            </a:r>
            <a:r>
              <a:rPr lang="en-US" sz="1400" dirty="0">
                <a:solidFill>
                  <a:srgbClr val="FFFF00"/>
                </a:solidFill>
                <a:latin typeface="Arial" panose="020B0604020202020204" pitchFamily="34" charset="0"/>
                <a:cs typeface="Arial" panose="020B0604020202020204" pitchFamily="34" charset="0"/>
              </a:rPr>
              <a:t>₹</a:t>
            </a:r>
            <a:r>
              <a:rPr lang="en-US" sz="1400" dirty="0">
                <a:solidFill>
                  <a:srgbClr val="FFFF00"/>
                </a:solidFill>
                <a:latin typeface="Bricolage Grotesque 14pt" panose="020B0605040402000204" pitchFamily="34" charset="0"/>
              </a:rPr>
              <a:t>1,50,000</a:t>
            </a:r>
          </a:p>
        </p:txBody>
      </p:sp>
      <p:sp>
        <p:nvSpPr>
          <p:cNvPr id="5" name="TextBox 4">
            <a:extLst>
              <a:ext uri="{FF2B5EF4-FFF2-40B4-BE49-F238E27FC236}">
                <a16:creationId xmlns:a16="http://schemas.microsoft.com/office/drawing/2014/main" id="{4B1C45F8-40C5-657A-8F6A-87E23F35D73B}"/>
              </a:ext>
            </a:extLst>
          </p:cNvPr>
          <p:cNvSpPr txBox="1"/>
          <p:nvPr/>
        </p:nvSpPr>
        <p:spPr>
          <a:xfrm>
            <a:off x="2158315" y="258010"/>
            <a:ext cx="7875370" cy="584775"/>
          </a:xfrm>
          <a:prstGeom prst="rect">
            <a:avLst/>
          </a:prstGeom>
          <a:noFill/>
        </p:spPr>
        <p:txBody>
          <a:bodyPr wrap="square" rtlCol="0">
            <a:spAutoFit/>
          </a:bodyPr>
          <a:lstStyle/>
          <a:p>
            <a:pPr algn="ctr"/>
            <a:r>
              <a:rPr lang="en-US" sz="3200" b="1" dirty="0">
                <a:solidFill>
                  <a:schemeClr val="bg1"/>
                </a:solidFill>
                <a:latin typeface="Bricolage Grotesque 14pt" panose="020B0605040402000204" pitchFamily="34" charset="0"/>
                <a:ea typeface="Roboto" panose="02000000000000000000" pitchFamily="2" charset="0"/>
                <a:cs typeface="Heebo" pitchFamily="2" charset="-79"/>
              </a:rPr>
              <a:t>Monthly Potential </a:t>
            </a:r>
            <a:r>
              <a:rPr lang="en-US" sz="3200" b="1" dirty="0">
                <a:solidFill>
                  <a:srgbClr val="16DB65"/>
                </a:solidFill>
                <a:latin typeface="Bricolage Grotesque 14pt" panose="020B0605040402000204" pitchFamily="34" charset="0"/>
                <a:ea typeface="Roboto" panose="02000000000000000000" pitchFamily="2" charset="0"/>
                <a:cs typeface="Heebo" pitchFamily="2" charset="-79"/>
              </a:rPr>
              <a:t>Earning of </a:t>
            </a:r>
            <a:r>
              <a:rPr lang="en-US" sz="3200" b="1" dirty="0">
                <a:solidFill>
                  <a:schemeClr val="bg1"/>
                </a:solidFill>
                <a:latin typeface="Bricolage Grotesque 14pt" panose="020B0605040402000204" pitchFamily="34" charset="0"/>
                <a:ea typeface="Roboto" panose="02000000000000000000" pitchFamily="2" charset="0"/>
                <a:cs typeface="Heebo" pitchFamily="2" charset="-79"/>
              </a:rPr>
              <a:t>Tempo (FOFO)</a:t>
            </a:r>
            <a:endParaRPr lang="en-US" sz="3200" b="1" dirty="0">
              <a:solidFill>
                <a:srgbClr val="16DB65"/>
              </a:solidFill>
              <a:latin typeface="Bricolage Grotesque 14pt" panose="020B0605040402000204" pitchFamily="34" charset="0"/>
              <a:ea typeface="Roboto" panose="02000000000000000000" pitchFamily="2" charset="0"/>
              <a:cs typeface="Heebo" pitchFamily="2" charset="-79"/>
            </a:endParaRPr>
          </a:p>
        </p:txBody>
      </p:sp>
      <p:graphicFrame>
        <p:nvGraphicFramePr>
          <p:cNvPr id="35" name="Table 34"/>
          <p:cNvGraphicFramePr>
            <a:graphicFrameLocks noGrp="1"/>
          </p:cNvGraphicFramePr>
          <p:nvPr>
            <p:extLst>
              <p:ext uri="{D42A27DB-BD31-4B8C-83A1-F6EECF244321}">
                <p14:modId xmlns:p14="http://schemas.microsoft.com/office/powerpoint/2010/main" val="2043711701"/>
              </p:ext>
            </p:extLst>
          </p:nvPr>
        </p:nvGraphicFramePr>
        <p:xfrm>
          <a:off x="2759044" y="2568471"/>
          <a:ext cx="7021384" cy="2194560"/>
        </p:xfrm>
        <a:graphic>
          <a:graphicData uri="http://schemas.openxmlformats.org/drawingml/2006/table">
            <a:tbl>
              <a:tblPr bandRow="1">
                <a:tableStyleId>{5C22544A-7EE6-4342-B048-85BDC9FD1C3A}</a:tableStyleId>
              </a:tblPr>
              <a:tblGrid>
                <a:gridCol w="5263292">
                  <a:extLst>
                    <a:ext uri="{9D8B030D-6E8A-4147-A177-3AD203B41FA5}">
                      <a16:colId xmlns:a16="http://schemas.microsoft.com/office/drawing/2014/main" val="20000"/>
                    </a:ext>
                  </a:extLst>
                </a:gridCol>
                <a:gridCol w="1758092">
                  <a:extLst>
                    <a:ext uri="{9D8B030D-6E8A-4147-A177-3AD203B41FA5}">
                      <a16:colId xmlns:a16="http://schemas.microsoft.com/office/drawing/2014/main" val="20001"/>
                    </a:ext>
                  </a:extLst>
                </a:gridCol>
              </a:tblGrid>
              <a:tr h="17750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Bricolage Grotesque 14pt" panose="020B0605040402000204" pitchFamily="34" charset="0"/>
                        </a:rPr>
                        <a:t>Additional operating expenses amount to</a:t>
                      </a:r>
                    </a:p>
                  </a:txBody>
                  <a:tcPr>
                    <a:lnR w="28575" cap="flat" cmpd="sng" algn="ctr">
                      <a:solidFill>
                        <a:schemeClr val="bg1"/>
                      </a:solidFill>
                      <a:prstDash val="solid"/>
                      <a:round/>
                      <a:headEnd type="none" w="med" len="med"/>
                      <a:tailEnd type="none" w="med" len="med"/>
                    </a:lnR>
                    <a:solidFill>
                      <a:srgbClr val="F95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Bricolage Grotesque 14pt" panose="020B0605040402000204" pitchFamily="34" charset="0"/>
                        </a:rPr>
                        <a:t>(d) </a:t>
                      </a:r>
                      <a:r>
                        <a:rPr lang="en-US" sz="1800" b="1" dirty="0">
                          <a:solidFill>
                            <a:schemeClr val="bg1"/>
                          </a:solidFill>
                          <a:latin typeface="Arial" panose="020B0604020202020204" pitchFamily="34" charset="0"/>
                          <a:cs typeface="Arial" panose="020B0604020202020204" pitchFamily="34" charset="0"/>
                        </a:rPr>
                        <a:t>₹</a:t>
                      </a:r>
                      <a:r>
                        <a:rPr lang="en-US" sz="1800" b="1" dirty="0">
                          <a:solidFill>
                            <a:schemeClr val="bg1"/>
                          </a:solidFill>
                          <a:latin typeface="Bricolage Grotesque 14pt" panose="020B0605040402000204" pitchFamily="34" charset="0"/>
                          <a:cs typeface="Arial" panose="020B0604020202020204" pitchFamily="34" charset="0"/>
                        </a:rPr>
                        <a:t>60</a:t>
                      </a:r>
                      <a:r>
                        <a:rPr lang="en-US" sz="1800" b="1" dirty="0">
                          <a:solidFill>
                            <a:schemeClr val="bg1"/>
                          </a:solidFill>
                          <a:latin typeface="Bricolage Grotesque 14pt" panose="020B0605040402000204" pitchFamily="34" charset="0"/>
                        </a:rPr>
                        <a:t>,000</a:t>
                      </a:r>
                    </a:p>
                  </a:txBody>
                  <a:tcPr>
                    <a:lnL w="28575" cap="flat" cmpd="sng" algn="ctr">
                      <a:solidFill>
                        <a:schemeClr val="bg1"/>
                      </a:solidFill>
                      <a:prstDash val="solid"/>
                      <a:round/>
                      <a:headEnd type="none" w="med" len="med"/>
                      <a:tailEnd type="none" w="med" len="med"/>
                    </a:lnL>
                    <a:solidFill>
                      <a:srgbClr val="F95050"/>
                    </a:solidFill>
                  </a:tcPr>
                </a:tc>
                <a:extLst>
                  <a:ext uri="{0D108BD9-81ED-4DB2-BD59-A6C34878D82A}">
                    <a16:rowId xmlns:a16="http://schemas.microsoft.com/office/drawing/2014/main" val="10000"/>
                  </a:ext>
                </a:extLst>
              </a:tr>
              <a:tr h="177507">
                <a:tc>
                  <a:txBody>
                    <a:bodyPr/>
                    <a:lstStyle/>
                    <a:p>
                      <a:r>
                        <a:rPr lang="en-US" sz="1400" dirty="0">
                          <a:solidFill>
                            <a:schemeClr val="bg1"/>
                          </a:solidFill>
                          <a:latin typeface="Arial" panose="020B0604020202020204" pitchFamily="34" charset="0"/>
                          <a:cs typeface="Arial" panose="020B0604020202020204" pitchFamily="34" charset="0"/>
                        </a:rPr>
                        <a:t>Salaries &amp; Wages</a:t>
                      </a:r>
                      <a:endParaRPr lang="en-US" sz="1400" dirty="0"/>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latin typeface="Arial" panose="020B0604020202020204" pitchFamily="34" charset="0"/>
                          <a:cs typeface="Arial" panose="020B0604020202020204" pitchFamily="34" charset="0"/>
                        </a:rPr>
                        <a:t>₹20,000</a:t>
                      </a:r>
                      <a:endParaRPr lang="en-US" sz="1400" dirty="0"/>
                    </a:p>
                  </a:txBody>
                  <a:tcPr>
                    <a:noFill/>
                  </a:tcPr>
                </a:tc>
                <a:extLst>
                  <a:ext uri="{0D108BD9-81ED-4DB2-BD59-A6C34878D82A}">
                    <a16:rowId xmlns:a16="http://schemas.microsoft.com/office/drawing/2014/main" val="10001"/>
                  </a:ext>
                </a:extLst>
              </a:tr>
              <a:tr h="17750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latin typeface="Arial" panose="020B0604020202020204" pitchFamily="34" charset="0"/>
                          <a:cs typeface="Arial" panose="020B0604020202020204" pitchFamily="34" charset="0"/>
                        </a:rPr>
                        <a:t>Management/Office Expense</a:t>
                      </a:r>
                      <a:endParaRPr lang="en-US" sz="1400" dirty="0"/>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latin typeface="Arial" panose="020B0604020202020204" pitchFamily="34" charset="0"/>
                          <a:cs typeface="Arial" panose="020B0604020202020204" pitchFamily="34" charset="0"/>
                        </a:rPr>
                        <a:t>   ₹5000</a:t>
                      </a:r>
                    </a:p>
                  </a:txBody>
                  <a:tcPr>
                    <a:noFill/>
                  </a:tcPr>
                </a:tc>
                <a:extLst>
                  <a:ext uri="{0D108BD9-81ED-4DB2-BD59-A6C34878D82A}">
                    <a16:rowId xmlns:a16="http://schemas.microsoft.com/office/drawing/2014/main" val="10002"/>
                  </a:ext>
                </a:extLst>
              </a:tr>
              <a:tr h="17750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latin typeface="Arial" panose="020B0604020202020204" pitchFamily="34" charset="0"/>
                          <a:cs typeface="Arial" panose="020B0604020202020204" pitchFamily="34" charset="0"/>
                        </a:rPr>
                        <a:t>Energy &amp; Utilities/Wood</a:t>
                      </a:r>
                      <a:endParaRPr lang="en-US" sz="1400" dirty="0"/>
                    </a:p>
                  </a:txBody>
                  <a:tcPr>
                    <a:noFill/>
                  </a:tcPr>
                </a:tc>
                <a:tc>
                  <a:txBody>
                    <a:bodyPr/>
                    <a:lstStyle/>
                    <a:p>
                      <a:pPr algn="ctr"/>
                      <a:r>
                        <a:rPr lang="en-US" sz="1400" dirty="0">
                          <a:solidFill>
                            <a:schemeClr val="bg1"/>
                          </a:solidFill>
                          <a:latin typeface="Arial" panose="020B0604020202020204" pitchFamily="34" charset="0"/>
                          <a:cs typeface="Arial" panose="020B0604020202020204" pitchFamily="34" charset="0"/>
                        </a:rPr>
                        <a:t>₹10,000</a:t>
                      </a:r>
                    </a:p>
                  </a:txBody>
                  <a:tcPr>
                    <a:noFill/>
                  </a:tcPr>
                </a:tc>
                <a:extLst>
                  <a:ext uri="{0D108BD9-81ED-4DB2-BD59-A6C34878D82A}">
                    <a16:rowId xmlns:a16="http://schemas.microsoft.com/office/drawing/2014/main" val="10003"/>
                  </a:ext>
                </a:extLst>
              </a:tr>
              <a:tr h="177507">
                <a:tc>
                  <a:txBody>
                    <a:bodyPr/>
                    <a:lstStyle/>
                    <a:p>
                      <a:r>
                        <a:rPr lang="en-US" sz="1400" b="0" dirty="0">
                          <a:solidFill>
                            <a:schemeClr val="bg1"/>
                          </a:solidFill>
                          <a:latin typeface="Arial" panose="020B0604020202020204" pitchFamily="34" charset="0"/>
                          <a:cs typeface="Arial" panose="020B0604020202020204" pitchFamily="34" charset="0"/>
                        </a:rPr>
                        <a:t>Operating Cost/Packaging</a:t>
                      </a:r>
                      <a:r>
                        <a:rPr lang="en-US" sz="1400" b="0" baseline="0" dirty="0">
                          <a:solidFill>
                            <a:schemeClr val="bg1"/>
                          </a:solidFill>
                          <a:latin typeface="Arial" panose="020B0604020202020204" pitchFamily="34" charset="0"/>
                          <a:cs typeface="Arial" panose="020B0604020202020204" pitchFamily="34" charset="0"/>
                        </a:rPr>
                        <a:t> etc</a:t>
                      </a:r>
                      <a:endParaRPr lang="en-US" sz="1400" b="0" dirty="0">
                        <a:solidFill>
                          <a:schemeClr val="bg1"/>
                        </a:solidFill>
                        <a:latin typeface="Arial" panose="020B0604020202020204" pitchFamily="34" charset="0"/>
                        <a:cs typeface="Arial" panose="020B0604020202020204" pitchFamily="34"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latin typeface="Arial" panose="020B0604020202020204" pitchFamily="34" charset="0"/>
                          <a:cs typeface="Arial" panose="020B0604020202020204" pitchFamily="34" charset="0"/>
                        </a:rPr>
                        <a:t>₹10,000</a:t>
                      </a:r>
                    </a:p>
                  </a:txBody>
                  <a:tcPr>
                    <a:noFill/>
                  </a:tcPr>
                </a:tc>
                <a:extLst>
                  <a:ext uri="{0D108BD9-81ED-4DB2-BD59-A6C34878D82A}">
                    <a16:rowId xmlns:a16="http://schemas.microsoft.com/office/drawing/2014/main" val="10004"/>
                  </a:ext>
                </a:extLst>
              </a:tr>
              <a:tr h="177507">
                <a:tc>
                  <a:txBody>
                    <a:bodyPr/>
                    <a:lstStyle/>
                    <a:p>
                      <a:r>
                        <a:rPr lang="en-US" sz="1400" dirty="0">
                          <a:solidFill>
                            <a:schemeClr val="bg1"/>
                          </a:solidFill>
                          <a:latin typeface="Arial" panose="020B0604020202020204" pitchFamily="34" charset="0"/>
                          <a:cs typeface="Arial" panose="020B0604020202020204" pitchFamily="34" charset="0"/>
                        </a:rPr>
                        <a:t>Finance Cost/Maintenance</a:t>
                      </a:r>
                      <a:endParaRPr lang="en-US" sz="1400" dirty="0"/>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latin typeface="Arial" panose="020B0604020202020204" pitchFamily="34" charset="0"/>
                          <a:cs typeface="Arial" panose="020B0604020202020204" pitchFamily="34" charset="0"/>
                        </a:rPr>
                        <a:t>₹12,000</a:t>
                      </a:r>
                    </a:p>
                  </a:txBody>
                  <a:tcPr>
                    <a:noFill/>
                  </a:tcPr>
                </a:tc>
                <a:extLst>
                  <a:ext uri="{0D108BD9-81ED-4DB2-BD59-A6C34878D82A}">
                    <a16:rowId xmlns:a16="http://schemas.microsoft.com/office/drawing/2014/main" val="10005"/>
                  </a:ext>
                </a:extLst>
              </a:tr>
              <a:tr h="177507">
                <a:tc>
                  <a:txBody>
                    <a:bodyPr/>
                    <a:lstStyle/>
                    <a:p>
                      <a:r>
                        <a:rPr lang="en-US" sz="1400" dirty="0">
                          <a:solidFill>
                            <a:schemeClr val="bg1"/>
                          </a:solidFill>
                          <a:latin typeface="Arial" panose="020B0604020202020204" pitchFamily="34" charset="0"/>
                          <a:cs typeface="Arial" panose="020B0604020202020204" pitchFamily="34" charset="0"/>
                        </a:rPr>
                        <a:t>Marketing Expenses (1% of billing amount)</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latin typeface="Arial" panose="020B0604020202020204" pitchFamily="34" charset="0"/>
                          <a:cs typeface="Arial" panose="020B0604020202020204" pitchFamily="34" charset="0"/>
                        </a:rPr>
                        <a:t>  ₹ 3000</a:t>
                      </a:r>
                    </a:p>
                  </a:txBody>
                  <a:tcPr>
                    <a:noFill/>
                  </a:tcPr>
                </a:tc>
                <a:extLst>
                  <a:ext uri="{0D108BD9-81ED-4DB2-BD59-A6C34878D82A}">
                    <a16:rowId xmlns:a16="http://schemas.microsoft.com/office/drawing/2014/main" val="1817688999"/>
                  </a:ext>
                </a:extLst>
              </a:tr>
            </a:tbl>
          </a:graphicData>
        </a:graphic>
      </p:graphicFrame>
      <p:sp>
        <p:nvSpPr>
          <p:cNvPr id="40" name="Rectangle 39"/>
          <p:cNvSpPr/>
          <p:nvPr/>
        </p:nvSpPr>
        <p:spPr>
          <a:xfrm>
            <a:off x="1383957" y="1870469"/>
            <a:ext cx="9424086" cy="369332"/>
          </a:xfrm>
          <a:prstGeom prst="rect">
            <a:avLst/>
          </a:prstGeom>
        </p:spPr>
        <p:txBody>
          <a:bodyPr wrap="square">
            <a:spAutoFit/>
          </a:bodyPr>
          <a:lstStyle/>
          <a:p>
            <a:pPr algn="ctr"/>
            <a:r>
              <a:rPr lang="en-US" b="1" dirty="0">
                <a:solidFill>
                  <a:srgbClr val="FFFF00"/>
                </a:solidFill>
                <a:latin typeface="Bricolage Grotesque 14pt" panose="020B0605040402000204" pitchFamily="34" charset="0"/>
              </a:rPr>
              <a:t>Thus, the monthly gross profit will be (a) </a:t>
            </a:r>
            <a:r>
              <a:rPr lang="en-US" b="1" dirty="0">
                <a:solidFill>
                  <a:srgbClr val="FFFF00"/>
                </a:solidFill>
                <a:latin typeface="Arial" panose="020B0604020202020204" pitchFamily="34" charset="0"/>
                <a:cs typeface="Arial" panose="020B0604020202020204" pitchFamily="34" charset="0"/>
              </a:rPr>
              <a:t>₹</a:t>
            </a:r>
            <a:r>
              <a:rPr lang="en-US" b="1" dirty="0">
                <a:solidFill>
                  <a:srgbClr val="FFFF00"/>
                </a:solidFill>
                <a:latin typeface="Bricolage Grotesque 14pt" panose="020B0605040402000204" pitchFamily="34" charset="0"/>
              </a:rPr>
              <a:t>3,00,000 – (b) </a:t>
            </a:r>
            <a:r>
              <a:rPr lang="en-US" b="1" dirty="0">
                <a:solidFill>
                  <a:srgbClr val="FFFF00"/>
                </a:solidFill>
                <a:latin typeface="Arial" panose="020B0604020202020204" pitchFamily="34" charset="0"/>
                <a:cs typeface="Arial" panose="020B0604020202020204" pitchFamily="34" charset="0"/>
              </a:rPr>
              <a:t>₹</a:t>
            </a:r>
            <a:r>
              <a:rPr lang="en-US" b="1" dirty="0">
                <a:solidFill>
                  <a:srgbClr val="FFFF00"/>
                </a:solidFill>
                <a:latin typeface="Bricolage Grotesque 14pt" panose="020B0605040402000204" pitchFamily="34" charset="0"/>
              </a:rPr>
              <a:t>1,50,000 = (c) </a:t>
            </a:r>
            <a:r>
              <a:rPr lang="en-US" b="1" dirty="0">
                <a:solidFill>
                  <a:srgbClr val="FFFF00"/>
                </a:solidFill>
                <a:latin typeface="Arial" panose="020B0604020202020204" pitchFamily="34" charset="0"/>
                <a:cs typeface="Arial" panose="020B0604020202020204" pitchFamily="34" charset="0"/>
              </a:rPr>
              <a:t>₹</a:t>
            </a:r>
            <a:r>
              <a:rPr lang="en-US" b="1" dirty="0">
                <a:solidFill>
                  <a:srgbClr val="FFFF00"/>
                </a:solidFill>
                <a:latin typeface="Bricolage Grotesque 14pt" panose="020B0605040402000204" pitchFamily="34" charset="0"/>
              </a:rPr>
              <a:t>1,50,000</a:t>
            </a:r>
          </a:p>
        </p:txBody>
      </p:sp>
      <p:sp>
        <p:nvSpPr>
          <p:cNvPr id="10" name="Rectangle 9">
            <a:extLst>
              <a:ext uri="{FF2B5EF4-FFF2-40B4-BE49-F238E27FC236}">
                <a16:creationId xmlns:a16="http://schemas.microsoft.com/office/drawing/2014/main" id="{5C40F596-BBEB-6BC7-789C-FB7AF2BE86DE}"/>
              </a:ext>
            </a:extLst>
          </p:cNvPr>
          <p:cNvSpPr/>
          <p:nvPr/>
        </p:nvSpPr>
        <p:spPr>
          <a:xfrm>
            <a:off x="1219200" y="1834696"/>
            <a:ext cx="9753600" cy="422791"/>
          </a:xfrm>
          <a:prstGeom prst="rect">
            <a:avLst/>
          </a:prstGeom>
          <a:noFill/>
          <a:ln w="9525">
            <a:solidFill>
              <a:srgbClr val="16DB65"/>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Open Sans" panose="020B0606030504020204" pitchFamily="34" charset="0"/>
            </a:endParaRPr>
          </a:p>
        </p:txBody>
      </p:sp>
      <p:grpSp>
        <p:nvGrpSpPr>
          <p:cNvPr id="12" name="Group 11"/>
          <p:cNvGrpSpPr/>
          <p:nvPr/>
        </p:nvGrpSpPr>
        <p:grpSpPr>
          <a:xfrm>
            <a:off x="1332306" y="5283767"/>
            <a:ext cx="9753600" cy="868391"/>
            <a:chOff x="766032" y="4778854"/>
            <a:chExt cx="16150361" cy="1748941"/>
          </a:xfrm>
        </p:grpSpPr>
        <p:sp>
          <p:nvSpPr>
            <p:cNvPr id="13" name="Rectangle 12">
              <a:extLst>
                <a:ext uri="{FF2B5EF4-FFF2-40B4-BE49-F238E27FC236}">
                  <a16:creationId xmlns:a16="http://schemas.microsoft.com/office/drawing/2014/main" id="{F8F14494-17BF-2306-007C-0E44E7EC7CEB}"/>
                </a:ext>
              </a:extLst>
            </p:cNvPr>
            <p:cNvSpPr/>
            <p:nvPr/>
          </p:nvSpPr>
          <p:spPr>
            <a:xfrm>
              <a:off x="766032" y="5375379"/>
              <a:ext cx="1238245" cy="1152416"/>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874758" y="4778854"/>
              <a:ext cx="16041635" cy="1616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p:cNvSpPr txBox="1"/>
          <p:nvPr/>
        </p:nvSpPr>
        <p:spPr>
          <a:xfrm>
            <a:off x="1914380" y="5364020"/>
            <a:ext cx="9111048" cy="707886"/>
          </a:xfrm>
          <a:prstGeom prst="rect">
            <a:avLst/>
          </a:prstGeom>
          <a:noFill/>
        </p:spPr>
        <p:txBody>
          <a:bodyPr wrap="square" rtlCol="0">
            <a:spAutoFit/>
          </a:bodyPr>
          <a:lstStyle/>
          <a:p>
            <a:pPr algn="ctr"/>
            <a:r>
              <a:rPr lang="en-US" sz="2000" b="1" dirty="0">
                <a:solidFill>
                  <a:srgbClr val="060607"/>
                </a:solidFill>
                <a:latin typeface="Bricolage Grotesque 14pt" panose="020B0605040402000204" pitchFamily="34" charset="0"/>
              </a:rPr>
              <a:t>Therefore, the net monthly profit from the Trolley operation alone is</a:t>
            </a:r>
          </a:p>
          <a:p>
            <a:pPr algn="ctr"/>
            <a:r>
              <a:rPr lang="pt-BR" sz="2000" dirty="0">
                <a:solidFill>
                  <a:schemeClr val="tx1">
                    <a:lumMod val="65000"/>
                    <a:lumOff val="35000"/>
                  </a:schemeClr>
                </a:solidFill>
                <a:latin typeface="Arial" panose="020B0604020202020204" pitchFamily="34" charset="0"/>
                <a:cs typeface="Arial" panose="020B0604020202020204" pitchFamily="34" charset="0"/>
              </a:rPr>
              <a:t>(c)</a:t>
            </a:r>
            <a:r>
              <a:rPr lang="pt-BR" sz="2000" dirty="0">
                <a:solidFill>
                  <a:srgbClr val="F95050"/>
                </a:solidFill>
                <a:latin typeface="Arial" panose="020B0604020202020204" pitchFamily="34" charset="0"/>
                <a:cs typeface="Arial" panose="020B0604020202020204" pitchFamily="34" charset="0"/>
              </a:rPr>
              <a:t>₹</a:t>
            </a:r>
            <a:r>
              <a:rPr lang="pt-BR" sz="2000" b="1" dirty="0">
                <a:solidFill>
                  <a:srgbClr val="F95050"/>
                </a:solidFill>
                <a:latin typeface="Arial" panose="020B0604020202020204" pitchFamily="34" charset="0"/>
                <a:cs typeface="Arial" panose="020B0604020202020204" pitchFamily="34" charset="0"/>
              </a:rPr>
              <a:t>1,50,000 – </a:t>
            </a:r>
            <a:r>
              <a:rPr lang="pt-BR" sz="2000" dirty="0">
                <a:solidFill>
                  <a:schemeClr val="tx1">
                    <a:lumMod val="65000"/>
                    <a:lumOff val="35000"/>
                  </a:schemeClr>
                </a:solidFill>
                <a:latin typeface="Arial" panose="020B0604020202020204" pitchFamily="34" charset="0"/>
                <a:cs typeface="Arial" panose="020B0604020202020204" pitchFamily="34" charset="0"/>
              </a:rPr>
              <a:t>(d)</a:t>
            </a:r>
            <a:r>
              <a:rPr lang="pt-BR" sz="2000" dirty="0">
                <a:solidFill>
                  <a:srgbClr val="F95050"/>
                </a:solidFill>
                <a:latin typeface="Arial" panose="020B0604020202020204" pitchFamily="34" charset="0"/>
                <a:cs typeface="Arial" panose="020B0604020202020204" pitchFamily="34" charset="0"/>
              </a:rPr>
              <a:t>₹</a:t>
            </a:r>
            <a:r>
              <a:rPr lang="pt-BR" sz="2000" b="1" dirty="0">
                <a:solidFill>
                  <a:srgbClr val="F95050"/>
                </a:solidFill>
                <a:latin typeface="Arial" panose="020B0604020202020204" pitchFamily="34" charset="0"/>
                <a:cs typeface="Arial" panose="020B0604020202020204" pitchFamily="34" charset="0"/>
              </a:rPr>
              <a:t>60,000 = </a:t>
            </a:r>
            <a:r>
              <a:rPr lang="pt-BR" sz="2000" dirty="0">
                <a:solidFill>
                  <a:schemeClr val="tx1">
                    <a:lumMod val="65000"/>
                    <a:lumOff val="35000"/>
                  </a:schemeClr>
                </a:solidFill>
                <a:latin typeface="Arial" panose="020B0604020202020204" pitchFamily="34" charset="0"/>
                <a:cs typeface="Arial" panose="020B0604020202020204" pitchFamily="34" charset="0"/>
              </a:rPr>
              <a:t>(i)</a:t>
            </a:r>
            <a:r>
              <a:rPr lang="pt-BR" sz="2000" dirty="0">
                <a:solidFill>
                  <a:srgbClr val="F95050"/>
                </a:solidFill>
                <a:latin typeface="Arial" panose="020B0604020202020204" pitchFamily="34" charset="0"/>
                <a:cs typeface="Arial" panose="020B0604020202020204" pitchFamily="34" charset="0"/>
              </a:rPr>
              <a:t>₹</a:t>
            </a:r>
            <a:r>
              <a:rPr lang="pt-BR" sz="2000" b="1" dirty="0">
                <a:solidFill>
                  <a:srgbClr val="F95050"/>
                </a:solidFill>
                <a:latin typeface="Arial" panose="020B0604020202020204" pitchFamily="34" charset="0"/>
                <a:cs typeface="Arial" panose="020B0604020202020204" pitchFamily="34" charset="0"/>
              </a:rPr>
              <a:t>90,000/- pm </a:t>
            </a:r>
            <a:r>
              <a:rPr lang="pt-BR" sz="1200" b="1" dirty="0">
                <a:solidFill>
                  <a:srgbClr val="F95050"/>
                </a:solidFill>
                <a:latin typeface="Arial" panose="020B0604020202020204" pitchFamily="34" charset="0"/>
                <a:cs typeface="Arial" panose="020B0604020202020204" pitchFamily="34" charset="0"/>
              </a:rPr>
              <a:t>(Approx)</a:t>
            </a:r>
            <a:endParaRPr lang="en-US" sz="2000" b="1" dirty="0">
              <a:solidFill>
                <a:srgbClr val="F95050"/>
              </a:solidFill>
              <a:latin typeface="Bricolage Grotesque 14pt" panose="020B0605040402000204" pitchFamily="34" charset="0"/>
            </a:endParaRPr>
          </a:p>
        </p:txBody>
      </p:sp>
      <p:sp>
        <p:nvSpPr>
          <p:cNvPr id="2" name="TextBox 1">
            <a:extLst>
              <a:ext uri="{FF2B5EF4-FFF2-40B4-BE49-F238E27FC236}">
                <a16:creationId xmlns:a16="http://schemas.microsoft.com/office/drawing/2014/main" id="{8B0FBCE6-3110-A823-366A-4DE7D4E280B0}"/>
              </a:ext>
            </a:extLst>
          </p:cNvPr>
          <p:cNvSpPr txBox="1"/>
          <p:nvPr/>
        </p:nvSpPr>
        <p:spPr>
          <a:xfrm>
            <a:off x="5934075" y="6338380"/>
            <a:ext cx="8600302" cy="261610"/>
          </a:xfrm>
          <a:prstGeom prst="rect">
            <a:avLst/>
          </a:prstGeom>
          <a:noFill/>
        </p:spPr>
        <p:txBody>
          <a:bodyPr wrap="square" rtlCol="0">
            <a:spAutoFit/>
          </a:bodyPr>
          <a:lstStyle/>
          <a:p>
            <a:pPr algn="ctr"/>
            <a:r>
              <a:rPr lang="en-US" sz="1050" b="1" dirty="0">
                <a:solidFill>
                  <a:srgbClr val="F95050"/>
                </a:solidFill>
                <a:latin typeface="Bricolage Grotesque 14pt" panose="020B0605040402000204" pitchFamily="34" charset="0"/>
              </a:rPr>
              <a:t>This figure is only for illustration purpose actual may vary </a:t>
            </a:r>
          </a:p>
        </p:txBody>
      </p:sp>
    </p:spTree>
    <p:extLst>
      <p:ext uri="{BB962C8B-B14F-4D97-AF65-F5344CB8AC3E}">
        <p14:creationId xmlns:p14="http://schemas.microsoft.com/office/powerpoint/2010/main" val="1631221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additive="base">
                                        <p:cTn id="19" dur="500" fill="hold"/>
                                        <p:tgtEl>
                                          <p:spTgt spid="40"/>
                                        </p:tgtEl>
                                        <p:attrNameLst>
                                          <p:attrName>ppt_x</p:attrName>
                                        </p:attrNameLst>
                                      </p:cBhvr>
                                      <p:tavLst>
                                        <p:tav tm="0">
                                          <p:val>
                                            <p:strVal val="#ppt_x"/>
                                          </p:val>
                                        </p:tav>
                                        <p:tav tm="100000">
                                          <p:val>
                                            <p:strVal val="#ppt_x"/>
                                          </p:val>
                                        </p:tav>
                                      </p:tavLst>
                                    </p:anim>
                                    <p:anim calcmode="lin" valueType="num">
                                      <p:cBhvr additive="base">
                                        <p:cTn id="20"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anim calcmode="lin" valueType="num">
                                      <p:cBhvr additive="base">
                                        <p:cTn id="25" dur="500" fill="hold"/>
                                        <p:tgtEl>
                                          <p:spTgt spid="35"/>
                                        </p:tgtEl>
                                        <p:attrNameLst>
                                          <p:attrName>ppt_x</p:attrName>
                                        </p:attrNameLst>
                                      </p:cBhvr>
                                      <p:tavLst>
                                        <p:tav tm="0">
                                          <p:val>
                                            <p:strVal val="#ppt_x"/>
                                          </p:val>
                                        </p:tav>
                                        <p:tav tm="100000">
                                          <p:val>
                                            <p:strVal val="#ppt_x"/>
                                          </p:val>
                                        </p:tav>
                                      </p:tavLst>
                                    </p:anim>
                                    <p:anim calcmode="lin" valueType="num">
                                      <p:cBhvr additive="base">
                                        <p:cTn id="26"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additive="base">
                                        <p:cTn id="39" dur="500" fill="hold"/>
                                        <p:tgtEl>
                                          <p:spTgt spid="2"/>
                                        </p:tgtEl>
                                        <p:attrNameLst>
                                          <p:attrName>ppt_x</p:attrName>
                                        </p:attrNameLst>
                                      </p:cBhvr>
                                      <p:tavLst>
                                        <p:tav tm="0">
                                          <p:val>
                                            <p:strVal val="1+#ppt_w/2"/>
                                          </p:val>
                                        </p:tav>
                                        <p:tav tm="100000">
                                          <p:val>
                                            <p:strVal val="#ppt_x"/>
                                          </p:val>
                                        </p:tav>
                                      </p:tavLst>
                                    </p:anim>
                                    <p:anim calcmode="lin" valueType="num">
                                      <p:cBhvr additive="base">
                                        <p:cTn id="40"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40" grpId="0"/>
      <p:bldP spid="10" grpId="0" animBg="1"/>
      <p:bldP spid="15" grpId="0"/>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5379547-FCB2-21BB-1A0F-52E04C34E3A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AFCAF9B-DF15-2FE0-192B-28FBCB67C9F4}"/>
              </a:ext>
            </a:extLst>
          </p:cNvPr>
          <p:cNvSpPr/>
          <p:nvPr/>
        </p:nvSpPr>
        <p:spPr>
          <a:xfrm>
            <a:off x="4786413" y="4751840"/>
            <a:ext cx="1599202" cy="933842"/>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rgbClr val="16DB65"/>
              </a:solidFill>
            </a:endParaRPr>
          </a:p>
        </p:txBody>
      </p:sp>
      <p:sp>
        <p:nvSpPr>
          <p:cNvPr id="7" name="Rectangle 6">
            <a:extLst>
              <a:ext uri="{FF2B5EF4-FFF2-40B4-BE49-F238E27FC236}">
                <a16:creationId xmlns:a16="http://schemas.microsoft.com/office/drawing/2014/main" id="{87E95E20-F0BB-757E-A1C1-40F5CF00F9F3}"/>
              </a:ext>
            </a:extLst>
          </p:cNvPr>
          <p:cNvSpPr/>
          <p:nvPr/>
        </p:nvSpPr>
        <p:spPr>
          <a:xfrm>
            <a:off x="1292729" y="2854734"/>
            <a:ext cx="1599202" cy="933842"/>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rgbClr val="16DB65"/>
              </a:solidFill>
            </a:endParaRPr>
          </a:p>
        </p:txBody>
      </p:sp>
      <p:sp>
        <p:nvSpPr>
          <p:cNvPr id="8" name="Rectangle 7">
            <a:extLst>
              <a:ext uri="{FF2B5EF4-FFF2-40B4-BE49-F238E27FC236}">
                <a16:creationId xmlns:a16="http://schemas.microsoft.com/office/drawing/2014/main" id="{968C7445-BDBD-F797-6414-784F839CD414}"/>
              </a:ext>
            </a:extLst>
          </p:cNvPr>
          <p:cNvSpPr/>
          <p:nvPr/>
        </p:nvSpPr>
        <p:spPr>
          <a:xfrm>
            <a:off x="1420375" y="2988126"/>
            <a:ext cx="2443494" cy="1435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latin typeface="Bricolage Grotesque 14pt" panose="020B0605040402000204"/>
              </a:rPr>
              <a:t>24+ Brands under 1 roof</a:t>
            </a:r>
          </a:p>
        </p:txBody>
      </p:sp>
      <p:sp>
        <p:nvSpPr>
          <p:cNvPr id="30" name="Rectangle 29">
            <a:extLst>
              <a:ext uri="{FF2B5EF4-FFF2-40B4-BE49-F238E27FC236}">
                <a16:creationId xmlns:a16="http://schemas.microsoft.com/office/drawing/2014/main" id="{A4B279F6-CD19-BBB4-F58D-2276589746D4}"/>
              </a:ext>
            </a:extLst>
          </p:cNvPr>
          <p:cNvSpPr/>
          <p:nvPr/>
        </p:nvSpPr>
        <p:spPr>
          <a:xfrm>
            <a:off x="4752650" y="2854734"/>
            <a:ext cx="1599202" cy="933841"/>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rgbClr val="16DB65"/>
              </a:solidFill>
            </a:endParaRPr>
          </a:p>
        </p:txBody>
      </p:sp>
      <p:sp>
        <p:nvSpPr>
          <p:cNvPr id="32" name="Rectangle 31">
            <a:extLst>
              <a:ext uri="{FF2B5EF4-FFF2-40B4-BE49-F238E27FC236}">
                <a16:creationId xmlns:a16="http://schemas.microsoft.com/office/drawing/2014/main" id="{74780D35-F1B8-4A62-E9F0-27BDD8CF94C4}"/>
              </a:ext>
            </a:extLst>
          </p:cNvPr>
          <p:cNvSpPr/>
          <p:nvPr/>
        </p:nvSpPr>
        <p:spPr>
          <a:xfrm>
            <a:off x="4874253" y="2992981"/>
            <a:ext cx="2443494" cy="14351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Food prepared by 5 star chef best utilization of vacant space at commercial spaces</a:t>
            </a:r>
          </a:p>
        </p:txBody>
      </p:sp>
      <p:sp>
        <p:nvSpPr>
          <p:cNvPr id="35" name="Rectangle 34">
            <a:extLst>
              <a:ext uri="{FF2B5EF4-FFF2-40B4-BE49-F238E27FC236}">
                <a16:creationId xmlns:a16="http://schemas.microsoft.com/office/drawing/2014/main" id="{B28E1188-2EEE-0D36-D3C8-7DB472E196A8}"/>
              </a:ext>
            </a:extLst>
          </p:cNvPr>
          <p:cNvSpPr/>
          <p:nvPr/>
        </p:nvSpPr>
        <p:spPr>
          <a:xfrm>
            <a:off x="8289685" y="2840598"/>
            <a:ext cx="1599202" cy="933842"/>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rgbClr val="16DB65"/>
              </a:solidFill>
            </a:endParaRPr>
          </a:p>
        </p:txBody>
      </p:sp>
      <p:sp>
        <p:nvSpPr>
          <p:cNvPr id="36" name="Rectangle 35">
            <a:extLst>
              <a:ext uri="{FF2B5EF4-FFF2-40B4-BE49-F238E27FC236}">
                <a16:creationId xmlns:a16="http://schemas.microsoft.com/office/drawing/2014/main" id="{8BB3C45D-1E16-014B-FCB7-1E4E80CBDB78}"/>
              </a:ext>
            </a:extLst>
          </p:cNvPr>
          <p:cNvSpPr/>
          <p:nvPr/>
        </p:nvSpPr>
        <p:spPr>
          <a:xfrm>
            <a:off x="8455777" y="2992980"/>
            <a:ext cx="2443494" cy="1435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latin typeface="Bricolage Grotesque 14pt" panose="020B0605040402000204"/>
              </a:rPr>
              <a:t>5 Start taste at street food rate</a:t>
            </a:r>
          </a:p>
        </p:txBody>
      </p:sp>
      <p:sp>
        <p:nvSpPr>
          <p:cNvPr id="39" name="Rectangle 38">
            <a:extLst>
              <a:ext uri="{FF2B5EF4-FFF2-40B4-BE49-F238E27FC236}">
                <a16:creationId xmlns:a16="http://schemas.microsoft.com/office/drawing/2014/main" id="{F75C9BA5-A2F7-779A-C9DE-6D09D458E8BF}"/>
              </a:ext>
            </a:extLst>
          </p:cNvPr>
          <p:cNvSpPr/>
          <p:nvPr/>
        </p:nvSpPr>
        <p:spPr>
          <a:xfrm>
            <a:off x="8280097" y="4751840"/>
            <a:ext cx="1599202" cy="933842"/>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rgbClr val="16DB65"/>
              </a:solidFill>
            </a:endParaRPr>
          </a:p>
        </p:txBody>
      </p:sp>
      <p:sp>
        <p:nvSpPr>
          <p:cNvPr id="40" name="Rectangle 39">
            <a:extLst>
              <a:ext uri="{FF2B5EF4-FFF2-40B4-BE49-F238E27FC236}">
                <a16:creationId xmlns:a16="http://schemas.microsoft.com/office/drawing/2014/main" id="{F363BDB8-1D26-A0E3-6BEC-F984FB8F4A81}"/>
              </a:ext>
            </a:extLst>
          </p:cNvPr>
          <p:cNvSpPr/>
          <p:nvPr/>
        </p:nvSpPr>
        <p:spPr>
          <a:xfrm>
            <a:off x="8455777" y="4874026"/>
            <a:ext cx="2443494" cy="1435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Best utilization of vacant space at commercial spaces</a:t>
            </a:r>
            <a:endParaRPr lang="en-US" sz="1600" b="1" dirty="0">
              <a:solidFill>
                <a:srgbClr val="FF0000"/>
              </a:solidFill>
              <a:latin typeface="Bricolage Grotesque 14pt" panose="020B0605040402000204"/>
            </a:endParaRPr>
          </a:p>
        </p:txBody>
      </p:sp>
      <p:sp>
        <p:nvSpPr>
          <p:cNvPr id="56" name="Rectangle 55">
            <a:extLst>
              <a:ext uri="{FF2B5EF4-FFF2-40B4-BE49-F238E27FC236}">
                <a16:creationId xmlns:a16="http://schemas.microsoft.com/office/drawing/2014/main" id="{E98E27C1-601E-EFE3-AC61-38C9EF468D35}"/>
              </a:ext>
            </a:extLst>
          </p:cNvPr>
          <p:cNvSpPr/>
          <p:nvPr/>
        </p:nvSpPr>
        <p:spPr>
          <a:xfrm>
            <a:off x="1292729" y="4751840"/>
            <a:ext cx="1599202" cy="933842"/>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6DB65"/>
              </a:solidFill>
            </a:endParaRPr>
          </a:p>
        </p:txBody>
      </p:sp>
      <p:sp>
        <p:nvSpPr>
          <p:cNvPr id="57" name="Rectangle 56">
            <a:extLst>
              <a:ext uri="{FF2B5EF4-FFF2-40B4-BE49-F238E27FC236}">
                <a16:creationId xmlns:a16="http://schemas.microsoft.com/office/drawing/2014/main" id="{ACAE0915-2D63-9353-39B2-E228FDE410B4}"/>
              </a:ext>
            </a:extLst>
          </p:cNvPr>
          <p:cNvSpPr/>
          <p:nvPr/>
        </p:nvSpPr>
        <p:spPr>
          <a:xfrm>
            <a:off x="1439598" y="4874027"/>
            <a:ext cx="2443494" cy="1435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Bricolage Grotesque 14pt" panose="020B0605040402000204"/>
              </a:rPr>
              <a:t>The most hygienic food on a trolley, with quality at par with a five-star menu.</a:t>
            </a:r>
          </a:p>
        </p:txBody>
      </p:sp>
      <p:sp>
        <p:nvSpPr>
          <p:cNvPr id="2" name="TextBox 1">
            <a:extLst>
              <a:ext uri="{FF2B5EF4-FFF2-40B4-BE49-F238E27FC236}">
                <a16:creationId xmlns:a16="http://schemas.microsoft.com/office/drawing/2014/main" id="{878E3D0B-8232-5EF0-187E-EF207FF94706}"/>
              </a:ext>
            </a:extLst>
          </p:cNvPr>
          <p:cNvSpPr txBox="1"/>
          <p:nvPr/>
        </p:nvSpPr>
        <p:spPr>
          <a:xfrm>
            <a:off x="1972721" y="169291"/>
            <a:ext cx="8246558" cy="707886"/>
          </a:xfrm>
          <a:prstGeom prst="rect">
            <a:avLst/>
          </a:prstGeom>
          <a:noFill/>
        </p:spPr>
        <p:txBody>
          <a:bodyPr wrap="square" rtlCol="0">
            <a:spAutoFit/>
          </a:bodyPr>
          <a:lstStyle/>
          <a:p>
            <a:pPr lvl="0" algn="ctr">
              <a:defRPr/>
            </a:pPr>
            <a:r>
              <a:rPr kumimoji="0" lang="en-US" sz="4000" b="1" i="0" u="none" strike="noStrike" kern="1200" cap="none" spc="0" normalizeH="0" baseline="0" noProof="0" dirty="0">
                <a:ln>
                  <a:noFill/>
                </a:ln>
                <a:solidFill>
                  <a:srgbClr val="16DB65"/>
                </a:solidFill>
                <a:effectLst/>
                <a:uLnTx/>
                <a:uFillTx/>
                <a:latin typeface="Bricolage Grotesque 14pt" panose="020B0605040402000204" pitchFamily="34" charset="0"/>
                <a:ea typeface="Roboto" panose="02000000000000000000" pitchFamily="2" charset="0"/>
                <a:cs typeface="Heebo" pitchFamily="2" charset="-79"/>
              </a:rPr>
              <a:t> </a:t>
            </a:r>
            <a:r>
              <a:rPr kumimoji="0" lang="en-US" sz="3600" b="1" i="0" u="none" strike="noStrike" kern="1200" cap="none" spc="0" normalizeH="0" baseline="0" noProof="0" dirty="0">
                <a:ln>
                  <a:noFill/>
                </a:ln>
                <a:solidFill>
                  <a:srgbClr val="16DB65"/>
                </a:solidFill>
                <a:effectLst/>
                <a:uLnTx/>
                <a:uFillTx/>
                <a:latin typeface="Bricolage Grotesque 14pt" panose="020B0605040402000204" pitchFamily="34" charset="0"/>
                <a:ea typeface="Roboto" panose="02000000000000000000" pitchFamily="2" charset="0"/>
                <a:cs typeface="Heebo" pitchFamily="2" charset="-79"/>
              </a:rPr>
              <a:t>Food Court </a:t>
            </a:r>
            <a:r>
              <a:rPr lang="en-US" sz="3600" b="1" dirty="0">
                <a:solidFill>
                  <a:srgbClr val="16DB65"/>
                </a:solidFill>
                <a:latin typeface="Bricolage Grotesque 14pt" panose="020B0605040402000204" pitchFamily="34" charset="0"/>
                <a:ea typeface="Roboto" panose="02000000000000000000" pitchFamily="2" charset="0"/>
                <a:cs typeface="Heebo" pitchFamily="2" charset="-79"/>
              </a:rPr>
              <a:t>Franchise</a:t>
            </a:r>
            <a:endParaRPr lang="en-US" sz="3600" dirty="0"/>
          </a:p>
        </p:txBody>
      </p:sp>
      <p:sp>
        <p:nvSpPr>
          <p:cNvPr id="4" name="TextBox 3">
            <a:extLst>
              <a:ext uri="{FF2B5EF4-FFF2-40B4-BE49-F238E27FC236}">
                <a16:creationId xmlns:a16="http://schemas.microsoft.com/office/drawing/2014/main" id="{33611963-79FB-35D0-254F-BAEB351C2ED5}"/>
              </a:ext>
            </a:extLst>
          </p:cNvPr>
          <p:cNvSpPr txBox="1"/>
          <p:nvPr/>
        </p:nvSpPr>
        <p:spPr>
          <a:xfrm>
            <a:off x="434317" y="948797"/>
            <a:ext cx="11384544" cy="1754326"/>
          </a:xfrm>
          <a:prstGeom prst="rect">
            <a:avLst/>
          </a:prstGeom>
          <a:noFill/>
        </p:spPr>
        <p:txBody>
          <a:bodyPr wrap="square" rtlCol="0">
            <a:spAutoFit/>
          </a:bodyPr>
          <a:lstStyle/>
          <a:p>
            <a:pPr marL="285750" lvl="0" indent="-285750">
              <a:buFont typeface="Wingdings" panose="05000000000000000000" pitchFamily="2" charset="2"/>
              <a:buChar char="§"/>
            </a:pPr>
            <a:r>
              <a:rPr lang="en-IN" b="1" dirty="0">
                <a:solidFill>
                  <a:srgbClr val="FFFF00"/>
                </a:solidFill>
              </a:rPr>
              <a:t>Food Court is a dynamic food court featuring a wide range of food stalls, offering both vegetarian and non-vegetarian options.</a:t>
            </a:r>
          </a:p>
          <a:p>
            <a:pPr marL="285750" lvl="0" indent="-285750">
              <a:buFont typeface="Wingdings" panose="05000000000000000000" pitchFamily="2" charset="2"/>
              <a:buChar char="§"/>
            </a:pPr>
            <a:r>
              <a:rPr lang="en-IN" b="1" dirty="0">
                <a:solidFill>
                  <a:srgbClr val="FFFF00"/>
                </a:solidFill>
              </a:rPr>
              <a:t>With over 24 food brands under one umbrella, it brings diverse culinary experiences to its customers.</a:t>
            </a:r>
          </a:p>
          <a:p>
            <a:pPr marL="285750" lvl="0" indent="-285750">
              <a:buFont typeface="Wingdings" panose="05000000000000000000" pitchFamily="2" charset="2"/>
              <a:buChar char="§"/>
            </a:pPr>
            <a:r>
              <a:rPr lang="en-IN" b="1" dirty="0">
                <a:solidFill>
                  <a:srgbClr val="FFFF00"/>
                </a:solidFill>
              </a:rPr>
              <a:t>A high-end food stall is run by a skilled chef and trained staff, ensuring consistent quality.</a:t>
            </a:r>
          </a:p>
          <a:p>
            <a:pPr marL="285750" lvl="0" indent="-285750">
              <a:buFont typeface="Wingdings" panose="05000000000000000000" pitchFamily="2" charset="2"/>
              <a:buChar char="§"/>
            </a:pPr>
            <a:r>
              <a:rPr lang="en-IN" b="1" dirty="0">
                <a:solidFill>
                  <a:srgbClr val="FFFF00"/>
                </a:solidFill>
              </a:rPr>
              <a:t>The recipes for every dish are standardized, guaranteeing a uniform taste and experience at all Food Court outlets.</a:t>
            </a:r>
          </a:p>
          <a:p>
            <a:pPr marL="285750" lvl="0" indent="-285750">
              <a:buFont typeface="Wingdings" panose="05000000000000000000" pitchFamily="2" charset="2"/>
              <a:buChar char="§"/>
            </a:pPr>
            <a:r>
              <a:rPr lang="en-IN" b="1" dirty="0">
                <a:solidFill>
                  <a:srgbClr val="FFFF00"/>
                </a:solidFill>
              </a:rPr>
              <a:t>5-star cuisine, prepared by a 5-star chef, is served on a street-style trolley at affordable rates.</a:t>
            </a:r>
          </a:p>
        </p:txBody>
      </p:sp>
      <p:sp>
        <p:nvSpPr>
          <p:cNvPr id="5" name="Rectangle 4">
            <a:extLst>
              <a:ext uri="{FF2B5EF4-FFF2-40B4-BE49-F238E27FC236}">
                <a16:creationId xmlns:a16="http://schemas.microsoft.com/office/drawing/2014/main" id="{803C68AD-9B57-CABC-C85D-E928A0F0834A}"/>
              </a:ext>
            </a:extLst>
          </p:cNvPr>
          <p:cNvSpPr/>
          <p:nvPr/>
        </p:nvSpPr>
        <p:spPr>
          <a:xfrm>
            <a:off x="4904842" y="4874027"/>
            <a:ext cx="2443494" cy="1435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latin typeface="Bricolage Grotesque 14pt" panose="020B0605040402000204"/>
              </a:rPr>
              <a:t>Increased walk-ins in the mall due to Food court</a:t>
            </a:r>
          </a:p>
        </p:txBody>
      </p:sp>
    </p:spTree>
    <p:extLst>
      <p:ext uri="{BB962C8B-B14F-4D97-AF65-F5344CB8AC3E}">
        <p14:creationId xmlns:p14="http://schemas.microsoft.com/office/powerpoint/2010/main" val="30956954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 calcmode="lin" valueType="num">
                                      <p:cBhvr additive="base">
                                        <p:cTn id="29" dur="500" fill="hold"/>
                                        <p:tgtEl>
                                          <p:spTgt spid="30"/>
                                        </p:tgtEl>
                                        <p:attrNameLst>
                                          <p:attrName>ppt_x</p:attrName>
                                        </p:attrNameLst>
                                      </p:cBhvr>
                                      <p:tavLst>
                                        <p:tav tm="0">
                                          <p:val>
                                            <p:strVal val="#ppt_x"/>
                                          </p:val>
                                        </p:tav>
                                        <p:tav tm="100000">
                                          <p:val>
                                            <p:strVal val="#ppt_x"/>
                                          </p:val>
                                        </p:tav>
                                      </p:tavLst>
                                    </p:anim>
                                    <p:anim calcmode="lin" valueType="num">
                                      <p:cBhvr additive="base">
                                        <p:cTn id="30" dur="500" fill="hold"/>
                                        <p:tgtEl>
                                          <p:spTgt spid="3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 calcmode="lin" valueType="num">
                                      <p:cBhvr additive="base">
                                        <p:cTn id="33" dur="500" fill="hold"/>
                                        <p:tgtEl>
                                          <p:spTgt spid="32"/>
                                        </p:tgtEl>
                                        <p:attrNameLst>
                                          <p:attrName>ppt_x</p:attrName>
                                        </p:attrNameLst>
                                      </p:cBhvr>
                                      <p:tavLst>
                                        <p:tav tm="0">
                                          <p:val>
                                            <p:strVal val="#ppt_x"/>
                                          </p:val>
                                        </p:tav>
                                        <p:tav tm="100000">
                                          <p:val>
                                            <p:strVal val="#ppt_x"/>
                                          </p:val>
                                        </p:tav>
                                      </p:tavLst>
                                    </p:anim>
                                    <p:anim calcmode="lin" valueType="num">
                                      <p:cBhvr additive="base">
                                        <p:cTn id="3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anim calcmode="lin" valueType="num">
                                      <p:cBhvr additive="base">
                                        <p:cTn id="39" dur="500" fill="hold"/>
                                        <p:tgtEl>
                                          <p:spTgt spid="35"/>
                                        </p:tgtEl>
                                        <p:attrNameLst>
                                          <p:attrName>ppt_x</p:attrName>
                                        </p:attrNameLst>
                                      </p:cBhvr>
                                      <p:tavLst>
                                        <p:tav tm="0">
                                          <p:val>
                                            <p:strVal val="#ppt_x"/>
                                          </p:val>
                                        </p:tav>
                                        <p:tav tm="100000">
                                          <p:val>
                                            <p:strVal val="#ppt_x"/>
                                          </p:val>
                                        </p:tav>
                                      </p:tavLst>
                                    </p:anim>
                                    <p:anim calcmode="lin" valueType="num">
                                      <p:cBhvr additive="base">
                                        <p:cTn id="40" dur="500" fill="hold"/>
                                        <p:tgtEl>
                                          <p:spTgt spid="3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 calcmode="lin" valueType="num">
                                      <p:cBhvr additive="base">
                                        <p:cTn id="43" dur="500" fill="hold"/>
                                        <p:tgtEl>
                                          <p:spTgt spid="36"/>
                                        </p:tgtEl>
                                        <p:attrNameLst>
                                          <p:attrName>ppt_x</p:attrName>
                                        </p:attrNameLst>
                                      </p:cBhvr>
                                      <p:tavLst>
                                        <p:tav tm="0">
                                          <p:val>
                                            <p:strVal val="#ppt_x"/>
                                          </p:val>
                                        </p:tav>
                                        <p:tav tm="100000">
                                          <p:val>
                                            <p:strVal val="#ppt_x"/>
                                          </p:val>
                                        </p:tav>
                                      </p:tavLst>
                                    </p:anim>
                                    <p:anim calcmode="lin" valueType="num">
                                      <p:cBhvr additive="base">
                                        <p:cTn id="4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6"/>
                                        </p:tgtEl>
                                        <p:attrNameLst>
                                          <p:attrName>style.visibility</p:attrName>
                                        </p:attrNameLst>
                                      </p:cBhvr>
                                      <p:to>
                                        <p:strVal val="visible"/>
                                      </p:to>
                                    </p:set>
                                    <p:anim calcmode="lin" valueType="num">
                                      <p:cBhvr additive="base">
                                        <p:cTn id="49" dur="500" fill="hold"/>
                                        <p:tgtEl>
                                          <p:spTgt spid="56"/>
                                        </p:tgtEl>
                                        <p:attrNameLst>
                                          <p:attrName>ppt_x</p:attrName>
                                        </p:attrNameLst>
                                      </p:cBhvr>
                                      <p:tavLst>
                                        <p:tav tm="0">
                                          <p:val>
                                            <p:strVal val="#ppt_x"/>
                                          </p:val>
                                        </p:tav>
                                        <p:tav tm="100000">
                                          <p:val>
                                            <p:strVal val="#ppt_x"/>
                                          </p:val>
                                        </p:tav>
                                      </p:tavLst>
                                    </p:anim>
                                    <p:anim calcmode="lin" valueType="num">
                                      <p:cBhvr additive="base">
                                        <p:cTn id="50" dur="500" fill="hold"/>
                                        <p:tgtEl>
                                          <p:spTgt spid="56"/>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7"/>
                                        </p:tgtEl>
                                        <p:attrNameLst>
                                          <p:attrName>style.visibility</p:attrName>
                                        </p:attrNameLst>
                                      </p:cBhvr>
                                      <p:to>
                                        <p:strVal val="visible"/>
                                      </p:to>
                                    </p:set>
                                    <p:anim calcmode="lin" valueType="num">
                                      <p:cBhvr additive="base">
                                        <p:cTn id="53" dur="500" fill="hold"/>
                                        <p:tgtEl>
                                          <p:spTgt spid="57"/>
                                        </p:tgtEl>
                                        <p:attrNameLst>
                                          <p:attrName>ppt_x</p:attrName>
                                        </p:attrNameLst>
                                      </p:cBhvr>
                                      <p:tavLst>
                                        <p:tav tm="0">
                                          <p:val>
                                            <p:strVal val="#ppt_x"/>
                                          </p:val>
                                        </p:tav>
                                        <p:tav tm="100000">
                                          <p:val>
                                            <p:strVal val="#ppt_x"/>
                                          </p:val>
                                        </p:tav>
                                      </p:tavLst>
                                    </p:anim>
                                    <p:anim calcmode="lin" valueType="num">
                                      <p:cBhvr additive="base">
                                        <p:cTn id="54"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anim calcmode="lin" valueType="num">
                                      <p:cBhvr additive="base">
                                        <p:cTn id="59" dur="500" fill="hold"/>
                                        <p:tgtEl>
                                          <p:spTgt spid="6"/>
                                        </p:tgtEl>
                                        <p:attrNameLst>
                                          <p:attrName>ppt_x</p:attrName>
                                        </p:attrNameLst>
                                      </p:cBhvr>
                                      <p:tavLst>
                                        <p:tav tm="0">
                                          <p:val>
                                            <p:strVal val="#ppt_x"/>
                                          </p:val>
                                        </p:tav>
                                        <p:tav tm="100000">
                                          <p:val>
                                            <p:strVal val="#ppt_x"/>
                                          </p:val>
                                        </p:tav>
                                      </p:tavLst>
                                    </p:anim>
                                    <p:anim calcmode="lin" valueType="num">
                                      <p:cBhvr additive="base">
                                        <p:cTn id="60" dur="500" fill="hold"/>
                                        <p:tgtEl>
                                          <p:spTgt spid="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additive="base">
                                        <p:cTn id="63" dur="500" fill="hold"/>
                                        <p:tgtEl>
                                          <p:spTgt spid="5"/>
                                        </p:tgtEl>
                                        <p:attrNameLst>
                                          <p:attrName>ppt_x</p:attrName>
                                        </p:attrNameLst>
                                      </p:cBhvr>
                                      <p:tavLst>
                                        <p:tav tm="0">
                                          <p:val>
                                            <p:strVal val="#ppt_x"/>
                                          </p:val>
                                        </p:tav>
                                        <p:tav tm="100000">
                                          <p:val>
                                            <p:strVal val="#ppt_x"/>
                                          </p:val>
                                        </p:tav>
                                      </p:tavLst>
                                    </p:anim>
                                    <p:anim calcmode="lin" valueType="num">
                                      <p:cBhvr additive="base">
                                        <p:cTn id="6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39"/>
                                        </p:tgtEl>
                                        <p:attrNameLst>
                                          <p:attrName>style.visibility</p:attrName>
                                        </p:attrNameLst>
                                      </p:cBhvr>
                                      <p:to>
                                        <p:strVal val="visible"/>
                                      </p:to>
                                    </p:set>
                                    <p:anim calcmode="lin" valueType="num">
                                      <p:cBhvr additive="base">
                                        <p:cTn id="69" dur="500" fill="hold"/>
                                        <p:tgtEl>
                                          <p:spTgt spid="39"/>
                                        </p:tgtEl>
                                        <p:attrNameLst>
                                          <p:attrName>ppt_x</p:attrName>
                                        </p:attrNameLst>
                                      </p:cBhvr>
                                      <p:tavLst>
                                        <p:tav tm="0">
                                          <p:val>
                                            <p:strVal val="#ppt_x"/>
                                          </p:val>
                                        </p:tav>
                                        <p:tav tm="100000">
                                          <p:val>
                                            <p:strVal val="#ppt_x"/>
                                          </p:val>
                                        </p:tav>
                                      </p:tavLst>
                                    </p:anim>
                                    <p:anim calcmode="lin" valueType="num">
                                      <p:cBhvr additive="base">
                                        <p:cTn id="70" dur="500" fill="hold"/>
                                        <p:tgtEl>
                                          <p:spTgt spid="39"/>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anim calcmode="lin" valueType="num">
                                      <p:cBhvr additive="base">
                                        <p:cTn id="73" dur="500" fill="hold"/>
                                        <p:tgtEl>
                                          <p:spTgt spid="40"/>
                                        </p:tgtEl>
                                        <p:attrNameLst>
                                          <p:attrName>ppt_x</p:attrName>
                                        </p:attrNameLst>
                                      </p:cBhvr>
                                      <p:tavLst>
                                        <p:tav tm="0">
                                          <p:val>
                                            <p:strVal val="#ppt_x"/>
                                          </p:val>
                                        </p:tav>
                                        <p:tav tm="100000">
                                          <p:val>
                                            <p:strVal val="#ppt_x"/>
                                          </p:val>
                                        </p:tav>
                                      </p:tavLst>
                                    </p:anim>
                                    <p:anim calcmode="lin" valueType="num">
                                      <p:cBhvr additive="base">
                                        <p:cTn id="7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30" grpId="0" animBg="1"/>
      <p:bldP spid="32" grpId="0" animBg="1"/>
      <p:bldP spid="35" grpId="0" animBg="1"/>
      <p:bldP spid="36" grpId="0" animBg="1"/>
      <p:bldP spid="39" grpId="0" animBg="1"/>
      <p:bldP spid="40" grpId="0" animBg="1"/>
      <p:bldP spid="56" grpId="0" animBg="1"/>
      <p:bldP spid="57" grpId="0" animBg="1"/>
      <p:bldP spid="2" grpId="0"/>
      <p:bldP spid="4" grpId="0"/>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65D287-A005-7865-14F0-614B4014C761}"/>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2EBCC4C4-C4A1-BCA2-6A0F-CD9F99817C0B}"/>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Effect>
                      <a14:brightnessContrast bright="-20000"/>
                    </a14:imgEffect>
                  </a14:imgLayer>
                </a14:imgProps>
              </a:ext>
              <a:ext uri="{28A0092B-C50C-407E-A947-70E740481C1C}">
                <a14:useLocalDpi xmlns:a14="http://schemas.microsoft.com/office/drawing/2010/main" val="0"/>
              </a:ext>
            </a:extLst>
          </a:blip>
          <a:srcRect t="16416"/>
          <a:stretch/>
        </p:blipFill>
        <p:spPr>
          <a:xfrm>
            <a:off x="0" y="81652"/>
            <a:ext cx="12192000" cy="5441718"/>
          </a:xfrm>
          <a:prstGeom prst="rect">
            <a:avLst/>
          </a:prstGeom>
          <a:blipFill>
            <a:blip r:embed="rId4"/>
            <a:stretch>
              <a:fillRect/>
            </a:stretch>
          </a:blipFill>
        </p:spPr>
      </p:pic>
      <p:sp>
        <p:nvSpPr>
          <p:cNvPr id="4" name="Rectangle 3">
            <a:extLst>
              <a:ext uri="{FF2B5EF4-FFF2-40B4-BE49-F238E27FC236}">
                <a16:creationId xmlns:a16="http://schemas.microsoft.com/office/drawing/2014/main" id="{063ED647-25AF-4668-2220-C8137F207032}"/>
              </a:ext>
            </a:extLst>
          </p:cNvPr>
          <p:cNvSpPr/>
          <p:nvPr/>
        </p:nvSpPr>
        <p:spPr>
          <a:xfrm>
            <a:off x="0" y="3635772"/>
            <a:ext cx="12192000" cy="3086024"/>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E36B3A7-6895-271E-E0F2-5A59B980CD13}"/>
              </a:ext>
            </a:extLst>
          </p:cNvPr>
          <p:cNvSpPr txBox="1"/>
          <p:nvPr/>
        </p:nvSpPr>
        <p:spPr>
          <a:xfrm>
            <a:off x="3040295" y="380342"/>
            <a:ext cx="5889522" cy="707886"/>
          </a:xfrm>
          <a:prstGeom prst="rect">
            <a:avLst/>
          </a:prstGeom>
          <a:noFill/>
        </p:spPr>
        <p:txBody>
          <a:bodyPr wrap="square" rtlCol="0">
            <a:spAutoFit/>
          </a:bodyPr>
          <a:lstStyle/>
          <a:p>
            <a:pPr lvl="0" algn="ctr">
              <a:defRPr/>
            </a:pP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Franchise (Food Court)</a:t>
            </a:r>
            <a:endParaRPr lang="en-US" sz="4000" dirty="0"/>
          </a:p>
        </p:txBody>
      </p:sp>
      <p:grpSp>
        <p:nvGrpSpPr>
          <p:cNvPr id="24" name="Group 23">
            <a:extLst>
              <a:ext uri="{FF2B5EF4-FFF2-40B4-BE49-F238E27FC236}">
                <a16:creationId xmlns:a16="http://schemas.microsoft.com/office/drawing/2014/main" id="{166E652C-3426-BD0E-D37F-4FA188C950D5}"/>
              </a:ext>
            </a:extLst>
          </p:cNvPr>
          <p:cNvGrpSpPr/>
          <p:nvPr/>
        </p:nvGrpSpPr>
        <p:grpSpPr>
          <a:xfrm>
            <a:off x="367307" y="2050197"/>
            <a:ext cx="2641392" cy="2592914"/>
            <a:chOff x="367307" y="2632075"/>
            <a:chExt cx="2641392" cy="2592914"/>
          </a:xfrm>
        </p:grpSpPr>
        <p:sp>
          <p:nvSpPr>
            <p:cNvPr id="17" name="Rounded Rectangle 16">
              <a:extLst>
                <a:ext uri="{FF2B5EF4-FFF2-40B4-BE49-F238E27FC236}">
                  <a16:creationId xmlns:a16="http://schemas.microsoft.com/office/drawing/2014/main" id="{833A43C5-6508-05B6-C052-47EE49DD261C}"/>
                </a:ext>
              </a:extLst>
            </p:cNvPr>
            <p:cNvSpPr/>
            <p:nvPr/>
          </p:nvSpPr>
          <p:spPr>
            <a:xfrm>
              <a:off x="367307" y="2632075"/>
              <a:ext cx="2641392" cy="259291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 name="TextBox 1">
              <a:extLst>
                <a:ext uri="{FF2B5EF4-FFF2-40B4-BE49-F238E27FC236}">
                  <a16:creationId xmlns:a16="http://schemas.microsoft.com/office/drawing/2014/main" id="{6772D9C0-1B68-6CDD-391B-BF8E9474DEB2}"/>
                </a:ext>
              </a:extLst>
            </p:cNvPr>
            <p:cNvSpPr txBox="1"/>
            <p:nvPr/>
          </p:nvSpPr>
          <p:spPr>
            <a:xfrm>
              <a:off x="547478" y="2924659"/>
              <a:ext cx="2281049" cy="523220"/>
            </a:xfrm>
            <a:prstGeom prst="rect">
              <a:avLst/>
            </a:prstGeom>
            <a:noFill/>
          </p:spPr>
          <p:txBody>
            <a:bodyPr wrap="square" rtlCol="0">
              <a:spAutoFit/>
            </a:bodyPr>
            <a:lstStyle/>
            <a:p>
              <a:pPr algn="ctr"/>
              <a:r>
                <a:rPr lang="en-US" sz="2800" b="1" u="sng" dirty="0">
                  <a:solidFill>
                    <a:srgbClr val="F95050"/>
                  </a:solidFill>
                  <a:latin typeface="Bricolage Grotesque 14pt" panose="020B0605040402000204" pitchFamily="34" charset="0"/>
                </a:rPr>
                <a:t>Fees</a:t>
              </a:r>
            </a:p>
          </p:txBody>
        </p:sp>
        <p:sp>
          <p:nvSpPr>
            <p:cNvPr id="7" name="TextBox 6">
              <a:extLst>
                <a:ext uri="{FF2B5EF4-FFF2-40B4-BE49-F238E27FC236}">
                  <a16:creationId xmlns:a16="http://schemas.microsoft.com/office/drawing/2014/main" id="{ABCAF902-B601-5E1E-D50C-7927A6B70250}"/>
                </a:ext>
              </a:extLst>
            </p:cNvPr>
            <p:cNvSpPr txBox="1"/>
            <p:nvPr/>
          </p:nvSpPr>
          <p:spPr>
            <a:xfrm>
              <a:off x="728549" y="3642078"/>
              <a:ext cx="1918908" cy="1077218"/>
            </a:xfrm>
            <a:prstGeom prst="rect">
              <a:avLst/>
            </a:prstGeom>
            <a:noFill/>
          </p:spPr>
          <p:txBody>
            <a:bodyPr wrap="square" rtlCol="0">
              <a:spAutoFit/>
            </a:bodyPr>
            <a:lstStyle/>
            <a:p>
              <a:pPr algn="ctr"/>
              <a:r>
                <a:rPr lang="en-US" sz="3200" dirty="0">
                  <a:latin typeface="Arial" panose="020B0604020202020204" pitchFamily="34" charset="0"/>
                  <a:cs typeface="Arial" panose="020B0604020202020204" pitchFamily="34" charset="0"/>
                </a:rPr>
                <a:t>₹</a:t>
              </a:r>
              <a:r>
                <a:rPr lang="en-US" sz="3200" b="1" dirty="0">
                  <a:latin typeface="Bricolage Grotesque 14pt" panose="020B0605040402000204" pitchFamily="34" charset="0"/>
                </a:rPr>
                <a:t>20 lac + GST</a:t>
              </a:r>
            </a:p>
          </p:txBody>
        </p:sp>
      </p:grpSp>
      <p:grpSp>
        <p:nvGrpSpPr>
          <p:cNvPr id="25" name="Group 24">
            <a:extLst>
              <a:ext uri="{FF2B5EF4-FFF2-40B4-BE49-F238E27FC236}">
                <a16:creationId xmlns:a16="http://schemas.microsoft.com/office/drawing/2014/main" id="{764BF60E-F4F4-B018-78EF-A7D7E60A2853}"/>
              </a:ext>
            </a:extLst>
          </p:cNvPr>
          <p:cNvGrpSpPr/>
          <p:nvPr/>
        </p:nvGrpSpPr>
        <p:grpSpPr>
          <a:xfrm>
            <a:off x="3298220" y="2050197"/>
            <a:ext cx="2641392" cy="2592914"/>
            <a:chOff x="3298220" y="2632075"/>
            <a:chExt cx="2641392" cy="2592914"/>
          </a:xfrm>
        </p:grpSpPr>
        <p:sp>
          <p:nvSpPr>
            <p:cNvPr id="10" name="Rounded Rectangle 9">
              <a:extLst>
                <a:ext uri="{FF2B5EF4-FFF2-40B4-BE49-F238E27FC236}">
                  <a16:creationId xmlns:a16="http://schemas.microsoft.com/office/drawing/2014/main" id="{FE4A640D-7CF9-550E-19A3-2F6D17AC2840}"/>
                </a:ext>
              </a:extLst>
            </p:cNvPr>
            <p:cNvSpPr/>
            <p:nvPr/>
          </p:nvSpPr>
          <p:spPr>
            <a:xfrm>
              <a:off x="3298220" y="2632075"/>
              <a:ext cx="2641392" cy="259291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1" name="TextBox 10">
              <a:extLst>
                <a:ext uri="{FF2B5EF4-FFF2-40B4-BE49-F238E27FC236}">
                  <a16:creationId xmlns:a16="http://schemas.microsoft.com/office/drawing/2014/main" id="{DDC09B59-CE3F-0AFE-BEDB-65C5C7522718}"/>
                </a:ext>
              </a:extLst>
            </p:cNvPr>
            <p:cNvSpPr txBox="1"/>
            <p:nvPr/>
          </p:nvSpPr>
          <p:spPr>
            <a:xfrm>
              <a:off x="3672712" y="3881704"/>
              <a:ext cx="1918908" cy="1200329"/>
            </a:xfrm>
            <a:prstGeom prst="rect">
              <a:avLst/>
            </a:prstGeom>
            <a:noFill/>
          </p:spPr>
          <p:txBody>
            <a:bodyPr wrap="square" rtlCol="0">
              <a:spAutoFit/>
            </a:bodyPr>
            <a:lstStyle/>
            <a:p>
              <a:pPr algn="ctr"/>
              <a:r>
                <a:rPr lang="en-US" sz="2400" b="1" dirty="0">
                  <a:latin typeface="Bricolage Grotesque 14pt" panose="020B0605040402000204" pitchFamily="34" charset="0"/>
                </a:rPr>
                <a:t>₹30 lac </a:t>
              </a:r>
              <a:r>
                <a:rPr lang="en-US" sz="1400" b="1" dirty="0">
                  <a:latin typeface="Bricolage Grotesque 14pt" panose="020B0605040402000204" pitchFamily="34" charset="0"/>
                </a:rPr>
                <a:t>(</a:t>
              </a:r>
              <a:r>
                <a:rPr lang="en-US" sz="1400" b="1" dirty="0" err="1">
                  <a:latin typeface="Bricolage Grotesque 14pt" panose="020B0605040402000204" pitchFamily="34" charset="0"/>
                </a:rPr>
                <a:t>approx</a:t>
              </a:r>
              <a:r>
                <a:rPr lang="en-US" sz="1400" b="1" dirty="0">
                  <a:latin typeface="Bricolage Grotesque 14pt" panose="020B0605040402000204" pitchFamily="34" charset="0"/>
                </a:rPr>
                <a:t>)</a:t>
              </a:r>
              <a:br>
                <a:rPr lang="en-US" sz="2400" b="1" dirty="0">
                  <a:latin typeface="Bricolage Grotesque 14pt" panose="020B0605040402000204" pitchFamily="34" charset="0"/>
                </a:rPr>
              </a:br>
              <a:r>
                <a:rPr lang="en-US" sz="2400" b="1" dirty="0">
                  <a:latin typeface="Bricolage Grotesque 14pt" panose="020B0605040402000204" pitchFamily="34" charset="0"/>
                </a:rPr>
                <a:t>(Food court setup)</a:t>
              </a:r>
            </a:p>
          </p:txBody>
        </p:sp>
        <p:sp>
          <p:nvSpPr>
            <p:cNvPr id="12" name="TextBox 11">
              <a:extLst>
                <a:ext uri="{FF2B5EF4-FFF2-40B4-BE49-F238E27FC236}">
                  <a16:creationId xmlns:a16="http://schemas.microsoft.com/office/drawing/2014/main" id="{7140500E-C615-B8AA-DCA0-4424CDE9AEBE}"/>
                </a:ext>
              </a:extLst>
            </p:cNvPr>
            <p:cNvSpPr txBox="1"/>
            <p:nvPr/>
          </p:nvSpPr>
          <p:spPr>
            <a:xfrm>
              <a:off x="3339617" y="2727074"/>
              <a:ext cx="2528272" cy="954107"/>
            </a:xfrm>
            <a:prstGeom prst="rect">
              <a:avLst/>
            </a:prstGeom>
            <a:noFill/>
          </p:spPr>
          <p:txBody>
            <a:bodyPr wrap="square" rtlCol="0">
              <a:spAutoFit/>
            </a:bodyPr>
            <a:lstStyle/>
            <a:p>
              <a:pPr algn="ctr"/>
              <a:r>
                <a:rPr lang="en-US" sz="2800" b="1" u="sng" dirty="0">
                  <a:solidFill>
                    <a:srgbClr val="F95050"/>
                  </a:solidFill>
                  <a:latin typeface="Bricolage Grotesque 14pt" panose="020B0605040402000204" pitchFamily="34" charset="0"/>
                </a:rPr>
                <a:t>Other Investment </a:t>
              </a:r>
            </a:p>
          </p:txBody>
        </p:sp>
      </p:grpSp>
      <p:grpSp>
        <p:nvGrpSpPr>
          <p:cNvPr id="26" name="Group 25">
            <a:extLst>
              <a:ext uri="{FF2B5EF4-FFF2-40B4-BE49-F238E27FC236}">
                <a16:creationId xmlns:a16="http://schemas.microsoft.com/office/drawing/2014/main" id="{C2B6AD83-59B2-30AB-6EE2-D8B1DE17E892}"/>
              </a:ext>
            </a:extLst>
          </p:cNvPr>
          <p:cNvGrpSpPr/>
          <p:nvPr/>
        </p:nvGrpSpPr>
        <p:grpSpPr>
          <a:xfrm>
            <a:off x="6226590" y="2050197"/>
            <a:ext cx="2684233" cy="2592914"/>
            <a:chOff x="6226590" y="2632075"/>
            <a:chExt cx="2684233" cy="2592914"/>
          </a:xfrm>
        </p:grpSpPr>
        <p:sp>
          <p:nvSpPr>
            <p:cNvPr id="14" name="Rounded Rectangle 13">
              <a:extLst>
                <a:ext uri="{FF2B5EF4-FFF2-40B4-BE49-F238E27FC236}">
                  <a16:creationId xmlns:a16="http://schemas.microsoft.com/office/drawing/2014/main" id="{20263776-4405-DA15-129E-AB2EA571168B}"/>
                </a:ext>
              </a:extLst>
            </p:cNvPr>
            <p:cNvSpPr/>
            <p:nvPr/>
          </p:nvSpPr>
          <p:spPr>
            <a:xfrm>
              <a:off x="6229133" y="2632075"/>
              <a:ext cx="2641392" cy="259291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6" name="TextBox 15">
              <a:extLst>
                <a:ext uri="{FF2B5EF4-FFF2-40B4-BE49-F238E27FC236}">
                  <a16:creationId xmlns:a16="http://schemas.microsoft.com/office/drawing/2014/main" id="{8E4732BC-84AB-D796-E18A-D2ABF8938B68}"/>
                </a:ext>
              </a:extLst>
            </p:cNvPr>
            <p:cNvSpPr txBox="1"/>
            <p:nvPr/>
          </p:nvSpPr>
          <p:spPr>
            <a:xfrm>
              <a:off x="6472863" y="2924659"/>
              <a:ext cx="2153931" cy="523220"/>
            </a:xfrm>
            <a:prstGeom prst="rect">
              <a:avLst/>
            </a:prstGeom>
            <a:noFill/>
          </p:spPr>
          <p:txBody>
            <a:bodyPr wrap="square" rtlCol="0">
              <a:spAutoFit/>
            </a:bodyPr>
            <a:lstStyle/>
            <a:p>
              <a:pPr algn="ctr"/>
              <a:r>
                <a:rPr lang="en-US" sz="2800" b="1" u="sng" dirty="0">
                  <a:solidFill>
                    <a:srgbClr val="F95050"/>
                  </a:solidFill>
                  <a:latin typeface="Bricolage Grotesque 14pt" panose="020B0605040402000204" pitchFamily="34" charset="0"/>
                </a:rPr>
                <a:t>Breakeven</a:t>
              </a:r>
            </a:p>
          </p:txBody>
        </p:sp>
        <p:grpSp>
          <p:nvGrpSpPr>
            <p:cNvPr id="3" name="Group 2">
              <a:extLst>
                <a:ext uri="{FF2B5EF4-FFF2-40B4-BE49-F238E27FC236}">
                  <a16:creationId xmlns:a16="http://schemas.microsoft.com/office/drawing/2014/main" id="{D2328DD8-567B-1F4D-CCC5-814BB500E4A1}"/>
                </a:ext>
              </a:extLst>
            </p:cNvPr>
            <p:cNvGrpSpPr/>
            <p:nvPr/>
          </p:nvGrpSpPr>
          <p:grpSpPr>
            <a:xfrm>
              <a:off x="6226590" y="3608232"/>
              <a:ext cx="2684233" cy="1242968"/>
              <a:chOff x="6226590" y="3524848"/>
              <a:chExt cx="2684233" cy="1242968"/>
            </a:xfrm>
          </p:grpSpPr>
          <p:sp>
            <p:nvSpPr>
              <p:cNvPr id="15" name="TextBox 14">
                <a:extLst>
                  <a:ext uri="{FF2B5EF4-FFF2-40B4-BE49-F238E27FC236}">
                    <a16:creationId xmlns:a16="http://schemas.microsoft.com/office/drawing/2014/main" id="{CBFF6DC0-7B9D-9ADB-84E9-57F6622D936C}"/>
                  </a:ext>
                </a:extLst>
              </p:cNvPr>
              <p:cNvSpPr txBox="1"/>
              <p:nvPr/>
            </p:nvSpPr>
            <p:spPr>
              <a:xfrm>
                <a:off x="6590375" y="3524848"/>
                <a:ext cx="1918908" cy="584775"/>
              </a:xfrm>
              <a:prstGeom prst="rect">
                <a:avLst/>
              </a:prstGeom>
              <a:noFill/>
            </p:spPr>
            <p:txBody>
              <a:bodyPr wrap="square" rtlCol="0">
                <a:spAutoFit/>
              </a:bodyPr>
              <a:lstStyle/>
              <a:p>
                <a:pPr algn="ctr"/>
                <a:r>
                  <a:rPr lang="en-US" sz="3200" b="1" dirty="0">
                    <a:latin typeface="Bricolage Grotesque 14pt" panose="020B0605040402000204" pitchFamily="34" charset="0"/>
                  </a:rPr>
                  <a:t>After</a:t>
                </a:r>
              </a:p>
            </p:txBody>
          </p:sp>
          <p:sp>
            <p:nvSpPr>
              <p:cNvPr id="18" name="TextBox 17">
                <a:extLst>
                  <a:ext uri="{FF2B5EF4-FFF2-40B4-BE49-F238E27FC236}">
                    <a16:creationId xmlns:a16="http://schemas.microsoft.com/office/drawing/2014/main" id="{4386CB22-45B1-E6C1-CD6E-6FF88AC53187}"/>
                  </a:ext>
                </a:extLst>
              </p:cNvPr>
              <p:cNvSpPr txBox="1"/>
              <p:nvPr/>
            </p:nvSpPr>
            <p:spPr>
              <a:xfrm>
                <a:off x="6226590" y="4398484"/>
                <a:ext cx="2684233" cy="369332"/>
              </a:xfrm>
              <a:prstGeom prst="rect">
                <a:avLst/>
              </a:prstGeom>
              <a:noFill/>
            </p:spPr>
            <p:txBody>
              <a:bodyPr wrap="square" rtlCol="0">
                <a:spAutoFit/>
              </a:bodyPr>
              <a:lstStyle/>
              <a:p>
                <a:pPr algn="ctr"/>
                <a:r>
                  <a:rPr lang="en-US" dirty="0">
                    <a:latin typeface="Bricolage Grotesque 14pt" panose="020B0605040402000204" pitchFamily="34" charset="0"/>
                  </a:rPr>
                  <a:t>On opening of food court*</a:t>
                </a:r>
              </a:p>
            </p:txBody>
          </p:sp>
          <p:sp>
            <p:nvSpPr>
              <p:cNvPr id="19" name="TextBox 18">
                <a:extLst>
                  <a:ext uri="{FF2B5EF4-FFF2-40B4-BE49-F238E27FC236}">
                    <a16:creationId xmlns:a16="http://schemas.microsoft.com/office/drawing/2014/main" id="{4F32E333-2DEC-25B3-2109-1DA2010422BF}"/>
                  </a:ext>
                </a:extLst>
              </p:cNvPr>
              <p:cNvSpPr txBox="1"/>
              <p:nvPr/>
            </p:nvSpPr>
            <p:spPr>
              <a:xfrm>
                <a:off x="6590375" y="3899497"/>
                <a:ext cx="1918908" cy="584775"/>
              </a:xfrm>
              <a:prstGeom prst="rect">
                <a:avLst/>
              </a:prstGeom>
              <a:noFill/>
            </p:spPr>
            <p:txBody>
              <a:bodyPr wrap="square" rtlCol="0">
                <a:spAutoFit/>
              </a:bodyPr>
              <a:lstStyle/>
              <a:p>
                <a:pPr algn="ctr"/>
                <a:r>
                  <a:rPr lang="en-US" sz="3200" b="1" dirty="0">
                    <a:latin typeface="Bricolage Grotesque 14pt" panose="020B0605040402000204" pitchFamily="34" charset="0"/>
                  </a:rPr>
                  <a:t>12 Month</a:t>
                </a:r>
              </a:p>
            </p:txBody>
          </p:sp>
        </p:grpSp>
      </p:grpSp>
      <p:grpSp>
        <p:nvGrpSpPr>
          <p:cNvPr id="27" name="Group 26">
            <a:extLst>
              <a:ext uri="{FF2B5EF4-FFF2-40B4-BE49-F238E27FC236}">
                <a16:creationId xmlns:a16="http://schemas.microsoft.com/office/drawing/2014/main" id="{4774B916-10B1-528F-A39D-20D17DB2E631}"/>
              </a:ext>
            </a:extLst>
          </p:cNvPr>
          <p:cNvGrpSpPr/>
          <p:nvPr/>
        </p:nvGrpSpPr>
        <p:grpSpPr>
          <a:xfrm>
            <a:off x="9157503" y="2050197"/>
            <a:ext cx="2641392" cy="2592914"/>
            <a:chOff x="9157503" y="2632075"/>
            <a:chExt cx="2641392" cy="2592914"/>
          </a:xfrm>
        </p:grpSpPr>
        <p:sp>
          <p:nvSpPr>
            <p:cNvPr id="20" name="Rounded Rectangle 19">
              <a:extLst>
                <a:ext uri="{FF2B5EF4-FFF2-40B4-BE49-F238E27FC236}">
                  <a16:creationId xmlns:a16="http://schemas.microsoft.com/office/drawing/2014/main" id="{9B25794C-606C-6C2F-46EE-0FD6C7F9EDFE}"/>
                </a:ext>
              </a:extLst>
            </p:cNvPr>
            <p:cNvSpPr/>
            <p:nvPr/>
          </p:nvSpPr>
          <p:spPr>
            <a:xfrm>
              <a:off x="9157503" y="2632075"/>
              <a:ext cx="2641392" cy="259291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1" name="TextBox 20">
              <a:extLst>
                <a:ext uri="{FF2B5EF4-FFF2-40B4-BE49-F238E27FC236}">
                  <a16:creationId xmlns:a16="http://schemas.microsoft.com/office/drawing/2014/main" id="{F6A454CA-5D6D-1CC2-29BD-35E5C7A2C44F}"/>
                </a:ext>
              </a:extLst>
            </p:cNvPr>
            <p:cNvSpPr txBox="1"/>
            <p:nvPr/>
          </p:nvSpPr>
          <p:spPr>
            <a:xfrm>
              <a:off x="9518744" y="3632875"/>
              <a:ext cx="1918907" cy="584775"/>
            </a:xfrm>
            <a:prstGeom prst="rect">
              <a:avLst/>
            </a:prstGeom>
            <a:noFill/>
          </p:spPr>
          <p:txBody>
            <a:bodyPr wrap="square" rtlCol="0">
              <a:spAutoFit/>
            </a:bodyPr>
            <a:lstStyle/>
            <a:p>
              <a:pPr algn="ctr"/>
              <a:r>
                <a:rPr lang="en-US" sz="3200" b="1" dirty="0">
                  <a:latin typeface="Bricolage Grotesque 14pt" panose="020B0605040402000204" pitchFamily="34" charset="0"/>
                </a:rPr>
                <a:t>35%</a:t>
              </a:r>
            </a:p>
          </p:txBody>
        </p:sp>
        <p:sp>
          <p:nvSpPr>
            <p:cNvPr id="22" name="TextBox 21">
              <a:extLst>
                <a:ext uri="{FF2B5EF4-FFF2-40B4-BE49-F238E27FC236}">
                  <a16:creationId xmlns:a16="http://schemas.microsoft.com/office/drawing/2014/main" id="{08BA987F-7C73-ACD5-F730-9D53B862E9A5}"/>
                </a:ext>
              </a:extLst>
            </p:cNvPr>
            <p:cNvSpPr txBox="1"/>
            <p:nvPr/>
          </p:nvSpPr>
          <p:spPr>
            <a:xfrm>
              <a:off x="9406290" y="2924659"/>
              <a:ext cx="2111957" cy="523220"/>
            </a:xfrm>
            <a:prstGeom prst="rect">
              <a:avLst/>
            </a:prstGeom>
            <a:noFill/>
          </p:spPr>
          <p:txBody>
            <a:bodyPr wrap="square" rtlCol="0">
              <a:spAutoFit/>
            </a:bodyPr>
            <a:lstStyle/>
            <a:p>
              <a:pPr algn="ctr"/>
              <a:r>
                <a:rPr lang="en-US" sz="2800" b="1" u="sng" dirty="0">
                  <a:solidFill>
                    <a:srgbClr val="F95050"/>
                  </a:solidFill>
                  <a:latin typeface="Bricolage Grotesque 14pt" panose="020B0605040402000204" pitchFamily="34" charset="0"/>
                </a:rPr>
                <a:t>Gross Profit</a:t>
              </a:r>
            </a:p>
          </p:txBody>
        </p:sp>
      </p:grpSp>
      <p:sp>
        <p:nvSpPr>
          <p:cNvPr id="31" name="TextBox 30">
            <a:extLst>
              <a:ext uri="{FF2B5EF4-FFF2-40B4-BE49-F238E27FC236}">
                <a16:creationId xmlns:a16="http://schemas.microsoft.com/office/drawing/2014/main" id="{71F85E52-638B-5C48-30C0-C9FC8D255A0D}"/>
              </a:ext>
            </a:extLst>
          </p:cNvPr>
          <p:cNvSpPr txBox="1"/>
          <p:nvPr/>
        </p:nvSpPr>
        <p:spPr>
          <a:xfrm rot="16200000">
            <a:off x="11157922" y="2771765"/>
            <a:ext cx="1643192" cy="200055"/>
          </a:xfrm>
          <a:prstGeom prst="rect">
            <a:avLst/>
          </a:prstGeom>
          <a:noFill/>
        </p:spPr>
        <p:txBody>
          <a:bodyPr wrap="square" rtlCol="0">
            <a:spAutoFit/>
          </a:bodyPr>
          <a:lstStyle/>
          <a:p>
            <a:pPr algn="ctr"/>
            <a:r>
              <a:rPr lang="en-US" sz="700" dirty="0">
                <a:solidFill>
                  <a:schemeClr val="bg1"/>
                </a:solidFill>
                <a:latin typeface="Bricolage Grotesque 14pt" panose="020B0605040402000204" pitchFamily="34" charset="0"/>
                <a:ea typeface="Roboto" panose="02000000000000000000" pitchFamily="2" charset="0"/>
                <a:cs typeface="Heebo" pitchFamily="2" charset="-79"/>
              </a:rPr>
              <a:t>*T&amp;C Applied, Actuals may vary</a:t>
            </a:r>
          </a:p>
        </p:txBody>
      </p:sp>
      <p:sp>
        <p:nvSpPr>
          <p:cNvPr id="33" name="Rounded Rectangle 32">
            <a:extLst>
              <a:ext uri="{FF2B5EF4-FFF2-40B4-BE49-F238E27FC236}">
                <a16:creationId xmlns:a16="http://schemas.microsoft.com/office/drawing/2014/main" id="{370408A4-0BDE-B0CA-054B-72F123B805A0}"/>
              </a:ext>
            </a:extLst>
          </p:cNvPr>
          <p:cNvSpPr/>
          <p:nvPr/>
        </p:nvSpPr>
        <p:spPr>
          <a:xfrm>
            <a:off x="367307" y="5219897"/>
            <a:ext cx="11431588" cy="1157781"/>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29" name="TextBox 28">
            <a:extLst>
              <a:ext uri="{FF2B5EF4-FFF2-40B4-BE49-F238E27FC236}">
                <a16:creationId xmlns:a16="http://schemas.microsoft.com/office/drawing/2014/main" id="{0A551C6D-9C5B-57D4-BC71-A57E98FE2802}"/>
              </a:ext>
            </a:extLst>
          </p:cNvPr>
          <p:cNvSpPr txBox="1"/>
          <p:nvPr/>
        </p:nvSpPr>
        <p:spPr>
          <a:xfrm>
            <a:off x="1086848" y="5523370"/>
            <a:ext cx="4276712" cy="523220"/>
          </a:xfrm>
          <a:prstGeom prst="rect">
            <a:avLst/>
          </a:prstGeom>
          <a:noFill/>
        </p:spPr>
        <p:txBody>
          <a:bodyPr wrap="square" rtlCol="0">
            <a:spAutoFit/>
          </a:bodyPr>
          <a:lstStyle/>
          <a:p>
            <a:pPr algn="ctr"/>
            <a:r>
              <a:rPr lang="en-US" sz="2800" b="1" dirty="0">
                <a:solidFill>
                  <a:srgbClr val="F95050"/>
                </a:solidFill>
                <a:latin typeface="Bricolage Grotesque 14pt" panose="020B0605040402000204" pitchFamily="34" charset="0"/>
                <a:ea typeface="Roboto" panose="02000000000000000000" pitchFamily="2" charset="0"/>
                <a:cs typeface="Heebo" pitchFamily="2" charset="-79"/>
              </a:rPr>
              <a:t>UPOS – The Digital Mall </a:t>
            </a:r>
          </a:p>
        </p:txBody>
      </p:sp>
      <p:sp>
        <p:nvSpPr>
          <p:cNvPr id="30" name="TextBox 29">
            <a:extLst>
              <a:ext uri="{FF2B5EF4-FFF2-40B4-BE49-F238E27FC236}">
                <a16:creationId xmlns:a16="http://schemas.microsoft.com/office/drawing/2014/main" id="{7C00A46D-B9CD-878E-F228-C3FD3DCC4221}"/>
              </a:ext>
            </a:extLst>
          </p:cNvPr>
          <p:cNvSpPr txBox="1"/>
          <p:nvPr/>
        </p:nvSpPr>
        <p:spPr>
          <a:xfrm>
            <a:off x="6780733" y="5584925"/>
            <a:ext cx="4298168" cy="400110"/>
          </a:xfrm>
          <a:prstGeom prst="rect">
            <a:avLst/>
          </a:prstGeom>
          <a:noFill/>
        </p:spPr>
        <p:txBody>
          <a:bodyPr wrap="square" rtlCol="0">
            <a:spAutoFit/>
          </a:bodyPr>
          <a:lstStyle/>
          <a:p>
            <a:pPr algn="ctr"/>
            <a:r>
              <a:rPr lang="en-US" sz="2000" b="1" dirty="0">
                <a:solidFill>
                  <a:schemeClr val="tx1">
                    <a:lumMod val="85000"/>
                    <a:lumOff val="15000"/>
                  </a:schemeClr>
                </a:solidFill>
                <a:latin typeface="Bricolage Grotesque 14pt" panose="020B0605040402000204" pitchFamily="34" charset="0"/>
                <a:ea typeface="Roboto" panose="02000000000000000000" pitchFamily="2" charset="0"/>
                <a:cs typeface="Heebo" pitchFamily="2" charset="-79"/>
              </a:rPr>
              <a:t>With </a:t>
            </a:r>
            <a:r>
              <a:rPr lang="en-US" sz="2000" b="1">
                <a:solidFill>
                  <a:schemeClr val="tx1">
                    <a:lumMod val="85000"/>
                    <a:lumOff val="15000"/>
                  </a:schemeClr>
                </a:solidFill>
                <a:latin typeface="Bricolage Grotesque 14pt" panose="020B0605040402000204" pitchFamily="34" charset="0"/>
                <a:ea typeface="Roboto" panose="02000000000000000000" pitchFamily="2" charset="0"/>
                <a:cs typeface="Heebo" pitchFamily="2" charset="-79"/>
              </a:rPr>
              <a:t>20 Crore </a:t>
            </a:r>
            <a:r>
              <a:rPr lang="en-US" sz="2000" b="1" dirty="0">
                <a:solidFill>
                  <a:schemeClr val="tx1">
                    <a:lumMod val="85000"/>
                    <a:lumOff val="15000"/>
                  </a:schemeClr>
                </a:solidFill>
                <a:latin typeface="Bricolage Grotesque 14pt" panose="020B0605040402000204" pitchFamily="34" charset="0"/>
                <a:ea typeface="Roboto" panose="02000000000000000000" pitchFamily="2" charset="0"/>
                <a:cs typeface="Heebo" pitchFamily="2" charset="-79"/>
              </a:rPr>
              <a:t>+ Products &amp; Services</a:t>
            </a:r>
          </a:p>
        </p:txBody>
      </p:sp>
      <p:cxnSp>
        <p:nvCxnSpPr>
          <p:cNvPr id="42" name="Straight Connector 41">
            <a:extLst>
              <a:ext uri="{FF2B5EF4-FFF2-40B4-BE49-F238E27FC236}">
                <a16:creationId xmlns:a16="http://schemas.microsoft.com/office/drawing/2014/main" id="{EB2D68FC-5D39-5403-2F9C-D623D2E9EDEF}"/>
              </a:ext>
            </a:extLst>
          </p:cNvPr>
          <p:cNvCxnSpPr>
            <a:endCxn id="33" idx="2"/>
          </p:cNvCxnSpPr>
          <p:nvPr/>
        </p:nvCxnSpPr>
        <p:spPr>
          <a:xfrm flipH="1">
            <a:off x="6083101" y="5219897"/>
            <a:ext cx="12899" cy="1157781"/>
          </a:xfrm>
          <a:prstGeom prst="line">
            <a:avLst/>
          </a:prstGeom>
          <a:ln w="28575">
            <a:solidFill>
              <a:srgbClr val="F95050"/>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66F60852-2DE7-0066-136C-9709047B3DD0}"/>
              </a:ext>
            </a:extLst>
          </p:cNvPr>
          <p:cNvSpPr/>
          <p:nvPr/>
        </p:nvSpPr>
        <p:spPr>
          <a:xfrm>
            <a:off x="5832389" y="4975194"/>
            <a:ext cx="527222" cy="527222"/>
          </a:xfrm>
          <a:prstGeom prst="ellipse">
            <a:avLst/>
          </a:prstGeom>
          <a:solidFill>
            <a:srgbClr val="F9505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ADE75AF6-F0A7-F848-2FFA-1DA758B50C19}"/>
              </a:ext>
            </a:extLst>
          </p:cNvPr>
          <p:cNvSpPr txBox="1"/>
          <p:nvPr/>
        </p:nvSpPr>
        <p:spPr>
          <a:xfrm>
            <a:off x="5885080" y="4775425"/>
            <a:ext cx="421840" cy="923330"/>
          </a:xfrm>
          <a:prstGeom prst="rect">
            <a:avLst/>
          </a:prstGeom>
          <a:noFill/>
        </p:spPr>
        <p:txBody>
          <a:bodyPr wrap="square" rtlCol="0">
            <a:spAutoFit/>
          </a:bodyPr>
          <a:lstStyle/>
          <a:p>
            <a:pPr algn="ctr"/>
            <a:r>
              <a:rPr lang="en-US" sz="5400" b="1" dirty="0">
                <a:solidFill>
                  <a:schemeClr val="bg1"/>
                </a:solidFill>
                <a:latin typeface="Bricolage Grotesque 14pt" panose="020B0605040402000204" pitchFamily="34" charset="0"/>
                <a:ea typeface="Roboto" panose="02000000000000000000" pitchFamily="2" charset="0"/>
                <a:cs typeface="Heebo" pitchFamily="2" charset="-79"/>
              </a:rPr>
              <a:t>+</a:t>
            </a:r>
          </a:p>
        </p:txBody>
      </p:sp>
    </p:spTree>
    <p:extLst>
      <p:ext uri="{BB962C8B-B14F-4D97-AF65-F5344CB8AC3E}">
        <p14:creationId xmlns:p14="http://schemas.microsoft.com/office/powerpoint/2010/main" val="2809454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ppt_x"/>
                                          </p:val>
                                        </p:tav>
                                        <p:tav tm="100000">
                                          <p:val>
                                            <p:strVal val="#ppt_x"/>
                                          </p:val>
                                        </p:tav>
                                      </p:tavLst>
                                    </p:anim>
                                    <p:anim calcmode="lin" valueType="num">
                                      <p:cBhvr additive="base">
                                        <p:cTn id="3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anim calcmode="lin" valueType="num">
                                      <p:cBhvr additive="base">
                                        <p:cTn id="37" dur="500" fill="hold"/>
                                        <p:tgtEl>
                                          <p:spTgt spid="33"/>
                                        </p:tgtEl>
                                        <p:attrNameLst>
                                          <p:attrName>ppt_x</p:attrName>
                                        </p:attrNameLst>
                                      </p:cBhvr>
                                      <p:tavLst>
                                        <p:tav tm="0">
                                          <p:val>
                                            <p:strVal val="#ppt_x"/>
                                          </p:val>
                                        </p:tav>
                                        <p:tav tm="100000">
                                          <p:val>
                                            <p:strVal val="#ppt_x"/>
                                          </p:val>
                                        </p:tav>
                                      </p:tavLst>
                                    </p:anim>
                                    <p:anim calcmode="lin" valueType="num">
                                      <p:cBhvr additive="base">
                                        <p:cTn id="38" dur="500" fill="hold"/>
                                        <p:tgtEl>
                                          <p:spTgt spid="33"/>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500" fill="hold"/>
                                        <p:tgtEl>
                                          <p:spTgt spid="29"/>
                                        </p:tgtEl>
                                        <p:attrNameLst>
                                          <p:attrName>ppt_x</p:attrName>
                                        </p:attrNameLst>
                                      </p:cBhvr>
                                      <p:tavLst>
                                        <p:tav tm="0">
                                          <p:val>
                                            <p:strVal val="#ppt_x"/>
                                          </p:val>
                                        </p:tav>
                                        <p:tav tm="100000">
                                          <p:val>
                                            <p:strVal val="#ppt_x"/>
                                          </p:val>
                                        </p:tav>
                                      </p:tavLst>
                                    </p:anim>
                                    <p:anim calcmode="lin" valueType="num">
                                      <p:cBhvr additive="base">
                                        <p:cTn id="42" dur="500" fill="hold"/>
                                        <p:tgtEl>
                                          <p:spTgt spid="2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anim calcmode="lin" valueType="num">
                                      <p:cBhvr additive="base">
                                        <p:cTn id="45" dur="500" fill="hold"/>
                                        <p:tgtEl>
                                          <p:spTgt spid="30"/>
                                        </p:tgtEl>
                                        <p:attrNameLst>
                                          <p:attrName>ppt_x</p:attrName>
                                        </p:attrNameLst>
                                      </p:cBhvr>
                                      <p:tavLst>
                                        <p:tav tm="0">
                                          <p:val>
                                            <p:strVal val="#ppt_x"/>
                                          </p:val>
                                        </p:tav>
                                        <p:tav tm="100000">
                                          <p:val>
                                            <p:strVal val="#ppt_x"/>
                                          </p:val>
                                        </p:tav>
                                      </p:tavLst>
                                    </p:anim>
                                    <p:anim calcmode="lin" valueType="num">
                                      <p:cBhvr additive="base">
                                        <p:cTn id="46" dur="500" fill="hold"/>
                                        <p:tgtEl>
                                          <p:spTgt spid="30"/>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2"/>
                                        </p:tgtEl>
                                        <p:attrNameLst>
                                          <p:attrName>style.visibility</p:attrName>
                                        </p:attrNameLst>
                                      </p:cBhvr>
                                      <p:to>
                                        <p:strVal val="visible"/>
                                      </p:to>
                                    </p:set>
                                    <p:anim calcmode="lin" valueType="num">
                                      <p:cBhvr additive="base">
                                        <p:cTn id="49" dur="500" fill="hold"/>
                                        <p:tgtEl>
                                          <p:spTgt spid="42"/>
                                        </p:tgtEl>
                                        <p:attrNameLst>
                                          <p:attrName>ppt_x</p:attrName>
                                        </p:attrNameLst>
                                      </p:cBhvr>
                                      <p:tavLst>
                                        <p:tav tm="0">
                                          <p:val>
                                            <p:strVal val="#ppt_x"/>
                                          </p:val>
                                        </p:tav>
                                        <p:tav tm="100000">
                                          <p:val>
                                            <p:strVal val="#ppt_x"/>
                                          </p:val>
                                        </p:tav>
                                      </p:tavLst>
                                    </p:anim>
                                    <p:anim calcmode="lin" valueType="num">
                                      <p:cBhvr additive="base">
                                        <p:cTn id="50" dur="500" fill="hold"/>
                                        <p:tgtEl>
                                          <p:spTgt spid="42"/>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28">
                                            <p:txEl>
                                              <p:pRg st="0" end="0"/>
                                            </p:txEl>
                                          </p:spTgt>
                                        </p:tgtEl>
                                        <p:attrNameLst>
                                          <p:attrName>style.visibility</p:attrName>
                                        </p:attrNameLst>
                                      </p:cBhvr>
                                      <p:to>
                                        <p:strVal val="visible"/>
                                      </p:to>
                                    </p:set>
                                    <p:anim calcmode="lin" valueType="num">
                                      <p:cBhvr additive="base">
                                        <p:cTn id="53"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 calcmode="lin" valueType="num">
                                      <p:cBhvr additive="base">
                                        <p:cTn id="57" dur="500" fill="hold"/>
                                        <p:tgtEl>
                                          <p:spTgt spid="28"/>
                                        </p:tgtEl>
                                        <p:attrNameLst>
                                          <p:attrName>ppt_x</p:attrName>
                                        </p:attrNameLst>
                                      </p:cBhvr>
                                      <p:tavLst>
                                        <p:tav tm="0">
                                          <p:val>
                                            <p:strVal val="#ppt_x"/>
                                          </p:val>
                                        </p:tav>
                                        <p:tav tm="100000">
                                          <p:val>
                                            <p:strVal val="#ppt_x"/>
                                          </p:val>
                                        </p:tav>
                                      </p:tavLst>
                                    </p:anim>
                                    <p:anim calcmode="lin" valueType="num">
                                      <p:cBhvr additive="base">
                                        <p:cTn id="58" dur="500" fill="hold"/>
                                        <p:tgtEl>
                                          <p:spTgt spid="28"/>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additive="base">
                                        <p:cTn id="61" dur="500" fill="hold"/>
                                        <p:tgtEl>
                                          <p:spTgt spid="9"/>
                                        </p:tgtEl>
                                        <p:attrNameLst>
                                          <p:attrName>ppt_x</p:attrName>
                                        </p:attrNameLst>
                                      </p:cBhvr>
                                      <p:tavLst>
                                        <p:tav tm="0">
                                          <p:val>
                                            <p:strVal val="#ppt_x"/>
                                          </p:val>
                                        </p:tav>
                                        <p:tav tm="100000">
                                          <p:val>
                                            <p:strVal val="#ppt_x"/>
                                          </p:val>
                                        </p:tav>
                                      </p:tavLst>
                                    </p:anim>
                                    <p:anim calcmode="lin" valueType="num">
                                      <p:cBhvr additive="base">
                                        <p:cTn id="6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3" grpId="0" animBg="1"/>
      <p:bldP spid="29" grpId="0"/>
      <p:bldP spid="30" grpId="0"/>
      <p:bldP spid="9" grpId="0" animBg="1"/>
      <p:bldP spid="28" grpId="0"/>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1A3E03A-B5E3-96C8-213D-C02A6FAE08C8}"/>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327EB28D-E999-4215-2641-A0A549C6A6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94034" y="444267"/>
            <a:ext cx="490374" cy="490374"/>
          </a:xfrm>
          <a:prstGeom prst="rect">
            <a:avLst/>
          </a:prstGeom>
        </p:spPr>
      </p:pic>
      <p:sp>
        <p:nvSpPr>
          <p:cNvPr id="3" name="Right Triangle 2">
            <a:extLst>
              <a:ext uri="{FF2B5EF4-FFF2-40B4-BE49-F238E27FC236}">
                <a16:creationId xmlns:a16="http://schemas.microsoft.com/office/drawing/2014/main" id="{4F1FBC92-B4A9-8B59-D668-9594F026951F}"/>
              </a:ext>
            </a:extLst>
          </p:cNvPr>
          <p:cNvSpPr/>
          <p:nvPr/>
        </p:nvSpPr>
        <p:spPr>
          <a:xfrm>
            <a:off x="0"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Triangle 29">
            <a:extLst>
              <a:ext uri="{FF2B5EF4-FFF2-40B4-BE49-F238E27FC236}">
                <a16:creationId xmlns:a16="http://schemas.microsoft.com/office/drawing/2014/main" id="{60DE450F-0703-1CCD-CD3A-6D1FA2073E59}"/>
              </a:ext>
            </a:extLst>
          </p:cNvPr>
          <p:cNvSpPr/>
          <p:nvPr/>
        </p:nvSpPr>
        <p:spPr>
          <a:xfrm rot="-5400000">
            <a:off x="10396069"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A7451DFF-EF40-D93F-B4C0-87E46061E705}"/>
              </a:ext>
            </a:extLst>
          </p:cNvPr>
          <p:cNvSpPr txBox="1"/>
          <p:nvPr/>
        </p:nvSpPr>
        <p:spPr>
          <a:xfrm>
            <a:off x="1886467" y="444267"/>
            <a:ext cx="8419068" cy="1173398"/>
          </a:xfrm>
          <a:prstGeom prst="rect">
            <a:avLst/>
          </a:prstGeom>
          <a:noFill/>
        </p:spPr>
        <p:txBody>
          <a:bodyPr wrap="square" rtlCol="0">
            <a:spAutoFit/>
          </a:bodyPr>
          <a:lstStyle/>
          <a:p>
            <a:pPr algn="ctr">
              <a:lnSpc>
                <a:spcPts val="4200"/>
              </a:lnSpc>
            </a:pP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Multiple Brands:</a:t>
            </a:r>
          </a:p>
          <a:p>
            <a:pPr algn="ctr">
              <a:lnSpc>
                <a:spcPts val="4200"/>
              </a:lnSpc>
            </a:pP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Food Court Franchise</a:t>
            </a:r>
          </a:p>
        </p:txBody>
      </p:sp>
      <p:sp>
        <p:nvSpPr>
          <p:cNvPr id="47" name="Rounded Rectangle 46">
            <a:extLst>
              <a:ext uri="{FF2B5EF4-FFF2-40B4-BE49-F238E27FC236}">
                <a16:creationId xmlns:a16="http://schemas.microsoft.com/office/drawing/2014/main" id="{3E307814-B39D-59E6-1B59-5843BC1F9D17}"/>
              </a:ext>
            </a:extLst>
          </p:cNvPr>
          <p:cNvSpPr/>
          <p:nvPr/>
        </p:nvSpPr>
        <p:spPr>
          <a:xfrm>
            <a:off x="398331" y="1964326"/>
            <a:ext cx="1400838" cy="1375128"/>
          </a:xfrm>
          <a:prstGeom prst="roundRect">
            <a:avLst/>
          </a:prstGeom>
          <a:blipFill dpi="0" rotWithShape="1">
            <a:blip r:embed="rId3"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3" name="Rounded Rectangle 52">
            <a:extLst>
              <a:ext uri="{FF2B5EF4-FFF2-40B4-BE49-F238E27FC236}">
                <a16:creationId xmlns:a16="http://schemas.microsoft.com/office/drawing/2014/main" id="{A46A31F0-A43A-A1F6-D8B6-8E5F33A13C2D}"/>
              </a:ext>
            </a:extLst>
          </p:cNvPr>
          <p:cNvSpPr/>
          <p:nvPr/>
        </p:nvSpPr>
        <p:spPr>
          <a:xfrm>
            <a:off x="2064081" y="1964326"/>
            <a:ext cx="1400838" cy="1375128"/>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4" name="Rounded Rectangle 53">
            <a:extLst>
              <a:ext uri="{FF2B5EF4-FFF2-40B4-BE49-F238E27FC236}">
                <a16:creationId xmlns:a16="http://schemas.microsoft.com/office/drawing/2014/main" id="{3B5E77B2-A433-39D3-80F4-8057BD5DCAB7}"/>
              </a:ext>
            </a:extLst>
          </p:cNvPr>
          <p:cNvSpPr/>
          <p:nvPr/>
        </p:nvSpPr>
        <p:spPr>
          <a:xfrm>
            <a:off x="3729832" y="1964326"/>
            <a:ext cx="1400838" cy="1375128"/>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5" name="Rounded Rectangle 54">
            <a:extLst>
              <a:ext uri="{FF2B5EF4-FFF2-40B4-BE49-F238E27FC236}">
                <a16:creationId xmlns:a16="http://schemas.microsoft.com/office/drawing/2014/main" id="{7985E496-62D0-01C7-82BB-E77D32156A9B}"/>
              </a:ext>
            </a:extLst>
          </p:cNvPr>
          <p:cNvSpPr/>
          <p:nvPr/>
        </p:nvSpPr>
        <p:spPr>
          <a:xfrm>
            <a:off x="5395582" y="1964326"/>
            <a:ext cx="1400838" cy="1375128"/>
          </a:xfrm>
          <a:prstGeom prst="roundRect">
            <a:avLst/>
          </a:prstGeom>
          <a:blipFill dpi="0" rotWithShape="1">
            <a:blip r:embed="rId6"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6" name="Rounded Rectangle 55">
            <a:extLst>
              <a:ext uri="{FF2B5EF4-FFF2-40B4-BE49-F238E27FC236}">
                <a16:creationId xmlns:a16="http://schemas.microsoft.com/office/drawing/2014/main" id="{55081C3D-9A60-5093-05D6-985224185A04}"/>
              </a:ext>
            </a:extLst>
          </p:cNvPr>
          <p:cNvSpPr/>
          <p:nvPr/>
        </p:nvSpPr>
        <p:spPr>
          <a:xfrm>
            <a:off x="7061332" y="1964326"/>
            <a:ext cx="1400838" cy="1375128"/>
          </a:xfrm>
          <a:prstGeom prst="roundRect">
            <a:avLst/>
          </a:prstGeom>
          <a:blipFill dpi="0" rotWithShape="1">
            <a:blip r:embed="rId7"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7" name="Rounded Rectangle 56">
            <a:extLst>
              <a:ext uri="{FF2B5EF4-FFF2-40B4-BE49-F238E27FC236}">
                <a16:creationId xmlns:a16="http://schemas.microsoft.com/office/drawing/2014/main" id="{BF5CF50E-292D-461A-371D-32F691261EED}"/>
              </a:ext>
            </a:extLst>
          </p:cNvPr>
          <p:cNvSpPr/>
          <p:nvPr/>
        </p:nvSpPr>
        <p:spPr>
          <a:xfrm>
            <a:off x="8727083" y="1964326"/>
            <a:ext cx="1400838" cy="1375128"/>
          </a:xfrm>
          <a:prstGeom prst="roundRect">
            <a:avLst/>
          </a:prstGeom>
          <a:blipFill dpi="0" rotWithShape="1">
            <a:blip r:embed="rId8" cstate="print">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solidFill>
                <a:srgbClr val="000000"/>
              </a:solidFill>
            </a:endParaRPr>
          </a:p>
        </p:txBody>
      </p:sp>
      <p:sp>
        <p:nvSpPr>
          <p:cNvPr id="58" name="Rounded Rectangle 57">
            <a:extLst>
              <a:ext uri="{FF2B5EF4-FFF2-40B4-BE49-F238E27FC236}">
                <a16:creationId xmlns:a16="http://schemas.microsoft.com/office/drawing/2014/main" id="{7598ABC4-5C86-5453-0DC2-E319C350CD7F}"/>
              </a:ext>
            </a:extLst>
          </p:cNvPr>
          <p:cNvSpPr/>
          <p:nvPr/>
        </p:nvSpPr>
        <p:spPr>
          <a:xfrm>
            <a:off x="10392832" y="1964326"/>
            <a:ext cx="1400838" cy="1375128"/>
          </a:xfrm>
          <a:prstGeom prst="roundRect">
            <a:avLst/>
          </a:prstGeom>
          <a:blipFill>
            <a:blip r:embed="rId9"/>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9" name="Rounded Rectangle 58">
            <a:extLst>
              <a:ext uri="{FF2B5EF4-FFF2-40B4-BE49-F238E27FC236}">
                <a16:creationId xmlns:a16="http://schemas.microsoft.com/office/drawing/2014/main" id="{1EA151CA-CEF9-3F0D-3A7E-C9FBEF6DC614}"/>
              </a:ext>
            </a:extLst>
          </p:cNvPr>
          <p:cNvSpPr/>
          <p:nvPr/>
        </p:nvSpPr>
        <p:spPr>
          <a:xfrm>
            <a:off x="441609" y="3616550"/>
            <a:ext cx="1400838" cy="1375128"/>
          </a:xfrm>
          <a:prstGeom prst="roundRect">
            <a:avLst/>
          </a:prstGeom>
          <a:blipFill dpi="0" rotWithShape="1">
            <a:blip r:embed="rId10" cstate="print">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0" name="Rounded Rectangle 59">
            <a:extLst>
              <a:ext uri="{FF2B5EF4-FFF2-40B4-BE49-F238E27FC236}">
                <a16:creationId xmlns:a16="http://schemas.microsoft.com/office/drawing/2014/main" id="{4A5A8B98-383C-62D0-D454-9B77C6D0E393}"/>
              </a:ext>
            </a:extLst>
          </p:cNvPr>
          <p:cNvSpPr/>
          <p:nvPr/>
        </p:nvSpPr>
        <p:spPr>
          <a:xfrm>
            <a:off x="2072122" y="3616550"/>
            <a:ext cx="1400838" cy="1375128"/>
          </a:xfrm>
          <a:prstGeom prst="roundRect">
            <a:avLst/>
          </a:prstGeom>
          <a:blipFill dpi="0" rotWithShape="1">
            <a:blip r:embed="rId11"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2" name="Rounded Rectangle 61">
            <a:extLst>
              <a:ext uri="{FF2B5EF4-FFF2-40B4-BE49-F238E27FC236}">
                <a16:creationId xmlns:a16="http://schemas.microsoft.com/office/drawing/2014/main" id="{E0F4DABC-DCA4-0F48-4421-A8C8FF491EBC}"/>
              </a:ext>
            </a:extLst>
          </p:cNvPr>
          <p:cNvSpPr/>
          <p:nvPr/>
        </p:nvSpPr>
        <p:spPr>
          <a:xfrm>
            <a:off x="5438398" y="3690450"/>
            <a:ext cx="1400838" cy="1375128"/>
          </a:xfrm>
          <a:prstGeom prst="roundRect">
            <a:avLst/>
          </a:prstGeom>
          <a:blipFill dpi="0" rotWithShape="1">
            <a:blip r:embed="rId12"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3" name="Rounded Rectangle 62">
            <a:extLst>
              <a:ext uri="{FF2B5EF4-FFF2-40B4-BE49-F238E27FC236}">
                <a16:creationId xmlns:a16="http://schemas.microsoft.com/office/drawing/2014/main" id="{9DEEAD70-9658-334E-EC79-EB932278F3EF}"/>
              </a:ext>
            </a:extLst>
          </p:cNvPr>
          <p:cNvSpPr/>
          <p:nvPr/>
        </p:nvSpPr>
        <p:spPr>
          <a:xfrm>
            <a:off x="7115427" y="3661175"/>
            <a:ext cx="1400838" cy="1375128"/>
          </a:xfrm>
          <a:prstGeom prst="roundRect">
            <a:avLst/>
          </a:prstGeom>
          <a:blipFill dpi="0" rotWithShape="1">
            <a:blip r:embed="rId13" cstate="print">
              <a:extLst>
                <a:ext uri="{28A0092B-C50C-407E-A947-70E740481C1C}">
                  <a14:useLocalDpi xmlns:a14="http://schemas.microsoft.com/office/drawing/2010/main" val="0"/>
                </a:ext>
              </a:extLst>
            </a:blip>
            <a:srcRect/>
            <a:stretch>
              <a:fillRect/>
            </a:stretch>
          </a:blipFill>
          <a:ln w="1270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4" name="Rounded Rectangle 63">
            <a:extLst>
              <a:ext uri="{FF2B5EF4-FFF2-40B4-BE49-F238E27FC236}">
                <a16:creationId xmlns:a16="http://schemas.microsoft.com/office/drawing/2014/main" id="{9436300A-9DD3-4A7E-6471-8D69DF02DCBC}"/>
              </a:ext>
            </a:extLst>
          </p:cNvPr>
          <p:cNvSpPr/>
          <p:nvPr/>
        </p:nvSpPr>
        <p:spPr>
          <a:xfrm>
            <a:off x="8740844" y="3686115"/>
            <a:ext cx="1400838" cy="1375128"/>
          </a:xfrm>
          <a:prstGeom prst="roundRect">
            <a:avLst/>
          </a:prstGeom>
          <a:blipFill dpi="0" rotWithShape="1">
            <a:blip r:embed="rId14"/>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65" name="TextBox 64">
            <a:extLst>
              <a:ext uri="{FF2B5EF4-FFF2-40B4-BE49-F238E27FC236}">
                <a16:creationId xmlns:a16="http://schemas.microsoft.com/office/drawing/2014/main" id="{CDCBD21E-9D98-8C03-D3FD-FA7BBA1D59E3}"/>
              </a:ext>
            </a:extLst>
          </p:cNvPr>
          <p:cNvSpPr txBox="1"/>
          <p:nvPr/>
        </p:nvSpPr>
        <p:spPr>
          <a:xfrm>
            <a:off x="4712043" y="5510064"/>
            <a:ext cx="2767914" cy="461665"/>
          </a:xfrm>
          <a:prstGeom prst="rect">
            <a:avLst/>
          </a:prstGeom>
          <a:noFill/>
        </p:spPr>
        <p:txBody>
          <a:bodyPr wrap="square" rtlCol="0">
            <a:spAutoFit/>
          </a:bodyPr>
          <a:lstStyle/>
          <a:p>
            <a:pPr algn="ctr"/>
            <a:r>
              <a:rPr lang="en-US" sz="2400" b="1" dirty="0">
                <a:solidFill>
                  <a:schemeClr val="bg1"/>
                </a:solidFill>
                <a:latin typeface="Bricolage Grotesque 14pt" panose="020B0605040402000204" pitchFamily="34" charset="0"/>
                <a:ea typeface="Roboto" panose="02000000000000000000" pitchFamily="2" charset="0"/>
                <a:cs typeface="Heebo" pitchFamily="2" charset="-79"/>
              </a:rPr>
              <a:t>Choose Yours!</a:t>
            </a:r>
            <a:endParaRPr lang="en-US" sz="2400" b="1" dirty="0">
              <a:solidFill>
                <a:srgbClr val="16DB65"/>
              </a:solidFill>
              <a:latin typeface="Bricolage Grotesque 14pt" panose="020B0605040402000204" pitchFamily="34" charset="0"/>
              <a:ea typeface="Roboto" panose="02000000000000000000" pitchFamily="2" charset="0"/>
              <a:cs typeface="Heebo" pitchFamily="2" charset="-79"/>
            </a:endParaRPr>
          </a:p>
        </p:txBody>
      </p:sp>
      <p:sp>
        <p:nvSpPr>
          <p:cNvPr id="2" name="TextBox 1">
            <a:extLst>
              <a:ext uri="{FF2B5EF4-FFF2-40B4-BE49-F238E27FC236}">
                <a16:creationId xmlns:a16="http://schemas.microsoft.com/office/drawing/2014/main" id="{30014CF7-1A94-D301-81FC-8440D2E99336}"/>
              </a:ext>
            </a:extLst>
          </p:cNvPr>
          <p:cNvSpPr txBox="1"/>
          <p:nvPr/>
        </p:nvSpPr>
        <p:spPr>
          <a:xfrm>
            <a:off x="4206863" y="5971729"/>
            <a:ext cx="3863907" cy="369332"/>
          </a:xfrm>
          <a:prstGeom prst="rect">
            <a:avLst/>
          </a:prstGeom>
          <a:noFill/>
        </p:spPr>
        <p:txBody>
          <a:bodyPr wrap="square" rtlCol="0">
            <a:spAutoFit/>
          </a:bodyPr>
          <a:lstStyle/>
          <a:p>
            <a:pPr algn="ctr"/>
            <a:r>
              <a:rPr lang="en-US" b="1" dirty="0">
                <a:solidFill>
                  <a:srgbClr val="FFBA00"/>
                </a:solidFill>
              </a:rPr>
              <a:t>FOFO, FOCO or Whitelisting Model</a:t>
            </a:r>
          </a:p>
        </p:txBody>
      </p:sp>
      <p:sp>
        <p:nvSpPr>
          <p:cNvPr id="20" name="Rounded Rectangle 19">
            <a:extLst>
              <a:ext uri="{FF2B5EF4-FFF2-40B4-BE49-F238E27FC236}">
                <a16:creationId xmlns:a16="http://schemas.microsoft.com/office/drawing/2014/main" id="{ABC93CA2-02D0-4112-1D94-C135986395D2}"/>
              </a:ext>
            </a:extLst>
          </p:cNvPr>
          <p:cNvSpPr/>
          <p:nvPr/>
        </p:nvSpPr>
        <p:spPr>
          <a:xfrm>
            <a:off x="3729832" y="3666869"/>
            <a:ext cx="1400838" cy="1375128"/>
          </a:xfrm>
          <a:prstGeom prst="roundRect">
            <a:avLst/>
          </a:prstGeom>
          <a:blipFill dpi="0" rotWithShape="1">
            <a:blip r:embed="rId1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5" name="Rounded Rectangle 16">
            <a:extLst>
              <a:ext uri="{FF2B5EF4-FFF2-40B4-BE49-F238E27FC236}">
                <a16:creationId xmlns:a16="http://schemas.microsoft.com/office/drawing/2014/main" id="{D2D4EFEE-8884-59F3-5057-21C3100E8750}"/>
              </a:ext>
            </a:extLst>
          </p:cNvPr>
          <p:cNvSpPr/>
          <p:nvPr/>
        </p:nvSpPr>
        <p:spPr>
          <a:xfrm>
            <a:off x="10417873" y="3690450"/>
            <a:ext cx="1400838" cy="1370793"/>
          </a:xfrm>
          <a:prstGeom prst="roundRect">
            <a:avLst/>
          </a:prstGeom>
          <a:blipFill dpi="0" rotWithShape="1">
            <a:blip r:embed="rId16"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897288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barn(inVertical)">
                                      <p:cBhvr>
                                        <p:cTn id="17" dur="500"/>
                                        <p:tgtEl>
                                          <p:spTgt spid="47"/>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barn(inVertical)">
                                      <p:cBhvr>
                                        <p:cTn id="20" dur="500"/>
                                        <p:tgtEl>
                                          <p:spTgt spid="53"/>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barn(inVertical)">
                                      <p:cBhvr>
                                        <p:cTn id="23" dur="500"/>
                                        <p:tgtEl>
                                          <p:spTgt spid="54"/>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barn(inVertical)">
                                      <p:cBhvr>
                                        <p:cTn id="26" dur="500"/>
                                        <p:tgtEl>
                                          <p:spTgt spid="55"/>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barn(inVertical)">
                                      <p:cBhvr>
                                        <p:cTn id="29" dur="500"/>
                                        <p:tgtEl>
                                          <p:spTgt spid="56"/>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barn(inVertical)">
                                      <p:cBhvr>
                                        <p:cTn id="32" dur="500"/>
                                        <p:tgtEl>
                                          <p:spTgt spid="57"/>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barn(inVertical)">
                                      <p:cBhvr>
                                        <p:cTn id="35" dur="500"/>
                                        <p:tgtEl>
                                          <p:spTgt spid="58"/>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59"/>
                                        </p:tgtEl>
                                        <p:attrNameLst>
                                          <p:attrName>style.visibility</p:attrName>
                                        </p:attrNameLst>
                                      </p:cBhvr>
                                      <p:to>
                                        <p:strVal val="visible"/>
                                      </p:to>
                                    </p:set>
                                    <p:animEffect transition="in" filter="barn(inVertical)">
                                      <p:cBhvr>
                                        <p:cTn id="38" dur="500"/>
                                        <p:tgtEl>
                                          <p:spTgt spid="59"/>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barn(inVertical)">
                                      <p:cBhvr>
                                        <p:cTn id="41" dur="500"/>
                                        <p:tgtEl>
                                          <p:spTgt spid="60"/>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barn(inVertical)">
                                      <p:cBhvr>
                                        <p:cTn id="44" dur="500"/>
                                        <p:tgtEl>
                                          <p:spTgt spid="20"/>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barn(inVertical)">
                                      <p:cBhvr>
                                        <p:cTn id="47" dur="500"/>
                                        <p:tgtEl>
                                          <p:spTgt spid="62"/>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barn(inVertical)">
                                      <p:cBhvr>
                                        <p:cTn id="50" dur="500"/>
                                        <p:tgtEl>
                                          <p:spTgt spid="63"/>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64"/>
                                        </p:tgtEl>
                                        <p:attrNameLst>
                                          <p:attrName>style.visibility</p:attrName>
                                        </p:attrNameLst>
                                      </p:cBhvr>
                                      <p:to>
                                        <p:strVal val="visible"/>
                                      </p:to>
                                    </p:set>
                                    <p:animEffect transition="in" filter="barn(inVertical)">
                                      <p:cBhvr>
                                        <p:cTn id="53" dur="500"/>
                                        <p:tgtEl>
                                          <p:spTgt spid="64"/>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barn(inVertical)">
                                      <p:cBhvr>
                                        <p:cTn id="56" dur="500"/>
                                        <p:tgtEl>
                                          <p:spTgt spid="5"/>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65"/>
                                        </p:tgtEl>
                                        <p:attrNameLst>
                                          <p:attrName>style.visibility</p:attrName>
                                        </p:attrNameLst>
                                      </p:cBhvr>
                                      <p:to>
                                        <p:strVal val="visible"/>
                                      </p:to>
                                    </p:set>
                                    <p:animEffect transition="in" filter="fade">
                                      <p:cBhvr>
                                        <p:cTn id="61" dur="1000"/>
                                        <p:tgtEl>
                                          <p:spTgt spid="65"/>
                                        </p:tgtEl>
                                      </p:cBhvr>
                                    </p:animEffect>
                                    <p:anim calcmode="lin" valueType="num">
                                      <p:cBhvr>
                                        <p:cTn id="62" dur="1000" fill="hold"/>
                                        <p:tgtEl>
                                          <p:spTgt spid="65"/>
                                        </p:tgtEl>
                                        <p:attrNameLst>
                                          <p:attrName>ppt_x</p:attrName>
                                        </p:attrNameLst>
                                      </p:cBhvr>
                                      <p:tavLst>
                                        <p:tav tm="0">
                                          <p:val>
                                            <p:strVal val="#ppt_x"/>
                                          </p:val>
                                        </p:tav>
                                        <p:tav tm="100000">
                                          <p:val>
                                            <p:strVal val="#ppt_x"/>
                                          </p:val>
                                        </p:tav>
                                      </p:tavLst>
                                    </p:anim>
                                    <p:anim calcmode="lin" valueType="num">
                                      <p:cBhvr>
                                        <p:cTn id="63" dur="1000" fill="hold"/>
                                        <p:tgtEl>
                                          <p:spTgt spid="65"/>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2"/>
                                        </p:tgtEl>
                                        <p:attrNameLst>
                                          <p:attrName>style.visibility</p:attrName>
                                        </p:attrNameLst>
                                      </p:cBhvr>
                                      <p:to>
                                        <p:strVal val="visible"/>
                                      </p:to>
                                    </p:set>
                                    <p:animEffect transition="in" filter="fade">
                                      <p:cBhvr>
                                        <p:cTn id="66" dur="1000"/>
                                        <p:tgtEl>
                                          <p:spTgt spid="2"/>
                                        </p:tgtEl>
                                      </p:cBhvr>
                                    </p:animEffect>
                                    <p:anim calcmode="lin" valueType="num">
                                      <p:cBhvr>
                                        <p:cTn id="67" dur="1000" fill="hold"/>
                                        <p:tgtEl>
                                          <p:spTgt spid="2"/>
                                        </p:tgtEl>
                                        <p:attrNameLst>
                                          <p:attrName>ppt_x</p:attrName>
                                        </p:attrNameLst>
                                      </p:cBhvr>
                                      <p:tavLst>
                                        <p:tav tm="0">
                                          <p:val>
                                            <p:strVal val="#ppt_x"/>
                                          </p:val>
                                        </p:tav>
                                        <p:tav tm="100000">
                                          <p:val>
                                            <p:strVal val="#ppt_x"/>
                                          </p:val>
                                        </p:tav>
                                      </p:tavLst>
                                    </p:anim>
                                    <p:anim calcmode="lin" valueType="num">
                                      <p:cBhvr>
                                        <p:cTn id="6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animBg="1"/>
      <p:bldP spid="53" grpId="0" animBg="1"/>
      <p:bldP spid="54" grpId="0" animBg="1"/>
      <p:bldP spid="55" grpId="0" animBg="1"/>
      <p:bldP spid="56" grpId="0" animBg="1"/>
      <p:bldP spid="57" grpId="0" animBg="1"/>
      <p:bldP spid="58" grpId="0" animBg="1"/>
      <p:bldP spid="59" grpId="0" animBg="1"/>
      <p:bldP spid="60" grpId="0" animBg="1"/>
      <p:bldP spid="62" grpId="0" animBg="1"/>
      <p:bldP spid="63" grpId="0" animBg="1"/>
      <p:bldP spid="64" grpId="0" animBg="1"/>
      <p:bldP spid="65" grpId="0"/>
      <p:bldP spid="2" grpId="0"/>
      <p:bldP spid="20" grpId="0" animBg="1"/>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3EB02-AF25-B675-5A2F-B7C278545B88}"/>
            </a:ext>
          </a:extLst>
        </p:cNvPr>
        <p:cNvGrpSpPr/>
        <p:nvPr/>
      </p:nvGrpSpPr>
      <p:grpSpPr>
        <a:xfrm>
          <a:off x="0" y="0"/>
          <a:ext cx="0" cy="0"/>
          <a:chOff x="0" y="0"/>
          <a:chExt cx="0" cy="0"/>
        </a:xfrm>
      </p:grpSpPr>
      <p:sp>
        <p:nvSpPr>
          <p:cNvPr id="3" name="Right Triangle 2">
            <a:extLst>
              <a:ext uri="{FF2B5EF4-FFF2-40B4-BE49-F238E27FC236}">
                <a16:creationId xmlns:a16="http://schemas.microsoft.com/office/drawing/2014/main" id="{5120FF26-7056-B997-E649-2BFCB53746D7}"/>
              </a:ext>
            </a:extLst>
          </p:cNvPr>
          <p:cNvSpPr/>
          <p:nvPr/>
        </p:nvSpPr>
        <p:spPr>
          <a:xfrm>
            <a:off x="0"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Triangle 29">
            <a:extLst>
              <a:ext uri="{FF2B5EF4-FFF2-40B4-BE49-F238E27FC236}">
                <a16:creationId xmlns:a16="http://schemas.microsoft.com/office/drawing/2014/main" id="{3E042CF6-365D-4913-0EE8-0CC08092385E}"/>
              </a:ext>
            </a:extLst>
          </p:cNvPr>
          <p:cNvSpPr/>
          <p:nvPr/>
        </p:nvSpPr>
        <p:spPr>
          <a:xfrm rot="-5400000">
            <a:off x="10396069" y="4842932"/>
            <a:ext cx="1795931" cy="1795931"/>
          </a:xfrm>
          <a:prstGeom prst="rtTriangle">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5AE7FD6-4D72-6B72-ECCA-CA77DD8D09A2}"/>
              </a:ext>
            </a:extLst>
          </p:cNvPr>
          <p:cNvSpPr txBox="1"/>
          <p:nvPr/>
        </p:nvSpPr>
        <p:spPr>
          <a:xfrm>
            <a:off x="4712043" y="5510064"/>
            <a:ext cx="2767914" cy="461665"/>
          </a:xfrm>
          <a:prstGeom prst="rect">
            <a:avLst/>
          </a:prstGeom>
          <a:noFill/>
        </p:spPr>
        <p:txBody>
          <a:bodyPr wrap="square" rtlCol="0">
            <a:spAutoFit/>
          </a:bodyPr>
          <a:lstStyle/>
          <a:p>
            <a:pPr algn="ctr"/>
            <a:r>
              <a:rPr lang="en-US" sz="2400" b="1" dirty="0">
                <a:solidFill>
                  <a:schemeClr val="bg1"/>
                </a:solidFill>
                <a:latin typeface="Bricolage Grotesque 14pt" panose="020B0605040402000204" pitchFamily="34" charset="0"/>
                <a:ea typeface="Roboto" panose="02000000000000000000" pitchFamily="2" charset="0"/>
                <a:cs typeface="Heebo" pitchFamily="2" charset="-79"/>
              </a:rPr>
              <a:t>Choose Yours!</a:t>
            </a:r>
            <a:endParaRPr lang="en-US" sz="2400" b="1" dirty="0">
              <a:solidFill>
                <a:srgbClr val="16DB65"/>
              </a:solidFill>
              <a:latin typeface="Bricolage Grotesque 14pt" panose="020B0605040402000204" pitchFamily="34" charset="0"/>
              <a:ea typeface="Roboto" panose="02000000000000000000" pitchFamily="2" charset="0"/>
              <a:cs typeface="Heebo" pitchFamily="2" charset="-79"/>
            </a:endParaRPr>
          </a:p>
        </p:txBody>
      </p:sp>
      <p:sp>
        <p:nvSpPr>
          <p:cNvPr id="24" name="TextBox 23">
            <a:extLst>
              <a:ext uri="{FF2B5EF4-FFF2-40B4-BE49-F238E27FC236}">
                <a16:creationId xmlns:a16="http://schemas.microsoft.com/office/drawing/2014/main" id="{54211D27-78C9-1AE3-6933-EAB0D3328D38}"/>
              </a:ext>
            </a:extLst>
          </p:cNvPr>
          <p:cNvSpPr txBox="1"/>
          <p:nvPr/>
        </p:nvSpPr>
        <p:spPr>
          <a:xfrm>
            <a:off x="1886467" y="444267"/>
            <a:ext cx="8419068" cy="1173398"/>
          </a:xfrm>
          <a:prstGeom prst="rect">
            <a:avLst/>
          </a:prstGeom>
          <a:noFill/>
        </p:spPr>
        <p:txBody>
          <a:bodyPr wrap="square" rtlCol="0">
            <a:spAutoFit/>
          </a:bodyPr>
          <a:lstStyle/>
          <a:p>
            <a:pPr algn="ctr">
              <a:lnSpc>
                <a:spcPts val="4200"/>
              </a:lnSpc>
            </a:pP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Multiple Brands:</a:t>
            </a:r>
          </a:p>
          <a:p>
            <a:pPr algn="ctr">
              <a:lnSpc>
                <a:spcPts val="4200"/>
              </a:lnSpc>
            </a:pP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Food Court Franchise</a:t>
            </a:r>
          </a:p>
        </p:txBody>
      </p:sp>
      <p:pic>
        <p:nvPicPr>
          <p:cNvPr id="25" name="Picture 24">
            <a:extLst>
              <a:ext uri="{FF2B5EF4-FFF2-40B4-BE49-F238E27FC236}">
                <a16:creationId xmlns:a16="http://schemas.microsoft.com/office/drawing/2014/main" id="{20A2258C-4FDB-624E-E3B9-93D4712199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94034" y="444267"/>
            <a:ext cx="490374" cy="490374"/>
          </a:xfrm>
          <a:prstGeom prst="rect">
            <a:avLst/>
          </a:prstGeom>
        </p:spPr>
      </p:pic>
      <p:sp>
        <p:nvSpPr>
          <p:cNvPr id="9" name="Rounded Rectangle 8">
            <a:extLst>
              <a:ext uri="{FF2B5EF4-FFF2-40B4-BE49-F238E27FC236}">
                <a16:creationId xmlns:a16="http://schemas.microsoft.com/office/drawing/2014/main" id="{602FB39D-B337-7839-3D12-22C7ED31EA20}"/>
              </a:ext>
            </a:extLst>
          </p:cNvPr>
          <p:cNvSpPr/>
          <p:nvPr/>
        </p:nvSpPr>
        <p:spPr>
          <a:xfrm>
            <a:off x="2480027" y="1980802"/>
            <a:ext cx="1400838" cy="1375128"/>
          </a:xfrm>
          <a:prstGeom prst="roundRect">
            <a:avLst/>
          </a:prstGeom>
          <a:blipFill dpi="0" rotWithShape="1">
            <a:blip r:embed="rId3"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0" name="Rounded Rectangle 9">
            <a:extLst>
              <a:ext uri="{FF2B5EF4-FFF2-40B4-BE49-F238E27FC236}">
                <a16:creationId xmlns:a16="http://schemas.microsoft.com/office/drawing/2014/main" id="{CF3D3DDB-CBEE-9904-8A53-554DF10C7AA3}"/>
              </a:ext>
            </a:extLst>
          </p:cNvPr>
          <p:cNvSpPr/>
          <p:nvPr/>
        </p:nvSpPr>
        <p:spPr>
          <a:xfrm>
            <a:off x="4145777" y="1980802"/>
            <a:ext cx="1400838" cy="1375128"/>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1" name="Rounded Rectangle 10">
            <a:extLst>
              <a:ext uri="{FF2B5EF4-FFF2-40B4-BE49-F238E27FC236}">
                <a16:creationId xmlns:a16="http://schemas.microsoft.com/office/drawing/2014/main" id="{6D8C17C6-6E2B-5DFE-B427-E9C5DE8689D9}"/>
              </a:ext>
            </a:extLst>
          </p:cNvPr>
          <p:cNvSpPr/>
          <p:nvPr/>
        </p:nvSpPr>
        <p:spPr>
          <a:xfrm>
            <a:off x="5811528" y="1980802"/>
            <a:ext cx="1400838" cy="1375128"/>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2" name="Rounded Rectangle 11">
            <a:extLst>
              <a:ext uri="{FF2B5EF4-FFF2-40B4-BE49-F238E27FC236}">
                <a16:creationId xmlns:a16="http://schemas.microsoft.com/office/drawing/2014/main" id="{97E0B777-8F4F-494B-3FE9-A83E220BCABA}"/>
              </a:ext>
            </a:extLst>
          </p:cNvPr>
          <p:cNvSpPr/>
          <p:nvPr/>
        </p:nvSpPr>
        <p:spPr>
          <a:xfrm>
            <a:off x="7477278" y="1980802"/>
            <a:ext cx="1400838" cy="1375128"/>
          </a:xfrm>
          <a:prstGeom prst="roundRect">
            <a:avLst/>
          </a:prstGeom>
          <a:blipFill dpi="0" rotWithShape="1">
            <a:blip r:embed="rId6"/>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6" name="Rounded Rectangle 15">
            <a:extLst>
              <a:ext uri="{FF2B5EF4-FFF2-40B4-BE49-F238E27FC236}">
                <a16:creationId xmlns:a16="http://schemas.microsoft.com/office/drawing/2014/main" id="{9C9B5443-A587-D7E5-E5D1-3254F007FB6E}"/>
              </a:ext>
            </a:extLst>
          </p:cNvPr>
          <p:cNvSpPr/>
          <p:nvPr/>
        </p:nvSpPr>
        <p:spPr>
          <a:xfrm>
            <a:off x="3311920" y="3666869"/>
            <a:ext cx="1400838" cy="1375128"/>
          </a:xfrm>
          <a:prstGeom prst="roundRect">
            <a:avLst/>
          </a:prstGeom>
          <a:blipFill dpi="0" rotWithShape="1">
            <a:blip r:embed="rId7" cstate="print">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17" name="Rounded Rectangle 16">
            <a:extLst>
              <a:ext uri="{FF2B5EF4-FFF2-40B4-BE49-F238E27FC236}">
                <a16:creationId xmlns:a16="http://schemas.microsoft.com/office/drawing/2014/main" id="{9F36A4A8-EE1D-A56C-A043-31AAFB89BF49}"/>
              </a:ext>
            </a:extLst>
          </p:cNvPr>
          <p:cNvSpPr/>
          <p:nvPr/>
        </p:nvSpPr>
        <p:spPr>
          <a:xfrm>
            <a:off x="4978325" y="3666869"/>
            <a:ext cx="1400838" cy="1375128"/>
          </a:xfrm>
          <a:prstGeom prst="roundRect">
            <a:avLst/>
          </a:prstGeom>
          <a:blipFill dpi="0" rotWithShape="1">
            <a:blip r:embed="rId8"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18" name="Rounded Rectangle 17">
            <a:extLst>
              <a:ext uri="{FF2B5EF4-FFF2-40B4-BE49-F238E27FC236}">
                <a16:creationId xmlns:a16="http://schemas.microsoft.com/office/drawing/2014/main" id="{2260FCA3-9AC2-1566-1E13-8A13C312D0BB}"/>
              </a:ext>
            </a:extLst>
          </p:cNvPr>
          <p:cNvSpPr/>
          <p:nvPr/>
        </p:nvSpPr>
        <p:spPr>
          <a:xfrm>
            <a:off x="8311135" y="3666869"/>
            <a:ext cx="1400838" cy="1375128"/>
          </a:xfrm>
          <a:prstGeom prst="roundRect">
            <a:avLst/>
          </a:prstGeom>
          <a:blipFill dpi="0" rotWithShape="1">
            <a:blip r:embed="rId9"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26" name="Rounded Rectangle 25">
            <a:extLst>
              <a:ext uri="{FF2B5EF4-FFF2-40B4-BE49-F238E27FC236}">
                <a16:creationId xmlns:a16="http://schemas.microsoft.com/office/drawing/2014/main" id="{EED3ED81-DEDF-C9AC-908C-040F11E89B15}"/>
              </a:ext>
            </a:extLst>
          </p:cNvPr>
          <p:cNvSpPr/>
          <p:nvPr/>
        </p:nvSpPr>
        <p:spPr>
          <a:xfrm>
            <a:off x="6644730" y="3666869"/>
            <a:ext cx="1400838" cy="1375128"/>
          </a:xfrm>
          <a:prstGeom prst="roundRect">
            <a:avLst/>
          </a:prstGeom>
          <a:blipFill dpi="0" rotWithShape="1">
            <a:blip r:embed="rId10"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9" name="TextBox 18">
            <a:extLst>
              <a:ext uri="{FF2B5EF4-FFF2-40B4-BE49-F238E27FC236}">
                <a16:creationId xmlns:a16="http://schemas.microsoft.com/office/drawing/2014/main" id="{1863B71B-531F-CC79-189E-9A01F6FA40B5}"/>
              </a:ext>
            </a:extLst>
          </p:cNvPr>
          <p:cNvSpPr txBox="1"/>
          <p:nvPr/>
        </p:nvSpPr>
        <p:spPr>
          <a:xfrm>
            <a:off x="4331902" y="5965445"/>
            <a:ext cx="3814746" cy="369332"/>
          </a:xfrm>
          <a:prstGeom prst="rect">
            <a:avLst/>
          </a:prstGeom>
          <a:noFill/>
        </p:spPr>
        <p:txBody>
          <a:bodyPr wrap="square" rtlCol="0">
            <a:spAutoFit/>
          </a:bodyPr>
          <a:lstStyle/>
          <a:p>
            <a:pPr algn="ctr"/>
            <a:r>
              <a:rPr lang="en-US" b="1" dirty="0">
                <a:solidFill>
                  <a:srgbClr val="FFBA00"/>
                </a:solidFill>
              </a:rPr>
              <a:t>FOFO, FOCO or Whitelisting Model</a:t>
            </a:r>
          </a:p>
        </p:txBody>
      </p:sp>
    </p:spTree>
    <p:extLst>
      <p:ext uri="{BB962C8B-B14F-4D97-AF65-F5344CB8AC3E}">
        <p14:creationId xmlns:p14="http://schemas.microsoft.com/office/powerpoint/2010/main" val="3009156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arn(inVertical)">
                                      <p:cBhvr>
                                        <p:cTn id="20" dur="500"/>
                                        <p:tgtEl>
                                          <p:spTgt spid="10"/>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inVertical)">
                                      <p:cBhvr>
                                        <p:cTn id="23" dur="500"/>
                                        <p:tgtEl>
                                          <p:spTgt spid="11"/>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arn(inVertical)">
                                      <p:cBhvr>
                                        <p:cTn id="26" dur="500"/>
                                        <p:tgtEl>
                                          <p:spTgt spid="12"/>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barn(inVertical)">
                                      <p:cBhvr>
                                        <p:cTn id="29" dur="500"/>
                                        <p:tgtEl>
                                          <p:spTgt spid="16"/>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arn(inVertical)">
                                      <p:cBhvr>
                                        <p:cTn id="32" dur="500"/>
                                        <p:tgtEl>
                                          <p:spTgt spid="17"/>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barn(inVertical)">
                                      <p:cBhvr>
                                        <p:cTn id="35" dur="500"/>
                                        <p:tgtEl>
                                          <p:spTgt spid="18"/>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barn(inVertical)">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9" grpId="0" animBg="1"/>
      <p:bldP spid="10" grpId="0" animBg="1"/>
      <p:bldP spid="11" grpId="0" animBg="1"/>
      <p:bldP spid="12" grpId="0" animBg="1"/>
      <p:bldP spid="16" grpId="0" animBg="1"/>
      <p:bldP spid="17" grpId="0" animBg="1"/>
      <p:bldP spid="18" grpId="0" animBg="1"/>
      <p:bldP spid="26" grpId="0" animBg="1"/>
      <p:bldP spid="1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p:cNvSpPr/>
          <p:nvPr/>
        </p:nvSpPr>
        <p:spPr>
          <a:xfrm>
            <a:off x="0" y="2825577"/>
            <a:ext cx="12192000" cy="1031282"/>
          </a:xfrm>
          <a:prstGeom prst="rect">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4B1C45F8-40C5-657A-8F6A-87E23F35D73B}"/>
              </a:ext>
            </a:extLst>
          </p:cNvPr>
          <p:cNvSpPr txBox="1"/>
          <p:nvPr/>
        </p:nvSpPr>
        <p:spPr>
          <a:xfrm>
            <a:off x="2847978" y="348007"/>
            <a:ext cx="6496044" cy="707886"/>
          </a:xfrm>
          <a:prstGeom prst="rect">
            <a:avLst/>
          </a:prstGeom>
          <a:noFill/>
        </p:spPr>
        <p:txBody>
          <a:bodyPr wrap="square" rtlCol="0">
            <a:spAutoFit/>
          </a:bodyPr>
          <a:lstStyle/>
          <a:p>
            <a:pPr algn="ct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Internet </a:t>
            </a: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Restaurant</a:t>
            </a:r>
          </a:p>
        </p:txBody>
      </p:sp>
      <p:sp>
        <p:nvSpPr>
          <p:cNvPr id="21" name="TextBox 20">
            <a:extLst>
              <a:ext uri="{FF2B5EF4-FFF2-40B4-BE49-F238E27FC236}">
                <a16:creationId xmlns:a16="http://schemas.microsoft.com/office/drawing/2014/main" id="{4B1C45F8-40C5-657A-8F6A-87E23F35D73B}"/>
              </a:ext>
            </a:extLst>
          </p:cNvPr>
          <p:cNvSpPr txBox="1"/>
          <p:nvPr/>
        </p:nvSpPr>
        <p:spPr>
          <a:xfrm>
            <a:off x="1592131" y="4052901"/>
            <a:ext cx="9003110" cy="461665"/>
          </a:xfrm>
          <a:prstGeom prst="rect">
            <a:avLst/>
          </a:prstGeom>
          <a:noFill/>
        </p:spPr>
        <p:txBody>
          <a:bodyPr wrap="square" rtlCol="0">
            <a:spAutoFit/>
          </a:bodyPr>
          <a:lstStyle/>
          <a:p>
            <a:pPr algn="ctr"/>
            <a:r>
              <a:rPr lang="en-US" sz="2400" b="1" dirty="0">
                <a:solidFill>
                  <a:schemeClr val="bg1"/>
                </a:solidFill>
                <a:latin typeface="Bricolage Grotesque 14pt" panose="020B0605040402000204" pitchFamily="34" charset="0"/>
                <a:ea typeface="Roboto" panose="02000000000000000000" pitchFamily="2" charset="0"/>
                <a:cs typeface="Heebo" pitchFamily="2" charset="-79"/>
              </a:rPr>
              <a:t>Benefits of franchise of the </a:t>
            </a:r>
            <a:r>
              <a:rPr lang="en-US" sz="2400" b="1" dirty="0">
                <a:solidFill>
                  <a:srgbClr val="16DB65"/>
                </a:solidFill>
                <a:latin typeface="Bricolage Grotesque 14pt" panose="020B0605040402000204" pitchFamily="34" charset="0"/>
                <a:ea typeface="Roboto" panose="02000000000000000000" pitchFamily="2" charset="0"/>
                <a:cs typeface="Heebo" pitchFamily="2" charset="-79"/>
              </a:rPr>
              <a:t>Internet Restaurant</a:t>
            </a:r>
          </a:p>
        </p:txBody>
      </p:sp>
      <p:grpSp>
        <p:nvGrpSpPr>
          <p:cNvPr id="8" name="Group 7"/>
          <p:cNvGrpSpPr/>
          <p:nvPr/>
        </p:nvGrpSpPr>
        <p:grpSpPr>
          <a:xfrm>
            <a:off x="1720327" y="4569388"/>
            <a:ext cx="8751346" cy="1701726"/>
            <a:chOff x="1596760" y="4660006"/>
            <a:chExt cx="8751346" cy="1701726"/>
          </a:xfrm>
        </p:grpSpPr>
        <p:grpSp>
          <p:nvGrpSpPr>
            <p:cNvPr id="4" name="Group 3"/>
            <p:cNvGrpSpPr/>
            <p:nvPr/>
          </p:nvGrpSpPr>
          <p:grpSpPr>
            <a:xfrm>
              <a:off x="6174440" y="4660007"/>
              <a:ext cx="1884826" cy="1701724"/>
              <a:chOff x="6339196" y="4526083"/>
              <a:chExt cx="1884826" cy="1701724"/>
            </a:xfrm>
          </p:grpSpPr>
          <p:sp>
            <p:nvSpPr>
              <p:cNvPr id="35" name="Rounded Rectangle 34"/>
              <p:cNvSpPr/>
              <p:nvPr/>
            </p:nvSpPr>
            <p:spPr>
              <a:xfrm>
                <a:off x="6414839" y="4526083"/>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36" name="TextBox 35"/>
              <p:cNvSpPr txBox="1"/>
              <p:nvPr/>
            </p:nvSpPr>
            <p:spPr>
              <a:xfrm>
                <a:off x="6339196" y="5511972"/>
                <a:ext cx="1884826" cy="646331"/>
              </a:xfrm>
              <a:prstGeom prst="rect">
                <a:avLst/>
              </a:prstGeom>
              <a:noFill/>
            </p:spPr>
            <p:txBody>
              <a:bodyPr wrap="square" rtlCol="0">
                <a:spAutoFit/>
              </a:bodyPr>
              <a:lstStyle/>
              <a:p>
                <a:pPr algn="ctr"/>
                <a:r>
                  <a:rPr lang="en-US" b="1" dirty="0">
                    <a:solidFill>
                      <a:srgbClr val="F95050"/>
                    </a:solidFill>
                    <a:latin typeface="Bricolage Grotesque 14pt" panose="020B0605040402000204" pitchFamily="34" charset="0"/>
                  </a:rPr>
                  <a:t>High </a:t>
                </a:r>
              </a:p>
              <a:p>
                <a:pPr algn="ctr"/>
                <a:r>
                  <a:rPr lang="en-US" b="1" dirty="0">
                    <a:solidFill>
                      <a:srgbClr val="F95050"/>
                    </a:solidFill>
                    <a:latin typeface="Bricolage Grotesque 14pt" panose="020B0605040402000204" pitchFamily="34" charset="0"/>
                  </a:rPr>
                  <a:t>Margins</a:t>
                </a:r>
              </a:p>
            </p:txBody>
          </p:sp>
          <p:pic>
            <p:nvPicPr>
              <p:cNvPr id="42" name="Picture 4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12039" y="4712057"/>
                <a:ext cx="739140" cy="739140"/>
              </a:xfrm>
              <a:prstGeom prst="rect">
                <a:avLst/>
              </a:prstGeom>
            </p:spPr>
          </p:pic>
        </p:grpSp>
        <p:grpSp>
          <p:nvGrpSpPr>
            <p:cNvPr id="5" name="Group 4"/>
            <p:cNvGrpSpPr/>
            <p:nvPr/>
          </p:nvGrpSpPr>
          <p:grpSpPr>
            <a:xfrm>
              <a:off x="8463280" y="4660006"/>
              <a:ext cx="1884826" cy="1701724"/>
              <a:chOff x="8710415" y="4526082"/>
              <a:chExt cx="1884826" cy="1701724"/>
            </a:xfrm>
          </p:grpSpPr>
          <p:sp>
            <p:nvSpPr>
              <p:cNvPr id="39" name="Rounded Rectangle 38"/>
              <p:cNvSpPr/>
              <p:nvPr/>
            </p:nvSpPr>
            <p:spPr>
              <a:xfrm>
                <a:off x="8786058" y="4526082"/>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40" name="TextBox 39"/>
              <p:cNvSpPr txBox="1"/>
              <p:nvPr/>
            </p:nvSpPr>
            <p:spPr>
              <a:xfrm>
                <a:off x="8710415" y="5511972"/>
                <a:ext cx="1884826" cy="646331"/>
              </a:xfrm>
              <a:prstGeom prst="rect">
                <a:avLst/>
              </a:prstGeom>
              <a:noFill/>
            </p:spPr>
            <p:txBody>
              <a:bodyPr wrap="square" rtlCol="0">
                <a:spAutoFit/>
              </a:bodyPr>
              <a:lstStyle/>
              <a:p>
                <a:pPr algn="ctr"/>
                <a:r>
                  <a:rPr lang="en-US" b="1" dirty="0">
                    <a:solidFill>
                      <a:srgbClr val="F95050"/>
                    </a:solidFill>
                    <a:latin typeface="Bricolage Grotesque 14pt" panose="020B0605040402000204" pitchFamily="34" charset="0"/>
                  </a:rPr>
                  <a:t>No</a:t>
                </a:r>
              </a:p>
              <a:p>
                <a:pPr algn="ctr"/>
                <a:r>
                  <a:rPr lang="en-US" b="1" dirty="0">
                    <a:solidFill>
                      <a:srgbClr val="F95050"/>
                    </a:solidFill>
                    <a:latin typeface="Bricolage Grotesque 14pt" panose="020B0605040402000204" pitchFamily="34" charset="0"/>
                  </a:rPr>
                  <a:t>Expenses</a:t>
                </a:r>
              </a:p>
            </p:txBody>
          </p:sp>
          <p:pic>
            <p:nvPicPr>
              <p:cNvPr id="43" name="Picture 4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10825" y="4614326"/>
                <a:ext cx="884007" cy="884007"/>
              </a:xfrm>
              <a:prstGeom prst="rect">
                <a:avLst/>
              </a:prstGeom>
            </p:spPr>
          </p:pic>
        </p:grpSp>
        <p:grpSp>
          <p:nvGrpSpPr>
            <p:cNvPr id="7" name="Group 6"/>
            <p:cNvGrpSpPr/>
            <p:nvPr/>
          </p:nvGrpSpPr>
          <p:grpSpPr>
            <a:xfrm>
              <a:off x="1596760" y="4660008"/>
              <a:ext cx="1884826" cy="1701724"/>
              <a:chOff x="1596760" y="4526084"/>
              <a:chExt cx="1884826" cy="1701724"/>
            </a:xfrm>
          </p:grpSpPr>
          <p:sp>
            <p:nvSpPr>
              <p:cNvPr id="27" name="Rounded Rectangle 26"/>
              <p:cNvSpPr/>
              <p:nvPr/>
            </p:nvSpPr>
            <p:spPr>
              <a:xfrm>
                <a:off x="1672403" y="4526084"/>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28" name="TextBox 27"/>
              <p:cNvSpPr txBox="1"/>
              <p:nvPr/>
            </p:nvSpPr>
            <p:spPr>
              <a:xfrm>
                <a:off x="1596760" y="5511972"/>
                <a:ext cx="1884826" cy="646331"/>
              </a:xfrm>
              <a:prstGeom prst="rect">
                <a:avLst/>
              </a:prstGeom>
              <a:noFill/>
            </p:spPr>
            <p:txBody>
              <a:bodyPr wrap="square" rtlCol="0">
                <a:spAutoFit/>
              </a:bodyPr>
              <a:lstStyle/>
              <a:p>
                <a:pPr algn="ctr"/>
                <a:r>
                  <a:rPr lang="en-US" b="1" dirty="0">
                    <a:solidFill>
                      <a:srgbClr val="F95050"/>
                    </a:solidFill>
                    <a:latin typeface="Bricolage Grotesque 14pt" panose="020B0605040402000204" pitchFamily="34" charset="0"/>
                  </a:rPr>
                  <a:t>No</a:t>
                </a:r>
              </a:p>
              <a:p>
                <a:pPr algn="ctr"/>
                <a:r>
                  <a:rPr lang="en-US" b="1" dirty="0">
                    <a:solidFill>
                      <a:srgbClr val="F95050"/>
                    </a:solidFill>
                    <a:latin typeface="Bricolage Grotesque 14pt" panose="020B0605040402000204" pitchFamily="34" charset="0"/>
                  </a:rPr>
                  <a:t>Rental</a:t>
                </a:r>
              </a:p>
            </p:txBody>
          </p:sp>
          <p:pic>
            <p:nvPicPr>
              <p:cNvPr id="44" name="Picture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00200" y="4634024"/>
                <a:ext cx="877947" cy="877947"/>
              </a:xfrm>
              <a:prstGeom prst="rect">
                <a:avLst/>
              </a:prstGeom>
            </p:spPr>
          </p:pic>
        </p:grpSp>
        <p:grpSp>
          <p:nvGrpSpPr>
            <p:cNvPr id="6" name="Group 5"/>
            <p:cNvGrpSpPr/>
            <p:nvPr/>
          </p:nvGrpSpPr>
          <p:grpSpPr>
            <a:xfrm>
              <a:off x="3885600" y="4660007"/>
              <a:ext cx="1884826" cy="1701724"/>
              <a:chOff x="3967978" y="4526083"/>
              <a:chExt cx="1884826" cy="1701724"/>
            </a:xfrm>
          </p:grpSpPr>
          <p:sp>
            <p:nvSpPr>
              <p:cNvPr id="31" name="Rounded Rectangle 30"/>
              <p:cNvSpPr/>
              <p:nvPr/>
            </p:nvSpPr>
            <p:spPr>
              <a:xfrm>
                <a:off x="4043621" y="4526083"/>
                <a:ext cx="1733540" cy="170172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32" name="TextBox 31"/>
              <p:cNvSpPr txBox="1"/>
              <p:nvPr/>
            </p:nvSpPr>
            <p:spPr>
              <a:xfrm>
                <a:off x="3967978" y="5511972"/>
                <a:ext cx="1884826" cy="646331"/>
              </a:xfrm>
              <a:prstGeom prst="rect">
                <a:avLst/>
              </a:prstGeom>
              <a:noFill/>
            </p:spPr>
            <p:txBody>
              <a:bodyPr wrap="square" rtlCol="0">
                <a:spAutoFit/>
              </a:bodyPr>
              <a:lstStyle/>
              <a:p>
                <a:pPr algn="ctr"/>
                <a:r>
                  <a:rPr lang="en-US" b="1" dirty="0">
                    <a:solidFill>
                      <a:srgbClr val="F95050"/>
                    </a:solidFill>
                    <a:latin typeface="Bricolage Grotesque 14pt" panose="020B0605040402000204" pitchFamily="34" charset="0"/>
                  </a:rPr>
                  <a:t>No</a:t>
                </a:r>
              </a:p>
              <a:p>
                <a:pPr algn="ctr"/>
                <a:r>
                  <a:rPr lang="en-US" b="1" dirty="0">
                    <a:solidFill>
                      <a:srgbClr val="F95050"/>
                    </a:solidFill>
                    <a:latin typeface="Bricolage Grotesque 14pt" panose="020B0605040402000204" pitchFamily="34" charset="0"/>
                  </a:rPr>
                  <a:t>Salary</a:t>
                </a:r>
              </a:p>
            </p:txBody>
          </p:sp>
          <p:pic>
            <p:nvPicPr>
              <p:cNvPr id="45" name="Picture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11894" y="4670140"/>
                <a:ext cx="796995" cy="796995"/>
              </a:xfrm>
              <a:prstGeom prst="rect">
                <a:avLst/>
              </a:prstGeom>
            </p:spPr>
          </p:pic>
        </p:grpSp>
      </p:grpSp>
      <p:sp>
        <p:nvSpPr>
          <p:cNvPr id="24" name="TextBox 23">
            <a:extLst>
              <a:ext uri="{FF2B5EF4-FFF2-40B4-BE49-F238E27FC236}">
                <a16:creationId xmlns:a16="http://schemas.microsoft.com/office/drawing/2014/main" id="{EA367652-E298-CAD3-019D-993B178E1369}"/>
              </a:ext>
            </a:extLst>
          </p:cNvPr>
          <p:cNvSpPr txBox="1"/>
          <p:nvPr/>
        </p:nvSpPr>
        <p:spPr>
          <a:xfrm>
            <a:off x="3008652" y="1002839"/>
            <a:ext cx="6174698" cy="400110"/>
          </a:xfrm>
          <a:prstGeom prst="rect">
            <a:avLst/>
          </a:prstGeom>
          <a:noFill/>
        </p:spPr>
        <p:txBody>
          <a:bodyPr wrap="square">
            <a:spAutoFit/>
          </a:bodyPr>
          <a:lstStyle/>
          <a:p>
            <a:pPr algn="ctr"/>
            <a:r>
              <a:rPr lang="en-US" sz="2000" b="1" kern="100" dirty="0">
                <a:solidFill>
                  <a:schemeClr val="bg1"/>
                </a:solidFill>
                <a:latin typeface="Calibri" panose="020F0502020204030204" pitchFamily="34" charset="0"/>
                <a:ea typeface="Calibri" panose="020F0502020204030204" pitchFamily="34" charset="0"/>
                <a:cs typeface="Times New Roman" panose="02020603050405020304" pitchFamily="18" charset="0"/>
              </a:rPr>
              <a:t>F</a:t>
            </a:r>
            <a:r>
              <a:rPr lang="en-US" sz="20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OCO Model</a:t>
            </a:r>
            <a:endParaRPr lang="en-IN" sz="20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TextBox 25"/>
          <p:cNvSpPr txBox="1"/>
          <p:nvPr/>
        </p:nvSpPr>
        <p:spPr>
          <a:xfrm>
            <a:off x="312235" y="3250426"/>
            <a:ext cx="11764536" cy="584775"/>
          </a:xfrm>
          <a:prstGeom prst="rect">
            <a:avLst/>
          </a:prstGeom>
          <a:noFill/>
        </p:spPr>
        <p:txBody>
          <a:bodyPr wrap="square" rtlCol="0">
            <a:spAutoFit/>
          </a:bodyPr>
          <a:lstStyle/>
          <a:p>
            <a:pPr algn="just" fontAlgn="base"/>
            <a:r>
              <a:rPr lang="en-US" sz="1600" dirty="0">
                <a:solidFill>
                  <a:schemeClr val="bg1"/>
                </a:solidFill>
                <a:latin typeface="Bricolage Grotesque 14pt" panose="020B0605040402000204" pitchFamily="34" charset="0"/>
              </a:rPr>
              <a:t>Franchisee has to pays minimum 50,000  per month for first 3 months as marketing fund there after it will be optional. It is an essential part to get the visibility of the new restaurant as this fund will be used for Zomato, Swiggy and Social Media Promotions.</a:t>
            </a:r>
          </a:p>
        </p:txBody>
      </p:sp>
      <p:sp>
        <p:nvSpPr>
          <p:cNvPr id="34" name="TextBox 33"/>
          <p:cNvSpPr txBox="1"/>
          <p:nvPr/>
        </p:nvSpPr>
        <p:spPr>
          <a:xfrm>
            <a:off x="4670858" y="2915077"/>
            <a:ext cx="2850288" cy="400110"/>
          </a:xfrm>
          <a:prstGeom prst="rect">
            <a:avLst/>
          </a:prstGeom>
          <a:noFill/>
        </p:spPr>
        <p:txBody>
          <a:bodyPr wrap="square" rtlCol="0">
            <a:spAutoFit/>
          </a:bodyPr>
          <a:lstStyle/>
          <a:p>
            <a:pPr algn="ctr"/>
            <a:r>
              <a:rPr lang="en-US" sz="2000" b="1" dirty="0">
                <a:solidFill>
                  <a:schemeClr val="bg1"/>
                </a:solidFill>
                <a:latin typeface="Bricolage Grotesque 14pt" panose="020B0605040402000204" pitchFamily="34" charset="0"/>
              </a:rPr>
              <a:t>Marketing Charges</a:t>
            </a:r>
          </a:p>
        </p:txBody>
      </p:sp>
      <p:graphicFrame>
        <p:nvGraphicFramePr>
          <p:cNvPr id="2" name="Table 1">
            <a:extLst>
              <a:ext uri="{FF2B5EF4-FFF2-40B4-BE49-F238E27FC236}">
                <a16:creationId xmlns:a16="http://schemas.microsoft.com/office/drawing/2014/main" id="{75BCB832-1266-3641-B2AA-AD7513299428}"/>
              </a:ext>
            </a:extLst>
          </p:cNvPr>
          <p:cNvGraphicFramePr>
            <a:graphicFrameLocks noGrp="1"/>
          </p:cNvGraphicFramePr>
          <p:nvPr>
            <p:extLst>
              <p:ext uri="{D42A27DB-BD31-4B8C-83A1-F6EECF244321}">
                <p14:modId xmlns:p14="http://schemas.microsoft.com/office/powerpoint/2010/main" val="1158519212"/>
              </p:ext>
            </p:extLst>
          </p:nvPr>
        </p:nvGraphicFramePr>
        <p:xfrm>
          <a:off x="1486420" y="1480742"/>
          <a:ext cx="9108821" cy="1079254"/>
        </p:xfrm>
        <a:graphic>
          <a:graphicData uri="http://schemas.openxmlformats.org/drawingml/2006/table">
            <a:tbl>
              <a:tblPr/>
              <a:tblGrid>
                <a:gridCol w="3364669">
                  <a:extLst>
                    <a:ext uri="{9D8B030D-6E8A-4147-A177-3AD203B41FA5}">
                      <a16:colId xmlns:a16="http://schemas.microsoft.com/office/drawing/2014/main" val="20000"/>
                    </a:ext>
                  </a:extLst>
                </a:gridCol>
                <a:gridCol w="5744152">
                  <a:extLst>
                    <a:ext uri="{9D8B030D-6E8A-4147-A177-3AD203B41FA5}">
                      <a16:colId xmlns:a16="http://schemas.microsoft.com/office/drawing/2014/main" val="20001"/>
                    </a:ext>
                  </a:extLst>
                </a:gridCol>
              </a:tblGrid>
              <a:tr h="1079254">
                <a:tc>
                  <a:txBody>
                    <a:bodyPr/>
                    <a:lstStyle/>
                    <a:p>
                      <a:pPr algn="ctr"/>
                      <a:r>
                        <a:rPr lang="en-US" sz="2400" b="1" dirty="0">
                          <a:solidFill>
                            <a:srgbClr val="16DB65"/>
                          </a:solidFill>
                        </a:rPr>
                        <a:t>3L + GST</a:t>
                      </a:r>
                    </a:p>
                  </a:txBody>
                  <a:tcPr anchor="ctr">
                    <a:lnL w="28575" cmpd="sng">
                      <a:solidFill>
                        <a:schemeClr val="bg1"/>
                      </a:solidFill>
                      <a:prstDash val="solid"/>
                    </a:lnL>
                    <a:lnR w="28575" cap="flat" cmpd="sng" algn="ctr">
                      <a:solidFill>
                        <a:schemeClr val="bg1"/>
                      </a:solidFill>
                      <a:prstDash val="solid"/>
                      <a:round/>
                      <a:headEnd type="none" w="med" len="med"/>
                      <a:tailEnd type="none" w="med" len="med"/>
                    </a:lnR>
                    <a:lnT w="28575" cmpd="sng">
                      <a:solidFill>
                        <a:schemeClr val="bg1"/>
                      </a:solidFill>
                      <a:prstDash val="solid"/>
                    </a:lnT>
                    <a:lnB w="28575" cmpd="sng">
                      <a:solidFill>
                        <a:schemeClr val="bg1"/>
                      </a:solidFill>
                      <a:prstDash val="solid"/>
                    </a:lnB>
                  </a:tcPr>
                </a:tc>
                <a:tc>
                  <a:txBody>
                    <a:bodyPr/>
                    <a:lstStyle/>
                    <a:p>
                      <a:pPr algn="ctr"/>
                      <a:r>
                        <a:rPr lang="en-US" sz="2400" b="1" dirty="0">
                          <a:solidFill>
                            <a:srgbClr val="16DB65"/>
                          </a:solidFill>
                        </a:rPr>
                        <a:t>3L + GST +  50K </a:t>
                      </a:r>
                      <a:r>
                        <a:rPr lang="en-US" sz="1800" b="1" dirty="0">
                          <a:solidFill>
                            <a:srgbClr val="16DB65"/>
                          </a:solidFill>
                        </a:rPr>
                        <a:t>(</a:t>
                      </a:r>
                      <a:r>
                        <a:rPr lang="en-US" sz="1800" b="1" dirty="0">
                          <a:solidFill>
                            <a:srgbClr val="FF0000"/>
                          </a:solidFill>
                        </a:rPr>
                        <a:t>Marketing Expenses </a:t>
                      </a:r>
                      <a:r>
                        <a:rPr lang="en-US" sz="1800" b="1" dirty="0">
                          <a:solidFill>
                            <a:srgbClr val="16DB65"/>
                          </a:solidFill>
                        </a:rPr>
                        <a:t>for 3 Months)</a:t>
                      </a:r>
                      <a:endParaRPr lang="en-US" sz="1400" b="1" dirty="0">
                        <a:solidFill>
                          <a:srgbClr val="16DB65"/>
                        </a:solidFill>
                      </a:endParaRPr>
                    </a:p>
                  </a:txBody>
                  <a:tcPr anchor="ctr">
                    <a:lnL w="28575" cap="flat" cmpd="sng" algn="ctr">
                      <a:solidFill>
                        <a:schemeClr val="bg1"/>
                      </a:solidFill>
                      <a:prstDash val="solid"/>
                      <a:round/>
                      <a:headEnd type="none" w="med" len="med"/>
                      <a:tailEnd type="none" w="med" len="med"/>
                    </a:lnL>
                    <a:lnR w="28575" cmpd="sng">
                      <a:solidFill>
                        <a:schemeClr val="bg1"/>
                      </a:solidFill>
                      <a:prstDash val="soli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9543521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anim calcmode="lin" valueType="num">
                                      <p:cBhvr additive="base">
                                        <p:cTn id="25" dur="500" fill="hold"/>
                                        <p:tgtEl>
                                          <p:spTgt spid="34"/>
                                        </p:tgtEl>
                                        <p:attrNameLst>
                                          <p:attrName>ppt_x</p:attrName>
                                        </p:attrNameLst>
                                      </p:cBhvr>
                                      <p:tavLst>
                                        <p:tav tm="0">
                                          <p:val>
                                            <p:strVal val="#ppt_x"/>
                                          </p:val>
                                        </p:tav>
                                        <p:tav tm="100000">
                                          <p:val>
                                            <p:strVal val="#ppt_x"/>
                                          </p:val>
                                        </p:tav>
                                      </p:tavLst>
                                    </p:anim>
                                    <p:anim calcmode="lin" valueType="num">
                                      <p:cBhvr additive="base">
                                        <p:cTn id="26" dur="500" fill="hold"/>
                                        <p:tgtEl>
                                          <p:spTgt spid="34"/>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fill="hold"/>
                                        <p:tgtEl>
                                          <p:spTgt spid="26"/>
                                        </p:tgtEl>
                                        <p:attrNameLst>
                                          <p:attrName>ppt_x</p:attrName>
                                        </p:attrNameLst>
                                      </p:cBhvr>
                                      <p:tavLst>
                                        <p:tav tm="0">
                                          <p:val>
                                            <p:strVal val="#ppt_x"/>
                                          </p:val>
                                        </p:tav>
                                        <p:tav tm="100000">
                                          <p:val>
                                            <p:strVal val="#ppt_x"/>
                                          </p:val>
                                        </p:tav>
                                      </p:tavLst>
                                    </p:anim>
                                    <p:anim calcmode="lin" valueType="num">
                                      <p:cBhvr additive="base">
                                        <p:cTn id="3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ppt_x"/>
                                          </p:val>
                                        </p:tav>
                                        <p:tav tm="100000">
                                          <p:val>
                                            <p:strVal val="#ppt_x"/>
                                          </p:val>
                                        </p:tav>
                                      </p:tavLst>
                                    </p:anim>
                                    <p:anim calcmode="lin" valueType="num">
                                      <p:cBhvr additive="base">
                                        <p:cTn id="3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barn(inVertical)">
                                      <p:cBhvr>
                                        <p:cTn id="4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11" grpId="0"/>
      <p:bldP spid="21" grpId="0"/>
      <p:bldP spid="24" grpId="0"/>
      <p:bldP spid="26" grpId="0"/>
      <p:bldP spid="34" grpId="0"/>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3" name="Picture 22"/>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Effect>
                      <a14:brightnessContrast bright="-20000"/>
                    </a14:imgEffect>
                  </a14:imgLayer>
                </a14:imgProps>
              </a:ext>
              <a:ext uri="{28A0092B-C50C-407E-A947-70E740481C1C}">
                <a14:useLocalDpi xmlns:a14="http://schemas.microsoft.com/office/drawing/2010/main" val="0"/>
              </a:ext>
            </a:extLst>
          </a:blip>
          <a:srcRect t="16416"/>
          <a:stretch/>
        </p:blipFill>
        <p:spPr>
          <a:xfrm>
            <a:off x="0" y="337810"/>
            <a:ext cx="12192000" cy="5441718"/>
          </a:xfrm>
          <a:prstGeom prst="rect">
            <a:avLst/>
          </a:prstGeom>
          <a:blipFill>
            <a:blip r:embed="rId4"/>
            <a:stretch>
              <a:fillRect/>
            </a:stretch>
          </a:blipFill>
        </p:spPr>
      </p:pic>
      <p:sp>
        <p:nvSpPr>
          <p:cNvPr id="4" name="Rectangle 3"/>
          <p:cNvSpPr/>
          <p:nvPr/>
        </p:nvSpPr>
        <p:spPr>
          <a:xfrm>
            <a:off x="0" y="4545185"/>
            <a:ext cx="12192000" cy="2185814"/>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B1C45F8-40C5-657A-8F6A-87E23F35D73B}"/>
              </a:ext>
            </a:extLst>
          </p:cNvPr>
          <p:cNvSpPr txBox="1"/>
          <p:nvPr/>
        </p:nvSpPr>
        <p:spPr>
          <a:xfrm>
            <a:off x="2743201" y="728544"/>
            <a:ext cx="6127324" cy="1323439"/>
          </a:xfrm>
          <a:prstGeom prst="rect">
            <a:avLst/>
          </a:prstGeom>
          <a:noFill/>
        </p:spPr>
        <p:txBody>
          <a:bodyPr wrap="square" rtlCol="0">
            <a:spAutoFit/>
          </a:bodyPr>
          <a:lstStyle/>
          <a:p>
            <a:pPr algn="ct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Internet </a:t>
            </a: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Restaurant</a:t>
            </a:r>
          </a:p>
          <a:p>
            <a:pPr algn="ct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YEILD</a:t>
            </a:r>
          </a:p>
        </p:txBody>
      </p:sp>
      <p:grpSp>
        <p:nvGrpSpPr>
          <p:cNvPr id="24" name="Group 23"/>
          <p:cNvGrpSpPr/>
          <p:nvPr/>
        </p:nvGrpSpPr>
        <p:grpSpPr>
          <a:xfrm>
            <a:off x="135364" y="3224742"/>
            <a:ext cx="3105278" cy="2592914"/>
            <a:chOff x="135364" y="2632075"/>
            <a:chExt cx="3105278" cy="2592914"/>
          </a:xfrm>
        </p:grpSpPr>
        <p:sp>
          <p:nvSpPr>
            <p:cNvPr id="17" name="Rounded Rectangle 16"/>
            <p:cNvSpPr/>
            <p:nvPr/>
          </p:nvSpPr>
          <p:spPr>
            <a:xfrm>
              <a:off x="367307" y="2632075"/>
              <a:ext cx="2641392" cy="259291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 name="TextBox 1"/>
            <p:cNvSpPr txBox="1"/>
            <p:nvPr/>
          </p:nvSpPr>
          <p:spPr>
            <a:xfrm>
              <a:off x="547478" y="2924659"/>
              <a:ext cx="2281049" cy="523220"/>
            </a:xfrm>
            <a:prstGeom prst="rect">
              <a:avLst/>
            </a:prstGeom>
            <a:noFill/>
          </p:spPr>
          <p:txBody>
            <a:bodyPr wrap="square" rtlCol="0">
              <a:spAutoFit/>
            </a:bodyPr>
            <a:lstStyle/>
            <a:p>
              <a:pPr algn="ctr"/>
              <a:r>
                <a:rPr lang="en-US" sz="2800" b="1" u="sng" dirty="0">
                  <a:solidFill>
                    <a:srgbClr val="F95050"/>
                  </a:solidFill>
                  <a:latin typeface="Bricolage Grotesque 14pt" panose="020B0605040402000204" pitchFamily="34" charset="0"/>
                </a:rPr>
                <a:t>Investment</a:t>
              </a:r>
            </a:p>
          </p:txBody>
        </p:sp>
        <p:grpSp>
          <p:nvGrpSpPr>
            <p:cNvPr id="6" name="Group 5"/>
            <p:cNvGrpSpPr/>
            <p:nvPr/>
          </p:nvGrpSpPr>
          <p:grpSpPr>
            <a:xfrm>
              <a:off x="135364" y="3642078"/>
              <a:ext cx="3105278" cy="1142977"/>
              <a:chOff x="135364" y="3664460"/>
              <a:chExt cx="3105278" cy="1142977"/>
            </a:xfrm>
          </p:grpSpPr>
          <p:sp>
            <p:nvSpPr>
              <p:cNvPr id="7" name="TextBox 6"/>
              <p:cNvSpPr txBox="1"/>
              <p:nvPr/>
            </p:nvSpPr>
            <p:spPr>
              <a:xfrm>
                <a:off x="728549" y="3664460"/>
                <a:ext cx="1918908" cy="584775"/>
              </a:xfrm>
              <a:prstGeom prst="rect">
                <a:avLst/>
              </a:prstGeom>
              <a:noFill/>
            </p:spPr>
            <p:txBody>
              <a:bodyPr wrap="square" rtlCol="0">
                <a:spAutoFit/>
              </a:bodyPr>
              <a:lstStyle/>
              <a:p>
                <a:pPr algn="ctr"/>
                <a:r>
                  <a:rPr lang="en-US" sz="3200" dirty="0">
                    <a:latin typeface="Arial" panose="020B0604020202020204" pitchFamily="34" charset="0"/>
                    <a:cs typeface="Arial" panose="020B0604020202020204" pitchFamily="34" charset="0"/>
                  </a:rPr>
                  <a:t>₹</a:t>
                </a:r>
                <a:r>
                  <a:rPr lang="en-US" sz="3200" b="1" dirty="0">
                    <a:latin typeface="Bricolage Grotesque 14pt" panose="020B0605040402000204" pitchFamily="34" charset="0"/>
                  </a:rPr>
                  <a:t>3 lac</a:t>
                </a:r>
              </a:p>
            </p:txBody>
          </p:sp>
          <p:sp>
            <p:nvSpPr>
              <p:cNvPr id="8" name="TextBox 7"/>
              <p:cNvSpPr txBox="1"/>
              <p:nvPr/>
            </p:nvSpPr>
            <p:spPr>
              <a:xfrm>
                <a:off x="135364" y="4161106"/>
                <a:ext cx="3105278" cy="646331"/>
              </a:xfrm>
              <a:prstGeom prst="rect">
                <a:avLst/>
              </a:prstGeom>
              <a:noFill/>
            </p:spPr>
            <p:txBody>
              <a:bodyPr wrap="square" rtlCol="0">
                <a:spAutoFit/>
              </a:bodyPr>
              <a:lstStyle/>
              <a:p>
                <a:pPr algn="ctr"/>
                <a:r>
                  <a:rPr lang="en-US" dirty="0">
                    <a:latin typeface="Bricolage Grotesque 14pt" panose="020B0605040402000204" pitchFamily="34" charset="0"/>
                  </a:rPr>
                  <a:t>with franchise Fee</a:t>
                </a:r>
              </a:p>
              <a:p>
                <a:pPr algn="ctr"/>
                <a:r>
                  <a:rPr lang="en-US" dirty="0">
                    <a:latin typeface="Bricolage Grotesque 14pt" panose="020B0605040402000204" pitchFamily="34" charset="0"/>
                  </a:rPr>
                  <a:t>and all setup</a:t>
                </a:r>
              </a:p>
            </p:txBody>
          </p:sp>
        </p:grpSp>
      </p:grpSp>
      <p:grpSp>
        <p:nvGrpSpPr>
          <p:cNvPr id="25" name="Group 24"/>
          <p:cNvGrpSpPr/>
          <p:nvPr/>
        </p:nvGrpSpPr>
        <p:grpSpPr>
          <a:xfrm>
            <a:off x="3298220" y="3224742"/>
            <a:ext cx="2641392" cy="2592914"/>
            <a:chOff x="3298220" y="2632075"/>
            <a:chExt cx="2641392" cy="2592914"/>
          </a:xfrm>
        </p:grpSpPr>
        <p:sp>
          <p:nvSpPr>
            <p:cNvPr id="10" name="Rounded Rectangle 9"/>
            <p:cNvSpPr/>
            <p:nvPr/>
          </p:nvSpPr>
          <p:spPr>
            <a:xfrm>
              <a:off x="3298220" y="2632075"/>
              <a:ext cx="2641392" cy="259291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1" name="TextBox 10"/>
            <p:cNvSpPr txBox="1"/>
            <p:nvPr/>
          </p:nvSpPr>
          <p:spPr>
            <a:xfrm>
              <a:off x="3665360" y="3663653"/>
              <a:ext cx="1918908" cy="1015663"/>
            </a:xfrm>
            <a:prstGeom prst="rect">
              <a:avLst/>
            </a:prstGeom>
            <a:noFill/>
          </p:spPr>
          <p:txBody>
            <a:bodyPr wrap="square" rtlCol="0">
              <a:spAutoFit/>
            </a:bodyPr>
            <a:lstStyle/>
            <a:p>
              <a:pPr algn="ctr"/>
              <a:r>
                <a:rPr lang="en-US" sz="3600" b="1" dirty="0">
                  <a:latin typeface="Bricolage Grotesque 14pt" panose="020B0605040402000204" pitchFamily="34" charset="0"/>
                </a:rPr>
                <a:t>6 to 9</a:t>
              </a:r>
            </a:p>
            <a:p>
              <a:pPr algn="ctr"/>
              <a:r>
                <a:rPr lang="en-US" sz="2400" b="1" dirty="0">
                  <a:latin typeface="Bricolage Grotesque 14pt" panose="020B0605040402000204" pitchFamily="34" charset="0"/>
                </a:rPr>
                <a:t>Months*</a:t>
              </a:r>
            </a:p>
          </p:txBody>
        </p:sp>
        <p:sp>
          <p:nvSpPr>
            <p:cNvPr id="12" name="TextBox 11"/>
            <p:cNvSpPr txBox="1"/>
            <p:nvPr/>
          </p:nvSpPr>
          <p:spPr>
            <a:xfrm>
              <a:off x="4213021" y="2924659"/>
              <a:ext cx="811789" cy="523220"/>
            </a:xfrm>
            <a:prstGeom prst="rect">
              <a:avLst/>
            </a:prstGeom>
            <a:noFill/>
          </p:spPr>
          <p:txBody>
            <a:bodyPr wrap="square" rtlCol="0">
              <a:spAutoFit/>
            </a:bodyPr>
            <a:lstStyle/>
            <a:p>
              <a:pPr algn="ctr"/>
              <a:r>
                <a:rPr lang="en-US" sz="2800" b="1" u="sng" dirty="0">
                  <a:solidFill>
                    <a:srgbClr val="F95050"/>
                  </a:solidFill>
                  <a:latin typeface="Bricolage Grotesque 14pt" panose="020B0605040402000204" pitchFamily="34" charset="0"/>
                </a:rPr>
                <a:t>ROI</a:t>
              </a:r>
            </a:p>
          </p:txBody>
        </p:sp>
      </p:grpSp>
      <p:grpSp>
        <p:nvGrpSpPr>
          <p:cNvPr id="26" name="Group 25"/>
          <p:cNvGrpSpPr/>
          <p:nvPr/>
        </p:nvGrpSpPr>
        <p:grpSpPr>
          <a:xfrm>
            <a:off x="6229133" y="3224742"/>
            <a:ext cx="2641392" cy="2592914"/>
            <a:chOff x="6229133" y="2632075"/>
            <a:chExt cx="2641392" cy="2592914"/>
          </a:xfrm>
        </p:grpSpPr>
        <p:sp>
          <p:nvSpPr>
            <p:cNvPr id="14" name="Rounded Rectangle 13"/>
            <p:cNvSpPr/>
            <p:nvPr/>
          </p:nvSpPr>
          <p:spPr>
            <a:xfrm>
              <a:off x="6229133" y="2632075"/>
              <a:ext cx="2641392" cy="259291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6" name="TextBox 15"/>
            <p:cNvSpPr txBox="1"/>
            <p:nvPr/>
          </p:nvSpPr>
          <p:spPr>
            <a:xfrm>
              <a:off x="6472863" y="2924659"/>
              <a:ext cx="2153931" cy="523220"/>
            </a:xfrm>
            <a:prstGeom prst="rect">
              <a:avLst/>
            </a:prstGeom>
            <a:noFill/>
          </p:spPr>
          <p:txBody>
            <a:bodyPr wrap="square" rtlCol="0">
              <a:spAutoFit/>
            </a:bodyPr>
            <a:lstStyle/>
            <a:p>
              <a:pPr algn="ctr"/>
              <a:r>
                <a:rPr lang="en-US" sz="2800" b="1" u="sng" dirty="0">
                  <a:solidFill>
                    <a:srgbClr val="F95050"/>
                  </a:solidFill>
                  <a:latin typeface="Bricolage Grotesque 14pt" panose="020B0605040402000204" pitchFamily="34" charset="0"/>
                </a:rPr>
                <a:t>Breakeven</a:t>
              </a:r>
            </a:p>
          </p:txBody>
        </p:sp>
        <p:grpSp>
          <p:nvGrpSpPr>
            <p:cNvPr id="3" name="Group 2"/>
            <p:cNvGrpSpPr/>
            <p:nvPr/>
          </p:nvGrpSpPr>
          <p:grpSpPr>
            <a:xfrm>
              <a:off x="6590375" y="3608232"/>
              <a:ext cx="1918908" cy="959424"/>
              <a:chOff x="6590375" y="3524848"/>
              <a:chExt cx="1918908" cy="959424"/>
            </a:xfrm>
          </p:grpSpPr>
          <p:sp>
            <p:nvSpPr>
              <p:cNvPr id="15" name="TextBox 14"/>
              <p:cNvSpPr txBox="1"/>
              <p:nvPr/>
            </p:nvSpPr>
            <p:spPr>
              <a:xfrm>
                <a:off x="6590375" y="3524848"/>
                <a:ext cx="1918908" cy="584775"/>
              </a:xfrm>
              <a:prstGeom prst="rect">
                <a:avLst/>
              </a:prstGeom>
              <a:noFill/>
            </p:spPr>
            <p:txBody>
              <a:bodyPr wrap="square" rtlCol="0">
                <a:spAutoFit/>
              </a:bodyPr>
              <a:lstStyle/>
              <a:p>
                <a:pPr algn="ctr"/>
                <a:r>
                  <a:rPr lang="en-US" sz="3200" b="1" dirty="0">
                    <a:latin typeface="Bricolage Grotesque 14pt" panose="020B0605040402000204" pitchFamily="34" charset="0"/>
                  </a:rPr>
                  <a:t>After</a:t>
                </a:r>
              </a:p>
            </p:txBody>
          </p:sp>
          <p:sp>
            <p:nvSpPr>
              <p:cNvPr id="19" name="TextBox 18"/>
              <p:cNvSpPr txBox="1"/>
              <p:nvPr/>
            </p:nvSpPr>
            <p:spPr>
              <a:xfrm>
                <a:off x="6590375" y="3899497"/>
                <a:ext cx="1918908" cy="584775"/>
              </a:xfrm>
              <a:prstGeom prst="rect">
                <a:avLst/>
              </a:prstGeom>
              <a:noFill/>
            </p:spPr>
            <p:txBody>
              <a:bodyPr wrap="square" rtlCol="0">
                <a:spAutoFit/>
              </a:bodyPr>
              <a:lstStyle/>
              <a:p>
                <a:pPr algn="ctr"/>
                <a:r>
                  <a:rPr lang="en-US" sz="3200" b="1" dirty="0">
                    <a:latin typeface="Bricolage Grotesque 14pt" panose="020B0605040402000204" pitchFamily="34" charset="0"/>
                  </a:rPr>
                  <a:t>6 Month</a:t>
                </a:r>
              </a:p>
            </p:txBody>
          </p:sp>
        </p:grpSp>
      </p:grpSp>
      <p:grpSp>
        <p:nvGrpSpPr>
          <p:cNvPr id="27" name="Group 26"/>
          <p:cNvGrpSpPr/>
          <p:nvPr/>
        </p:nvGrpSpPr>
        <p:grpSpPr>
          <a:xfrm>
            <a:off x="9157503" y="3224742"/>
            <a:ext cx="2641392" cy="2592914"/>
            <a:chOff x="9157503" y="2632075"/>
            <a:chExt cx="2641392" cy="2592914"/>
          </a:xfrm>
        </p:grpSpPr>
        <p:sp>
          <p:nvSpPr>
            <p:cNvPr id="20" name="Rounded Rectangle 19"/>
            <p:cNvSpPr/>
            <p:nvPr/>
          </p:nvSpPr>
          <p:spPr>
            <a:xfrm>
              <a:off x="9157503" y="2632075"/>
              <a:ext cx="2641392" cy="259291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1" name="TextBox 20"/>
            <p:cNvSpPr txBox="1"/>
            <p:nvPr/>
          </p:nvSpPr>
          <p:spPr>
            <a:xfrm>
              <a:off x="9518744" y="3632875"/>
              <a:ext cx="1918907" cy="1384995"/>
            </a:xfrm>
            <a:prstGeom prst="rect">
              <a:avLst/>
            </a:prstGeom>
            <a:noFill/>
          </p:spPr>
          <p:txBody>
            <a:bodyPr wrap="square" rtlCol="0">
              <a:spAutoFit/>
            </a:bodyPr>
            <a:lstStyle/>
            <a:p>
              <a:pPr algn="ctr"/>
              <a:r>
                <a:rPr lang="en-US" sz="2800" b="1" dirty="0">
                  <a:latin typeface="Bricolage Grotesque 14pt" panose="020B0605040402000204" pitchFamily="34" charset="0"/>
                </a:rPr>
                <a:t>FOCO 15% &amp; </a:t>
              </a:r>
            </a:p>
            <a:p>
              <a:pPr algn="ctr"/>
              <a:r>
                <a:rPr lang="en-US" sz="2800" b="1" dirty="0">
                  <a:latin typeface="Bricolage Grotesque 14pt" panose="020B0605040402000204" pitchFamily="34" charset="0"/>
                </a:rPr>
                <a:t>FOFO 35%</a:t>
              </a:r>
              <a:endParaRPr lang="en-US" sz="2000" b="1" dirty="0">
                <a:latin typeface="Bricolage Grotesque 14pt" panose="020B0605040402000204" pitchFamily="34" charset="0"/>
              </a:endParaRPr>
            </a:p>
          </p:txBody>
        </p:sp>
        <p:sp>
          <p:nvSpPr>
            <p:cNvPr id="22" name="TextBox 21"/>
            <p:cNvSpPr txBox="1"/>
            <p:nvPr/>
          </p:nvSpPr>
          <p:spPr>
            <a:xfrm>
              <a:off x="9378085" y="2841822"/>
              <a:ext cx="1971603" cy="523220"/>
            </a:xfrm>
            <a:prstGeom prst="rect">
              <a:avLst/>
            </a:prstGeom>
            <a:noFill/>
          </p:spPr>
          <p:txBody>
            <a:bodyPr wrap="square" rtlCol="0">
              <a:spAutoFit/>
            </a:bodyPr>
            <a:lstStyle/>
            <a:p>
              <a:pPr algn="ctr"/>
              <a:r>
                <a:rPr lang="en-US" sz="2800" b="1" u="sng" dirty="0">
                  <a:solidFill>
                    <a:srgbClr val="F95050"/>
                  </a:solidFill>
                  <a:latin typeface="Bricolage Grotesque 14pt" panose="020B0605040402000204" pitchFamily="34" charset="0"/>
                </a:rPr>
                <a:t>Net  Profit</a:t>
              </a:r>
            </a:p>
          </p:txBody>
        </p:sp>
      </p:grpSp>
      <p:sp>
        <p:nvSpPr>
          <p:cNvPr id="31" name="TextBox 30">
            <a:extLst>
              <a:ext uri="{FF2B5EF4-FFF2-40B4-BE49-F238E27FC236}">
                <a16:creationId xmlns:a16="http://schemas.microsoft.com/office/drawing/2014/main" id="{4B1C45F8-40C5-657A-8F6A-87E23F35D73B}"/>
              </a:ext>
            </a:extLst>
          </p:cNvPr>
          <p:cNvSpPr txBox="1"/>
          <p:nvPr/>
        </p:nvSpPr>
        <p:spPr>
          <a:xfrm>
            <a:off x="9842242" y="6469389"/>
            <a:ext cx="2199504" cy="261610"/>
          </a:xfrm>
          <a:prstGeom prst="rect">
            <a:avLst/>
          </a:prstGeom>
          <a:noFill/>
        </p:spPr>
        <p:txBody>
          <a:bodyPr wrap="square" rtlCol="0">
            <a:spAutoFit/>
          </a:bodyPr>
          <a:lstStyle/>
          <a:p>
            <a:pPr algn="ctr"/>
            <a:r>
              <a:rPr lang="en-US" sz="1050" dirty="0">
                <a:solidFill>
                  <a:schemeClr val="tx1">
                    <a:lumMod val="85000"/>
                    <a:lumOff val="15000"/>
                  </a:schemeClr>
                </a:solidFill>
                <a:latin typeface="Bricolage Grotesque 14pt" panose="020B0605040402000204" pitchFamily="34" charset="0"/>
                <a:ea typeface="Roboto" panose="02000000000000000000" pitchFamily="2" charset="0"/>
                <a:cs typeface="Heebo" pitchFamily="2" charset="-79"/>
              </a:rPr>
              <a:t>*T&amp;C Applied, Actuals may vary</a:t>
            </a:r>
          </a:p>
        </p:txBody>
      </p:sp>
    </p:spTree>
    <p:extLst>
      <p:ext uri="{BB962C8B-B14F-4D97-AF65-F5344CB8AC3E}">
        <p14:creationId xmlns:p14="http://schemas.microsoft.com/office/powerpoint/2010/main" val="971310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ppt_x"/>
                                          </p:val>
                                        </p:tav>
                                        <p:tav tm="100000">
                                          <p:val>
                                            <p:strVal val="#ppt_x"/>
                                          </p:val>
                                        </p:tav>
                                      </p:tavLst>
                                    </p:anim>
                                    <p:anim calcmode="lin" valueType="num">
                                      <p:cBhvr additive="base">
                                        <p:cTn id="3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1C45F8-40C5-657A-8F6A-87E23F35D73B}"/>
              </a:ext>
            </a:extLst>
          </p:cNvPr>
          <p:cNvSpPr txBox="1"/>
          <p:nvPr/>
        </p:nvSpPr>
        <p:spPr>
          <a:xfrm>
            <a:off x="881449" y="281696"/>
            <a:ext cx="10429102" cy="584775"/>
          </a:xfrm>
          <a:prstGeom prst="rect">
            <a:avLst/>
          </a:prstGeom>
          <a:noFill/>
        </p:spPr>
        <p:txBody>
          <a:bodyPr wrap="square" rtlCol="0">
            <a:spAutoFit/>
          </a:bodyPr>
          <a:lstStyle/>
          <a:p>
            <a:pPr algn="ctr"/>
            <a:r>
              <a:rPr lang="en-US" sz="3200" b="1" dirty="0">
                <a:solidFill>
                  <a:schemeClr val="bg1"/>
                </a:solidFill>
                <a:latin typeface="Bricolage Grotesque 14pt" panose="020B0605040402000204" pitchFamily="34" charset="0"/>
                <a:ea typeface="Roboto" panose="02000000000000000000" pitchFamily="2" charset="0"/>
                <a:cs typeface="Heebo" pitchFamily="2" charset="-79"/>
              </a:rPr>
              <a:t>Monthly Earning Potential of </a:t>
            </a:r>
            <a:r>
              <a:rPr lang="en-US" sz="3200" b="1" dirty="0">
                <a:solidFill>
                  <a:srgbClr val="16DB65"/>
                </a:solidFill>
                <a:latin typeface="Bricolage Grotesque 14pt" panose="020B0605040402000204" pitchFamily="34" charset="0"/>
                <a:ea typeface="Roboto" panose="02000000000000000000" pitchFamily="2" charset="0"/>
                <a:cs typeface="Heebo" pitchFamily="2" charset="-79"/>
              </a:rPr>
              <a:t>Internet Restaurants</a:t>
            </a:r>
          </a:p>
        </p:txBody>
      </p:sp>
      <p:grpSp>
        <p:nvGrpSpPr>
          <p:cNvPr id="7" name="Group 6"/>
          <p:cNvGrpSpPr/>
          <p:nvPr/>
        </p:nvGrpSpPr>
        <p:grpSpPr>
          <a:xfrm>
            <a:off x="780020" y="1190625"/>
            <a:ext cx="10430905" cy="2220192"/>
            <a:chOff x="780020" y="1190625"/>
            <a:chExt cx="10430905" cy="2220192"/>
          </a:xfrm>
        </p:grpSpPr>
        <p:sp>
          <p:nvSpPr>
            <p:cNvPr id="45" name="Rectangle 44">
              <a:extLst>
                <a:ext uri="{FF2B5EF4-FFF2-40B4-BE49-F238E27FC236}">
                  <a16:creationId xmlns:a16="http://schemas.microsoft.com/office/drawing/2014/main" id="{F8F14494-17BF-2306-007C-0E44E7EC7CEB}"/>
                </a:ext>
              </a:extLst>
            </p:cNvPr>
            <p:cNvSpPr/>
            <p:nvPr/>
          </p:nvSpPr>
          <p:spPr>
            <a:xfrm>
              <a:off x="10266920" y="2592797"/>
              <a:ext cx="944005" cy="818020"/>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60607"/>
                </a:solidFill>
              </a:endParaRPr>
            </a:p>
          </p:txBody>
        </p:sp>
        <p:sp>
          <p:nvSpPr>
            <p:cNvPr id="18" name="Rectangle 17">
              <a:extLst>
                <a:ext uri="{FF2B5EF4-FFF2-40B4-BE49-F238E27FC236}">
                  <a16:creationId xmlns:a16="http://schemas.microsoft.com/office/drawing/2014/main" id="{F8F14494-17BF-2306-007C-0E44E7EC7CEB}"/>
                </a:ext>
              </a:extLst>
            </p:cNvPr>
            <p:cNvSpPr/>
            <p:nvPr/>
          </p:nvSpPr>
          <p:spPr>
            <a:xfrm>
              <a:off x="780020" y="2592797"/>
              <a:ext cx="944005" cy="818020"/>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60607"/>
                </a:solidFill>
              </a:endParaRPr>
            </a:p>
          </p:txBody>
        </p:sp>
        <p:sp>
          <p:nvSpPr>
            <p:cNvPr id="19" name="Rectangle 18"/>
            <p:cNvSpPr/>
            <p:nvPr/>
          </p:nvSpPr>
          <p:spPr>
            <a:xfrm>
              <a:off x="872677" y="1190625"/>
              <a:ext cx="10236067" cy="2105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60607"/>
                </a:solidFill>
              </a:endParaRPr>
            </a:p>
          </p:txBody>
        </p:sp>
        <p:sp>
          <p:nvSpPr>
            <p:cNvPr id="39" name="Rectangle 38">
              <a:extLst>
                <a:ext uri="{FF2B5EF4-FFF2-40B4-BE49-F238E27FC236}">
                  <a16:creationId xmlns:a16="http://schemas.microsoft.com/office/drawing/2014/main" id="{174DAE6E-88FC-8FBA-E7AF-836600D40A41}"/>
                </a:ext>
              </a:extLst>
            </p:cNvPr>
            <p:cNvSpPr/>
            <p:nvPr/>
          </p:nvSpPr>
          <p:spPr>
            <a:xfrm>
              <a:off x="2524382" y="2805975"/>
              <a:ext cx="6932656" cy="489673"/>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solidFill>
                  <a:srgbClr val="F95050"/>
                </a:solidFill>
                <a:latin typeface="Open Sans" panose="020B0606030504020204" pitchFamily="34" charset="0"/>
              </a:endParaRPr>
            </a:p>
          </p:txBody>
        </p:sp>
        <p:sp>
          <p:nvSpPr>
            <p:cNvPr id="37" name="TextBox 36"/>
            <p:cNvSpPr txBox="1"/>
            <p:nvPr/>
          </p:nvSpPr>
          <p:spPr>
            <a:xfrm>
              <a:off x="2829182" y="2870688"/>
              <a:ext cx="6323056" cy="400110"/>
            </a:xfrm>
            <a:prstGeom prst="rect">
              <a:avLst/>
            </a:prstGeom>
            <a:noFill/>
          </p:spPr>
          <p:txBody>
            <a:bodyPr wrap="square" rtlCol="0">
              <a:spAutoFit/>
            </a:bodyPr>
            <a:lstStyle/>
            <a:p>
              <a:pPr algn="ctr"/>
              <a:r>
                <a:rPr lang="en-US" sz="2000" b="1" dirty="0">
                  <a:solidFill>
                    <a:schemeClr val="bg1"/>
                  </a:solidFill>
                  <a:latin typeface="Bricolage Grotesque 14pt" panose="020B0605040402000204" pitchFamily="34" charset="0"/>
                </a:rPr>
                <a:t>Monthly Earning = </a:t>
              </a:r>
              <a:r>
                <a:rPr lang="en-US" dirty="0">
                  <a:solidFill>
                    <a:schemeClr val="bg1"/>
                  </a:solidFill>
                  <a:latin typeface="Arial" panose="020B0604020202020204" pitchFamily="34" charset="0"/>
                  <a:cs typeface="Arial" panose="020B0604020202020204" pitchFamily="34" charset="0"/>
                </a:rPr>
                <a:t>₹</a:t>
              </a:r>
              <a:r>
                <a:rPr lang="en-US" sz="2000" b="1" dirty="0">
                  <a:solidFill>
                    <a:schemeClr val="bg1"/>
                  </a:solidFill>
                  <a:latin typeface="Bricolage Grotesque 14pt" panose="020B0605040402000204" pitchFamily="34" charset="0"/>
                </a:rPr>
                <a:t>6,00,000 x 15% = </a:t>
              </a:r>
              <a:r>
                <a:rPr lang="en-US" dirty="0">
                  <a:solidFill>
                    <a:schemeClr val="bg1"/>
                  </a:solidFill>
                  <a:latin typeface="Arial" panose="020B0604020202020204" pitchFamily="34" charset="0"/>
                  <a:cs typeface="Arial" panose="020B0604020202020204" pitchFamily="34" charset="0"/>
                </a:rPr>
                <a:t>₹</a:t>
              </a:r>
              <a:r>
                <a:rPr lang="en-US" sz="2000" b="1" dirty="0">
                  <a:solidFill>
                    <a:schemeClr val="bg1"/>
                  </a:solidFill>
                  <a:latin typeface="Bricolage Grotesque 14pt" panose="020B0605040402000204" pitchFamily="34" charset="0"/>
                </a:rPr>
                <a:t>90,000 pm</a:t>
              </a:r>
            </a:p>
          </p:txBody>
        </p:sp>
        <p:sp>
          <p:nvSpPr>
            <p:cNvPr id="14" name="Rectangle 13"/>
            <p:cNvSpPr/>
            <p:nvPr/>
          </p:nvSpPr>
          <p:spPr>
            <a:xfrm>
              <a:off x="2008709" y="2271296"/>
              <a:ext cx="3163330" cy="338554"/>
            </a:xfrm>
            <a:prstGeom prst="rect">
              <a:avLst/>
            </a:prstGeom>
          </p:spPr>
          <p:txBody>
            <a:bodyPr wrap="square">
              <a:spAutoFit/>
            </a:bodyPr>
            <a:lstStyle/>
            <a:p>
              <a:pPr algn="ctr"/>
              <a:r>
                <a:rPr lang="en-US" sz="1600" b="1" dirty="0">
                  <a:latin typeface="Bricolage Grotesque 14pt" panose="020B0605040402000204" pitchFamily="34" charset="0"/>
                </a:rPr>
                <a:t>NO operating expenses </a:t>
              </a:r>
            </a:p>
          </p:txBody>
        </p:sp>
        <p:sp>
          <p:nvSpPr>
            <p:cNvPr id="16" name="Rectangle 15">
              <a:extLst>
                <a:ext uri="{FF2B5EF4-FFF2-40B4-BE49-F238E27FC236}">
                  <a16:creationId xmlns:a16="http://schemas.microsoft.com/office/drawing/2014/main" id="{5C40F596-BBEB-6BC7-789C-FB7AF2BE86DE}"/>
                </a:ext>
              </a:extLst>
            </p:cNvPr>
            <p:cNvSpPr/>
            <p:nvPr/>
          </p:nvSpPr>
          <p:spPr>
            <a:xfrm>
              <a:off x="1281512" y="2256847"/>
              <a:ext cx="9418396" cy="353003"/>
            </a:xfrm>
            <a:prstGeom prst="rect">
              <a:avLst/>
            </a:prstGeom>
            <a:noFill/>
            <a:ln w="28575">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Open Sans" panose="020B0606030504020204" pitchFamily="34" charset="0"/>
              </a:endParaRPr>
            </a:p>
          </p:txBody>
        </p:sp>
        <p:sp>
          <p:nvSpPr>
            <p:cNvPr id="12" name="TextBox 11"/>
            <p:cNvSpPr txBox="1"/>
            <p:nvPr/>
          </p:nvSpPr>
          <p:spPr>
            <a:xfrm>
              <a:off x="899225" y="1662204"/>
              <a:ext cx="10182970" cy="523220"/>
            </a:xfrm>
            <a:prstGeom prst="rect">
              <a:avLst/>
            </a:prstGeom>
            <a:noFill/>
          </p:spPr>
          <p:txBody>
            <a:bodyPr wrap="square" rtlCol="0">
              <a:spAutoFit/>
            </a:bodyPr>
            <a:lstStyle/>
            <a:p>
              <a:pPr algn="ctr"/>
              <a:r>
                <a:rPr lang="en-US" sz="1400" b="1" dirty="0">
                  <a:solidFill>
                    <a:srgbClr val="060607"/>
                  </a:solidFill>
                  <a:latin typeface="Bricolage Grotesque 14pt" panose="020B0605040402000204" pitchFamily="34" charset="0"/>
                </a:rPr>
                <a:t>Assuming that a </a:t>
              </a:r>
              <a:r>
                <a:rPr lang="en-US" sz="1400" b="1" dirty="0">
                  <a:solidFill>
                    <a:srgbClr val="F95050"/>
                  </a:solidFill>
                  <a:latin typeface="Bricolage Grotesque 14pt" panose="020B0605040402000204" pitchFamily="34" charset="0"/>
                </a:rPr>
                <a:t>minimum of 100 orders </a:t>
              </a:r>
              <a:r>
                <a:rPr lang="en-US" sz="1400" b="1" dirty="0">
                  <a:solidFill>
                    <a:srgbClr val="060607"/>
                  </a:solidFill>
                  <a:latin typeface="Bricolage Grotesque 14pt" panose="020B0605040402000204" pitchFamily="34" charset="0"/>
                </a:rPr>
                <a:t>are placed daily, with a minimum ticket size of </a:t>
              </a:r>
              <a:r>
                <a:rPr lang="en-US" sz="1400" dirty="0">
                  <a:solidFill>
                    <a:srgbClr val="16DB65"/>
                  </a:solidFill>
                  <a:latin typeface="Arial" panose="020B0604020202020204" pitchFamily="34" charset="0"/>
                  <a:cs typeface="Arial" panose="020B0604020202020204" pitchFamily="34" charset="0"/>
                </a:rPr>
                <a:t>₹</a:t>
              </a:r>
              <a:r>
                <a:rPr lang="en-US" sz="1400" b="1" dirty="0">
                  <a:solidFill>
                    <a:srgbClr val="16DB65"/>
                  </a:solidFill>
                  <a:latin typeface="Bricolage Grotesque 14pt" panose="020B0605040402000204" pitchFamily="34" charset="0"/>
                </a:rPr>
                <a:t>200 per order</a:t>
              </a:r>
              <a:r>
                <a:rPr lang="en-US" sz="1400" b="1" dirty="0">
                  <a:solidFill>
                    <a:srgbClr val="060607"/>
                  </a:solidFill>
                  <a:latin typeface="Bricolage Grotesque 14pt" panose="020B0605040402000204" pitchFamily="34" charset="0"/>
                </a:rPr>
                <a:t>,</a:t>
              </a:r>
            </a:p>
            <a:p>
              <a:pPr algn="ctr"/>
              <a:r>
                <a:rPr lang="en-US" sz="1400" b="1" dirty="0">
                  <a:solidFill>
                    <a:srgbClr val="060607"/>
                  </a:solidFill>
                  <a:latin typeface="Bricolage Grotesque 14pt" panose="020B0605040402000204" pitchFamily="34" charset="0"/>
                </a:rPr>
                <a:t>resulting in a total of </a:t>
              </a:r>
              <a:r>
                <a:rPr lang="en-US" sz="1400" b="1" dirty="0">
                  <a:solidFill>
                    <a:srgbClr val="F95050"/>
                  </a:solidFill>
                  <a:latin typeface="Bricolage Grotesque 14pt" panose="020B0605040402000204" pitchFamily="34" charset="0"/>
                </a:rPr>
                <a:t>30 x 100 = 3000 orders in a month</a:t>
              </a:r>
              <a:r>
                <a:rPr lang="en-US" sz="1400" b="1" dirty="0">
                  <a:solidFill>
                    <a:srgbClr val="060607"/>
                  </a:solidFill>
                  <a:latin typeface="Bricolage Grotesque 14pt" panose="020B0605040402000204" pitchFamily="34" charset="0"/>
                </a:rPr>
                <a:t>, generating a total revenue of </a:t>
              </a:r>
              <a:r>
                <a:rPr lang="en-US" sz="1400" b="1" dirty="0">
                  <a:solidFill>
                    <a:srgbClr val="F95050"/>
                  </a:solidFill>
                  <a:latin typeface="Bricolage Grotesque 14pt" panose="020B0605040402000204" pitchFamily="34" charset="0"/>
                </a:rPr>
                <a:t>3000 x ₹200= </a:t>
              </a:r>
              <a:r>
                <a:rPr lang="en-US" sz="1400" b="1" dirty="0">
                  <a:solidFill>
                    <a:srgbClr val="F95050"/>
                  </a:solidFill>
                  <a:latin typeface="Arial" panose="020B0604020202020204" pitchFamily="34" charset="0"/>
                  <a:cs typeface="Arial" panose="020B0604020202020204" pitchFamily="34" charset="0"/>
                </a:rPr>
                <a:t>₹</a:t>
              </a:r>
              <a:r>
                <a:rPr lang="en-US" sz="1400" b="1" dirty="0">
                  <a:solidFill>
                    <a:srgbClr val="F95050"/>
                  </a:solidFill>
                  <a:latin typeface="Bricolage Grotesque 14pt" panose="020B0605040402000204" pitchFamily="34" charset="0"/>
                </a:rPr>
                <a:t>6,00,000</a:t>
              </a:r>
            </a:p>
          </p:txBody>
        </p:sp>
        <p:sp>
          <p:nvSpPr>
            <p:cNvPr id="26" name="TextBox 25">
              <a:extLst>
                <a:ext uri="{FF2B5EF4-FFF2-40B4-BE49-F238E27FC236}">
                  <a16:creationId xmlns:a16="http://schemas.microsoft.com/office/drawing/2014/main" id="{4B1C45F8-40C5-657A-8F6A-87E23F35D73B}"/>
                </a:ext>
              </a:extLst>
            </p:cNvPr>
            <p:cNvSpPr txBox="1"/>
            <p:nvPr/>
          </p:nvSpPr>
          <p:spPr>
            <a:xfrm>
              <a:off x="4694795" y="1261269"/>
              <a:ext cx="2591830" cy="461665"/>
            </a:xfrm>
            <a:prstGeom prst="rect">
              <a:avLst/>
            </a:prstGeom>
            <a:noFill/>
          </p:spPr>
          <p:txBody>
            <a:bodyPr wrap="square" rtlCol="0">
              <a:spAutoFit/>
            </a:bodyPr>
            <a:lstStyle/>
            <a:p>
              <a:pPr algn="ctr"/>
              <a:r>
                <a:rPr lang="en-US" sz="2400" b="1" dirty="0">
                  <a:solidFill>
                    <a:srgbClr val="16DB65"/>
                  </a:solidFill>
                  <a:latin typeface="Bricolage Grotesque 14pt" panose="020B0605040402000204" pitchFamily="34" charset="0"/>
                  <a:ea typeface="Roboto" panose="02000000000000000000" pitchFamily="2" charset="0"/>
                  <a:cs typeface="Heebo" pitchFamily="2" charset="-79"/>
                </a:rPr>
                <a:t>FOCO Model</a:t>
              </a:r>
            </a:p>
          </p:txBody>
        </p:sp>
        <p:sp>
          <p:nvSpPr>
            <p:cNvPr id="27" name="Rectangle 26">
              <a:extLst>
                <a:ext uri="{FF2B5EF4-FFF2-40B4-BE49-F238E27FC236}">
                  <a16:creationId xmlns:a16="http://schemas.microsoft.com/office/drawing/2014/main" id="{5C40F596-BBEB-6BC7-789C-FB7AF2BE86DE}"/>
                </a:ext>
              </a:extLst>
            </p:cNvPr>
            <p:cNvSpPr/>
            <p:nvPr/>
          </p:nvSpPr>
          <p:spPr>
            <a:xfrm>
              <a:off x="5771858" y="2256847"/>
              <a:ext cx="4928050" cy="353003"/>
            </a:xfrm>
            <a:prstGeom prst="rect">
              <a:avLst/>
            </a:prstGeom>
            <a:solidFill>
              <a:schemeClr val="tx1">
                <a:lumMod val="85000"/>
                <a:lumOff val="15000"/>
              </a:schemeClr>
            </a:solidFill>
            <a:ln w="9525">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Open Sans" panose="020B0606030504020204" pitchFamily="34" charset="0"/>
              </a:endParaRPr>
            </a:p>
          </p:txBody>
        </p:sp>
        <p:sp>
          <p:nvSpPr>
            <p:cNvPr id="15" name="Rectangle 14"/>
            <p:cNvSpPr/>
            <p:nvPr/>
          </p:nvSpPr>
          <p:spPr>
            <a:xfrm>
              <a:off x="6159948" y="2240518"/>
              <a:ext cx="4151870" cy="400110"/>
            </a:xfrm>
            <a:prstGeom prst="rect">
              <a:avLst/>
            </a:prstGeom>
          </p:spPr>
          <p:txBody>
            <a:bodyPr wrap="square">
              <a:spAutoFit/>
            </a:bodyPr>
            <a:lstStyle/>
            <a:p>
              <a:pPr algn="ctr"/>
              <a:r>
                <a:rPr lang="en-US" sz="2000" b="1" dirty="0">
                  <a:solidFill>
                    <a:schemeClr val="bg1"/>
                  </a:solidFill>
                  <a:latin typeface="Bricolage Grotesque 14pt" panose="020B0605040402000204" pitchFamily="34" charset="0"/>
                </a:rPr>
                <a:t>Earning = 15% of the total billing</a:t>
              </a:r>
            </a:p>
          </p:txBody>
        </p:sp>
      </p:grpSp>
      <p:grpSp>
        <p:nvGrpSpPr>
          <p:cNvPr id="58" name="Group 57"/>
          <p:cNvGrpSpPr/>
          <p:nvPr/>
        </p:nvGrpSpPr>
        <p:grpSpPr>
          <a:xfrm>
            <a:off x="780020" y="3829712"/>
            <a:ext cx="10430905" cy="2220192"/>
            <a:chOff x="780020" y="1190625"/>
            <a:chExt cx="10430905" cy="2220192"/>
          </a:xfrm>
        </p:grpSpPr>
        <p:sp>
          <p:nvSpPr>
            <p:cNvPr id="59" name="Rectangle 58">
              <a:extLst>
                <a:ext uri="{FF2B5EF4-FFF2-40B4-BE49-F238E27FC236}">
                  <a16:creationId xmlns:a16="http://schemas.microsoft.com/office/drawing/2014/main" id="{F8F14494-17BF-2306-007C-0E44E7EC7CEB}"/>
                </a:ext>
              </a:extLst>
            </p:cNvPr>
            <p:cNvSpPr/>
            <p:nvPr/>
          </p:nvSpPr>
          <p:spPr>
            <a:xfrm>
              <a:off x="10266920" y="2592797"/>
              <a:ext cx="944005" cy="818020"/>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60607"/>
                </a:solidFill>
              </a:endParaRPr>
            </a:p>
          </p:txBody>
        </p:sp>
        <p:sp>
          <p:nvSpPr>
            <p:cNvPr id="60" name="Rectangle 59">
              <a:extLst>
                <a:ext uri="{FF2B5EF4-FFF2-40B4-BE49-F238E27FC236}">
                  <a16:creationId xmlns:a16="http://schemas.microsoft.com/office/drawing/2014/main" id="{F8F14494-17BF-2306-007C-0E44E7EC7CEB}"/>
                </a:ext>
              </a:extLst>
            </p:cNvPr>
            <p:cNvSpPr/>
            <p:nvPr/>
          </p:nvSpPr>
          <p:spPr>
            <a:xfrm>
              <a:off x="780020" y="2592797"/>
              <a:ext cx="944005" cy="818020"/>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60607"/>
                </a:solidFill>
              </a:endParaRPr>
            </a:p>
          </p:txBody>
        </p:sp>
        <p:sp>
          <p:nvSpPr>
            <p:cNvPr id="61" name="Rectangle 60"/>
            <p:cNvSpPr/>
            <p:nvPr/>
          </p:nvSpPr>
          <p:spPr>
            <a:xfrm>
              <a:off x="872677" y="1190625"/>
              <a:ext cx="10236067" cy="2105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60607"/>
                </a:solidFill>
              </a:endParaRPr>
            </a:p>
          </p:txBody>
        </p:sp>
        <p:sp>
          <p:nvSpPr>
            <p:cNvPr id="62" name="Rectangle 61">
              <a:extLst>
                <a:ext uri="{FF2B5EF4-FFF2-40B4-BE49-F238E27FC236}">
                  <a16:creationId xmlns:a16="http://schemas.microsoft.com/office/drawing/2014/main" id="{174DAE6E-88FC-8FBA-E7AF-836600D40A41}"/>
                </a:ext>
              </a:extLst>
            </p:cNvPr>
            <p:cNvSpPr/>
            <p:nvPr/>
          </p:nvSpPr>
          <p:spPr>
            <a:xfrm>
              <a:off x="2524382" y="2805975"/>
              <a:ext cx="6932656" cy="489673"/>
            </a:xfrm>
            <a:prstGeom prst="rect">
              <a:avLst/>
            </a:prstGeom>
            <a:solidFill>
              <a:srgbClr val="F95050"/>
            </a:solidFill>
            <a:ln>
              <a:solidFill>
                <a:srgbClr val="F95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solidFill>
                  <a:srgbClr val="F95050"/>
                </a:solidFill>
                <a:latin typeface="Open Sans" panose="020B0606030504020204" pitchFamily="34" charset="0"/>
              </a:endParaRPr>
            </a:p>
          </p:txBody>
        </p:sp>
        <p:sp>
          <p:nvSpPr>
            <p:cNvPr id="63" name="TextBox 62"/>
            <p:cNvSpPr txBox="1"/>
            <p:nvPr/>
          </p:nvSpPr>
          <p:spPr>
            <a:xfrm>
              <a:off x="2680901" y="2870688"/>
              <a:ext cx="6619618" cy="400110"/>
            </a:xfrm>
            <a:prstGeom prst="rect">
              <a:avLst/>
            </a:prstGeom>
            <a:noFill/>
          </p:spPr>
          <p:txBody>
            <a:bodyPr wrap="square" rtlCol="0">
              <a:spAutoFit/>
            </a:bodyPr>
            <a:lstStyle/>
            <a:p>
              <a:pPr algn="ctr"/>
              <a:r>
                <a:rPr lang="en-US" sz="2000" b="1" dirty="0">
                  <a:solidFill>
                    <a:schemeClr val="bg1"/>
                  </a:solidFill>
                  <a:latin typeface="Bricolage Grotesque 14pt" panose="020B0605040402000204" pitchFamily="34" charset="0"/>
                </a:rPr>
                <a:t>Monthly Earning = </a:t>
              </a:r>
              <a:r>
                <a:rPr lang="en-US" dirty="0">
                  <a:solidFill>
                    <a:schemeClr val="bg1"/>
                  </a:solidFill>
                  <a:latin typeface="Arial" panose="020B0604020202020204" pitchFamily="34" charset="0"/>
                  <a:cs typeface="Arial" panose="020B0604020202020204" pitchFamily="34" charset="0"/>
                </a:rPr>
                <a:t>₹</a:t>
              </a:r>
              <a:r>
                <a:rPr lang="en-US" sz="2000" b="1" dirty="0">
                  <a:solidFill>
                    <a:schemeClr val="bg1"/>
                  </a:solidFill>
                  <a:latin typeface="Bricolage Grotesque 14pt" panose="020B0605040402000204" pitchFamily="34" charset="0"/>
                </a:rPr>
                <a:t>6,00,000 x 35% = </a:t>
              </a:r>
              <a:r>
                <a:rPr lang="en-US" dirty="0">
                  <a:solidFill>
                    <a:schemeClr val="bg1"/>
                  </a:solidFill>
                  <a:latin typeface="Arial" panose="020B0604020202020204" pitchFamily="34" charset="0"/>
                  <a:cs typeface="Arial" panose="020B0604020202020204" pitchFamily="34" charset="0"/>
                </a:rPr>
                <a:t>₹</a:t>
              </a:r>
              <a:r>
                <a:rPr lang="en-US" sz="2000" b="1" dirty="0">
                  <a:solidFill>
                    <a:schemeClr val="bg1"/>
                  </a:solidFill>
                  <a:latin typeface="Bricolage Grotesque 14pt" panose="020B0605040402000204" pitchFamily="34" charset="0"/>
                  <a:cs typeface="Arial" panose="020B0604020202020204" pitchFamily="34" charset="0"/>
                </a:rPr>
                <a:t>2</a:t>
              </a:r>
              <a:r>
                <a:rPr lang="en-US" sz="2000" b="1" dirty="0">
                  <a:solidFill>
                    <a:schemeClr val="bg1"/>
                  </a:solidFill>
                  <a:latin typeface="Bricolage Grotesque 14pt" panose="020B0605040402000204" pitchFamily="34" charset="0"/>
                </a:rPr>
                <a:t>,10,000 pm</a:t>
              </a:r>
            </a:p>
          </p:txBody>
        </p:sp>
        <p:sp>
          <p:nvSpPr>
            <p:cNvPr id="64" name="Rectangle 63"/>
            <p:cNvSpPr/>
            <p:nvPr/>
          </p:nvSpPr>
          <p:spPr>
            <a:xfrm>
              <a:off x="2008709" y="2271296"/>
              <a:ext cx="3163330" cy="338554"/>
            </a:xfrm>
            <a:prstGeom prst="rect">
              <a:avLst/>
            </a:prstGeom>
          </p:spPr>
          <p:txBody>
            <a:bodyPr wrap="square">
              <a:spAutoFit/>
            </a:bodyPr>
            <a:lstStyle/>
            <a:p>
              <a:pPr algn="ctr"/>
              <a:r>
                <a:rPr lang="en-US" sz="1600" b="1" dirty="0">
                  <a:latin typeface="Bricolage Grotesque 14pt" panose="020B0605040402000204" pitchFamily="34" charset="0"/>
                </a:rPr>
                <a:t>NO operating expenses </a:t>
              </a:r>
            </a:p>
          </p:txBody>
        </p:sp>
        <p:sp>
          <p:nvSpPr>
            <p:cNvPr id="65" name="Rectangle 64">
              <a:extLst>
                <a:ext uri="{FF2B5EF4-FFF2-40B4-BE49-F238E27FC236}">
                  <a16:creationId xmlns:a16="http://schemas.microsoft.com/office/drawing/2014/main" id="{5C40F596-BBEB-6BC7-789C-FB7AF2BE86DE}"/>
                </a:ext>
              </a:extLst>
            </p:cNvPr>
            <p:cNvSpPr/>
            <p:nvPr/>
          </p:nvSpPr>
          <p:spPr>
            <a:xfrm>
              <a:off x="1281512" y="2256847"/>
              <a:ext cx="9418396" cy="353003"/>
            </a:xfrm>
            <a:prstGeom prst="rect">
              <a:avLst/>
            </a:prstGeom>
            <a:noFill/>
            <a:ln w="28575">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Open Sans" panose="020B0606030504020204" pitchFamily="34" charset="0"/>
              </a:endParaRPr>
            </a:p>
          </p:txBody>
        </p:sp>
        <p:sp>
          <p:nvSpPr>
            <p:cNvPr id="66" name="TextBox 65"/>
            <p:cNvSpPr txBox="1"/>
            <p:nvPr/>
          </p:nvSpPr>
          <p:spPr>
            <a:xfrm>
              <a:off x="899225" y="1662204"/>
              <a:ext cx="10182970" cy="523220"/>
            </a:xfrm>
            <a:prstGeom prst="rect">
              <a:avLst/>
            </a:prstGeom>
            <a:noFill/>
          </p:spPr>
          <p:txBody>
            <a:bodyPr wrap="square" rtlCol="0">
              <a:spAutoFit/>
            </a:bodyPr>
            <a:lstStyle/>
            <a:p>
              <a:pPr algn="ctr"/>
              <a:r>
                <a:rPr lang="en-US" sz="1400" b="1" dirty="0">
                  <a:solidFill>
                    <a:srgbClr val="060607"/>
                  </a:solidFill>
                  <a:latin typeface="Bricolage Grotesque 14pt" panose="020B0605040402000204" pitchFamily="34" charset="0"/>
                </a:rPr>
                <a:t>Assuming that a </a:t>
              </a:r>
              <a:r>
                <a:rPr lang="en-US" sz="1400" b="1" dirty="0">
                  <a:solidFill>
                    <a:srgbClr val="F95050"/>
                  </a:solidFill>
                  <a:latin typeface="Bricolage Grotesque 14pt" panose="020B0605040402000204" pitchFamily="34" charset="0"/>
                </a:rPr>
                <a:t>minimum of 100 orders </a:t>
              </a:r>
              <a:r>
                <a:rPr lang="en-US" sz="1400" b="1" dirty="0">
                  <a:solidFill>
                    <a:srgbClr val="060607"/>
                  </a:solidFill>
                  <a:latin typeface="Bricolage Grotesque 14pt" panose="020B0605040402000204" pitchFamily="34" charset="0"/>
                </a:rPr>
                <a:t>are placed daily, with a minimum ticket size of </a:t>
              </a:r>
              <a:r>
                <a:rPr lang="en-US" sz="1400" dirty="0">
                  <a:solidFill>
                    <a:srgbClr val="16DB65"/>
                  </a:solidFill>
                  <a:latin typeface="Arial" panose="020B0604020202020204" pitchFamily="34" charset="0"/>
                  <a:cs typeface="Arial" panose="020B0604020202020204" pitchFamily="34" charset="0"/>
                </a:rPr>
                <a:t>₹</a:t>
              </a:r>
              <a:r>
                <a:rPr lang="en-US" sz="1400" b="1" dirty="0">
                  <a:solidFill>
                    <a:srgbClr val="16DB65"/>
                  </a:solidFill>
                  <a:latin typeface="Bricolage Grotesque 14pt" panose="020B0605040402000204" pitchFamily="34" charset="0"/>
                </a:rPr>
                <a:t>200 per order</a:t>
              </a:r>
              <a:r>
                <a:rPr lang="en-US" sz="1400" b="1" dirty="0">
                  <a:solidFill>
                    <a:srgbClr val="060607"/>
                  </a:solidFill>
                  <a:latin typeface="Bricolage Grotesque 14pt" panose="020B0605040402000204" pitchFamily="34" charset="0"/>
                </a:rPr>
                <a:t>,</a:t>
              </a:r>
            </a:p>
            <a:p>
              <a:pPr algn="ctr"/>
              <a:r>
                <a:rPr lang="en-US" sz="1400" b="1" dirty="0">
                  <a:solidFill>
                    <a:srgbClr val="060607"/>
                  </a:solidFill>
                  <a:latin typeface="Bricolage Grotesque 14pt" panose="020B0605040402000204" pitchFamily="34" charset="0"/>
                </a:rPr>
                <a:t>resulting in a total of </a:t>
              </a:r>
              <a:r>
                <a:rPr lang="en-US" sz="1400" b="1" dirty="0">
                  <a:solidFill>
                    <a:srgbClr val="F95050"/>
                  </a:solidFill>
                  <a:latin typeface="Bricolage Grotesque 14pt" panose="020B0605040402000204" pitchFamily="34" charset="0"/>
                </a:rPr>
                <a:t>30 x 100 = 3000 orders in a month</a:t>
              </a:r>
              <a:r>
                <a:rPr lang="en-US" sz="1400" b="1" dirty="0">
                  <a:solidFill>
                    <a:srgbClr val="060607"/>
                  </a:solidFill>
                  <a:latin typeface="Bricolage Grotesque 14pt" panose="020B0605040402000204" pitchFamily="34" charset="0"/>
                </a:rPr>
                <a:t>, generating a total revenue of </a:t>
              </a:r>
              <a:r>
                <a:rPr lang="en-US" sz="1400" b="1" dirty="0">
                  <a:solidFill>
                    <a:srgbClr val="F95050"/>
                  </a:solidFill>
                  <a:latin typeface="Bricolage Grotesque 14pt" panose="020B0605040402000204" pitchFamily="34" charset="0"/>
                </a:rPr>
                <a:t>3000 x ₹200= </a:t>
              </a:r>
              <a:r>
                <a:rPr lang="en-US" sz="1400" dirty="0">
                  <a:solidFill>
                    <a:srgbClr val="F95050"/>
                  </a:solidFill>
                  <a:latin typeface="Arial" panose="020B0604020202020204" pitchFamily="34" charset="0"/>
                  <a:cs typeface="Arial" panose="020B0604020202020204" pitchFamily="34" charset="0"/>
                </a:rPr>
                <a:t>₹</a:t>
              </a:r>
              <a:r>
                <a:rPr lang="en-US" sz="1400" b="1" dirty="0">
                  <a:solidFill>
                    <a:srgbClr val="F95050"/>
                  </a:solidFill>
                  <a:latin typeface="Bricolage Grotesque 14pt" panose="020B0605040402000204" pitchFamily="34" charset="0"/>
                </a:rPr>
                <a:t>6,00,000</a:t>
              </a:r>
            </a:p>
          </p:txBody>
        </p:sp>
        <p:sp>
          <p:nvSpPr>
            <p:cNvPr id="67" name="TextBox 66">
              <a:extLst>
                <a:ext uri="{FF2B5EF4-FFF2-40B4-BE49-F238E27FC236}">
                  <a16:creationId xmlns:a16="http://schemas.microsoft.com/office/drawing/2014/main" id="{4B1C45F8-40C5-657A-8F6A-87E23F35D73B}"/>
                </a:ext>
              </a:extLst>
            </p:cNvPr>
            <p:cNvSpPr txBox="1"/>
            <p:nvPr/>
          </p:nvSpPr>
          <p:spPr>
            <a:xfrm>
              <a:off x="4694795" y="1261269"/>
              <a:ext cx="2591830" cy="461665"/>
            </a:xfrm>
            <a:prstGeom prst="rect">
              <a:avLst/>
            </a:prstGeom>
            <a:noFill/>
          </p:spPr>
          <p:txBody>
            <a:bodyPr wrap="square" rtlCol="0">
              <a:spAutoFit/>
            </a:bodyPr>
            <a:lstStyle/>
            <a:p>
              <a:pPr algn="ctr"/>
              <a:r>
                <a:rPr lang="en-US" sz="2400" b="1" dirty="0">
                  <a:solidFill>
                    <a:srgbClr val="16DB65"/>
                  </a:solidFill>
                  <a:latin typeface="Bricolage Grotesque 14pt" panose="020B0605040402000204" pitchFamily="34" charset="0"/>
                  <a:ea typeface="Roboto" panose="02000000000000000000" pitchFamily="2" charset="0"/>
                  <a:cs typeface="Heebo" pitchFamily="2" charset="-79"/>
                </a:rPr>
                <a:t>FOFO Model</a:t>
              </a:r>
            </a:p>
          </p:txBody>
        </p:sp>
        <p:sp>
          <p:nvSpPr>
            <p:cNvPr id="68" name="Rectangle 67">
              <a:extLst>
                <a:ext uri="{FF2B5EF4-FFF2-40B4-BE49-F238E27FC236}">
                  <a16:creationId xmlns:a16="http://schemas.microsoft.com/office/drawing/2014/main" id="{5C40F596-BBEB-6BC7-789C-FB7AF2BE86DE}"/>
                </a:ext>
              </a:extLst>
            </p:cNvPr>
            <p:cNvSpPr/>
            <p:nvPr/>
          </p:nvSpPr>
          <p:spPr>
            <a:xfrm>
              <a:off x="5771858" y="2256847"/>
              <a:ext cx="4928050" cy="353003"/>
            </a:xfrm>
            <a:prstGeom prst="rect">
              <a:avLst/>
            </a:prstGeom>
            <a:solidFill>
              <a:schemeClr val="tx1">
                <a:lumMod val="85000"/>
                <a:lumOff val="15000"/>
              </a:schemeClr>
            </a:solidFill>
            <a:ln w="9525">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Open Sans" panose="020B0606030504020204" pitchFamily="34" charset="0"/>
              </a:endParaRPr>
            </a:p>
          </p:txBody>
        </p:sp>
        <p:sp>
          <p:nvSpPr>
            <p:cNvPr id="69" name="Rectangle 68"/>
            <p:cNvSpPr/>
            <p:nvPr/>
          </p:nvSpPr>
          <p:spPr>
            <a:xfrm>
              <a:off x="5899016" y="2240518"/>
              <a:ext cx="4673734" cy="400110"/>
            </a:xfrm>
            <a:prstGeom prst="rect">
              <a:avLst/>
            </a:prstGeom>
          </p:spPr>
          <p:txBody>
            <a:bodyPr wrap="square">
              <a:spAutoFit/>
            </a:bodyPr>
            <a:lstStyle/>
            <a:p>
              <a:pPr algn="ctr"/>
              <a:r>
                <a:rPr lang="en-US" sz="2000" b="1" dirty="0">
                  <a:solidFill>
                    <a:schemeClr val="bg1"/>
                  </a:solidFill>
                  <a:latin typeface="Bricolage Grotesque 14pt" panose="020B0605040402000204" pitchFamily="34" charset="0"/>
                </a:rPr>
                <a:t>Earning = 35% of the total billing</a:t>
              </a:r>
            </a:p>
          </p:txBody>
        </p:sp>
      </p:grpSp>
      <p:sp>
        <p:nvSpPr>
          <p:cNvPr id="2" name="TextBox 1">
            <a:extLst>
              <a:ext uri="{FF2B5EF4-FFF2-40B4-BE49-F238E27FC236}">
                <a16:creationId xmlns:a16="http://schemas.microsoft.com/office/drawing/2014/main" id="{AF5A63C6-65AA-B0C7-D0FF-73F6F3A44B56}"/>
              </a:ext>
            </a:extLst>
          </p:cNvPr>
          <p:cNvSpPr txBox="1"/>
          <p:nvPr/>
        </p:nvSpPr>
        <p:spPr>
          <a:xfrm>
            <a:off x="8500871" y="6315809"/>
            <a:ext cx="4300151" cy="230832"/>
          </a:xfrm>
          <a:prstGeom prst="rect">
            <a:avLst/>
          </a:prstGeom>
          <a:noFill/>
        </p:spPr>
        <p:txBody>
          <a:bodyPr wrap="square" rtlCol="0">
            <a:spAutoFit/>
          </a:bodyPr>
          <a:lstStyle/>
          <a:p>
            <a:pPr algn="ctr"/>
            <a:r>
              <a:rPr lang="en-US" sz="900" b="1" dirty="0">
                <a:solidFill>
                  <a:srgbClr val="F95050"/>
                </a:solidFill>
                <a:latin typeface="Bricolage Grotesque 14pt" panose="020B0605040402000204" pitchFamily="34" charset="0"/>
              </a:rPr>
              <a:t>This figure is only for illustration purpose actuals may vary </a:t>
            </a:r>
          </a:p>
        </p:txBody>
      </p:sp>
    </p:spTree>
    <p:extLst>
      <p:ext uri="{BB962C8B-B14F-4D97-AF65-F5344CB8AC3E}">
        <p14:creationId xmlns:p14="http://schemas.microsoft.com/office/powerpoint/2010/main" val="3025787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8"/>
                                        </p:tgtEl>
                                        <p:attrNameLst>
                                          <p:attrName>style.visibility</p:attrName>
                                        </p:attrNameLst>
                                      </p:cBhvr>
                                      <p:to>
                                        <p:strVal val="visible"/>
                                      </p:to>
                                    </p:set>
                                    <p:anim calcmode="lin" valueType="num">
                                      <p:cBhvr additive="base">
                                        <p:cTn id="19" dur="500" fill="hold"/>
                                        <p:tgtEl>
                                          <p:spTgt spid="58"/>
                                        </p:tgtEl>
                                        <p:attrNameLst>
                                          <p:attrName>ppt_x</p:attrName>
                                        </p:attrNameLst>
                                      </p:cBhvr>
                                      <p:tavLst>
                                        <p:tav tm="0">
                                          <p:val>
                                            <p:strVal val="#ppt_x"/>
                                          </p:val>
                                        </p:tav>
                                        <p:tav tm="100000">
                                          <p:val>
                                            <p:strVal val="#ppt_x"/>
                                          </p:val>
                                        </p:tav>
                                      </p:tavLst>
                                    </p:anim>
                                    <p:anim calcmode="lin" valueType="num">
                                      <p:cBhvr additive="base">
                                        <p:cTn id="20" dur="500" fill="hold"/>
                                        <p:tgtEl>
                                          <p:spTgt spid="58"/>
                                        </p:tgtEl>
                                        <p:attrNameLst>
                                          <p:attrName>ppt_y</p:attrName>
                                        </p:attrNameLst>
                                      </p:cBhvr>
                                      <p:tavLst>
                                        <p:tav tm="0">
                                          <p:val>
                                            <p:strVal val="1+#ppt_h/2"/>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1+#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 name="TextBox 64">
            <a:extLst>
              <a:ext uri="{FF2B5EF4-FFF2-40B4-BE49-F238E27FC236}">
                <a16:creationId xmlns:a16="http://schemas.microsoft.com/office/drawing/2014/main" id="{BFA40ECD-1DDB-D9EB-20ED-1CAB912969D9}"/>
              </a:ext>
            </a:extLst>
          </p:cNvPr>
          <p:cNvSpPr txBox="1"/>
          <p:nvPr/>
        </p:nvSpPr>
        <p:spPr>
          <a:xfrm>
            <a:off x="3402227" y="5949058"/>
            <a:ext cx="5387546" cy="369332"/>
          </a:xfrm>
          <a:prstGeom prst="rect">
            <a:avLst/>
          </a:prstGeom>
          <a:noFill/>
        </p:spPr>
        <p:txBody>
          <a:bodyPr wrap="square" rtlCol="0">
            <a:spAutoFit/>
          </a:bodyPr>
          <a:lstStyle/>
          <a:p>
            <a:pPr algn="ctr"/>
            <a:r>
              <a:rPr lang="en-US" b="1" dirty="0">
                <a:solidFill>
                  <a:srgbClr val="FFBA00"/>
                </a:solidFill>
              </a:rPr>
              <a:t>FOFO, FOCO or Whitelisting Model</a:t>
            </a:r>
          </a:p>
        </p:txBody>
      </p:sp>
      <p:sp>
        <p:nvSpPr>
          <p:cNvPr id="66" name="TextBox 65">
            <a:extLst>
              <a:ext uri="{FF2B5EF4-FFF2-40B4-BE49-F238E27FC236}">
                <a16:creationId xmlns:a16="http://schemas.microsoft.com/office/drawing/2014/main" id="{4B1C45F8-40C5-657A-8F6A-87E23F35D73B}"/>
              </a:ext>
            </a:extLst>
          </p:cNvPr>
          <p:cNvSpPr txBox="1"/>
          <p:nvPr/>
        </p:nvSpPr>
        <p:spPr>
          <a:xfrm>
            <a:off x="1886467" y="444267"/>
            <a:ext cx="8419068" cy="1173398"/>
          </a:xfrm>
          <a:prstGeom prst="rect">
            <a:avLst/>
          </a:prstGeom>
          <a:noFill/>
        </p:spPr>
        <p:txBody>
          <a:bodyPr wrap="square" rtlCol="0">
            <a:spAutoFit/>
          </a:bodyPr>
          <a:lstStyle/>
          <a:p>
            <a:pPr algn="ctr">
              <a:lnSpc>
                <a:spcPts val="4200"/>
              </a:lnSpc>
            </a:pP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Multiple Brands:</a:t>
            </a:r>
          </a:p>
          <a:p>
            <a:pPr algn="ctr">
              <a:lnSpc>
                <a:spcPts val="4200"/>
              </a:lnSpc>
            </a:pP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Internet Restaurant (VEG)</a:t>
            </a:r>
          </a:p>
        </p:txBody>
      </p:sp>
      <p:pic>
        <p:nvPicPr>
          <p:cNvPr id="67" name="Picture 6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94034" y="444267"/>
            <a:ext cx="490374" cy="490374"/>
          </a:xfrm>
          <a:prstGeom prst="rect">
            <a:avLst/>
          </a:prstGeom>
        </p:spPr>
      </p:pic>
      <p:sp>
        <p:nvSpPr>
          <p:cNvPr id="5" name="Rounded Rectangle 4"/>
          <p:cNvSpPr/>
          <p:nvPr/>
        </p:nvSpPr>
        <p:spPr>
          <a:xfrm>
            <a:off x="387758" y="1963385"/>
            <a:ext cx="1400838" cy="1375128"/>
          </a:xfrm>
          <a:prstGeom prst="roundRect">
            <a:avLst/>
          </a:prstGeom>
          <a:blipFill dpi="0" rotWithShape="1">
            <a:blip r:embed="rId3"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6" name="Rounded Rectangle 5"/>
          <p:cNvSpPr/>
          <p:nvPr/>
        </p:nvSpPr>
        <p:spPr>
          <a:xfrm>
            <a:off x="2053508" y="1963385"/>
            <a:ext cx="1400838" cy="1375128"/>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7" name="Rounded Rectangle 6"/>
          <p:cNvSpPr/>
          <p:nvPr/>
        </p:nvSpPr>
        <p:spPr>
          <a:xfrm>
            <a:off x="3719259" y="1963385"/>
            <a:ext cx="1400838" cy="1375128"/>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8" name="Rounded Rectangle 7"/>
          <p:cNvSpPr/>
          <p:nvPr/>
        </p:nvSpPr>
        <p:spPr>
          <a:xfrm>
            <a:off x="5385009" y="1963385"/>
            <a:ext cx="1400838" cy="1375128"/>
          </a:xfrm>
          <a:prstGeom prst="roundRect">
            <a:avLst/>
          </a:prstGeom>
          <a:blipFill dpi="0" rotWithShape="1">
            <a:blip r:embed="rId6"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9" name="Rounded Rectangle 8"/>
          <p:cNvSpPr/>
          <p:nvPr/>
        </p:nvSpPr>
        <p:spPr>
          <a:xfrm>
            <a:off x="7050759" y="1963385"/>
            <a:ext cx="1400838" cy="1375128"/>
          </a:xfrm>
          <a:prstGeom prst="roundRect">
            <a:avLst/>
          </a:prstGeom>
          <a:blipFill dpi="0" rotWithShape="1">
            <a:blip r:embed="rId7"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0" name="Rounded Rectangle 9"/>
          <p:cNvSpPr/>
          <p:nvPr/>
        </p:nvSpPr>
        <p:spPr>
          <a:xfrm>
            <a:off x="8716510" y="1963385"/>
            <a:ext cx="1400838" cy="1375128"/>
          </a:xfrm>
          <a:prstGeom prst="roundRect">
            <a:avLst/>
          </a:prstGeom>
          <a:blipFill dpi="0" rotWithShape="1">
            <a:blip r:embed="rId8" cstate="print">
              <a:extLst>
                <a:ext uri="{28A0092B-C50C-407E-A947-70E740481C1C}">
                  <a14:useLocalDpi xmlns:a14="http://schemas.microsoft.com/office/drawing/2010/main" val="0"/>
                </a:ext>
              </a:extLst>
            </a:blip>
            <a:srcRect/>
            <a:stretch>
              <a:fillRect/>
            </a:stretch>
          </a:blip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solidFill>
                <a:srgbClr val="000000"/>
              </a:solidFill>
            </a:endParaRPr>
          </a:p>
        </p:txBody>
      </p:sp>
      <p:sp>
        <p:nvSpPr>
          <p:cNvPr id="12" name="Rounded Rectangle 11"/>
          <p:cNvSpPr/>
          <p:nvPr/>
        </p:nvSpPr>
        <p:spPr>
          <a:xfrm>
            <a:off x="387758" y="3686115"/>
            <a:ext cx="1400838" cy="1375128"/>
          </a:xfrm>
          <a:prstGeom prst="roundRect">
            <a:avLst/>
          </a:prstGeom>
          <a:blipFill dpi="0" rotWithShape="1">
            <a:blip r:embed="rId9" cstate="print">
              <a:extLst>
                <a:ext uri="{28A0092B-C50C-407E-A947-70E740481C1C}">
                  <a14:useLocalDpi xmlns:a14="http://schemas.microsoft.com/office/drawing/2010/main" val="0"/>
                </a:ext>
              </a:extLst>
            </a:blip>
            <a:srcRect/>
            <a:stretch>
              <a:fillRect/>
            </a:stretch>
          </a:blipFill>
          <a:ln w="1905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3" name="Rounded Rectangle 12"/>
          <p:cNvSpPr/>
          <p:nvPr/>
        </p:nvSpPr>
        <p:spPr>
          <a:xfrm>
            <a:off x="2078854" y="3686115"/>
            <a:ext cx="1400838" cy="1375128"/>
          </a:xfrm>
          <a:prstGeom prst="roundRect">
            <a:avLst/>
          </a:prstGeom>
          <a:blipFill dpi="0" rotWithShape="1">
            <a:blip r:embed="rId10"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4" name="Rounded Rectangle 13"/>
          <p:cNvSpPr/>
          <p:nvPr/>
        </p:nvSpPr>
        <p:spPr>
          <a:xfrm>
            <a:off x="5408275" y="3684233"/>
            <a:ext cx="1400838" cy="1375128"/>
          </a:xfrm>
          <a:prstGeom prst="roundRect">
            <a:avLst/>
          </a:prstGeom>
          <a:blipFill dpi="0" rotWithShape="1">
            <a:blip r:embed="rId11"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5" name="Rounded Rectangle 14"/>
          <p:cNvSpPr/>
          <p:nvPr/>
        </p:nvSpPr>
        <p:spPr>
          <a:xfrm>
            <a:off x="7099371" y="3684233"/>
            <a:ext cx="1400838" cy="1375128"/>
          </a:xfrm>
          <a:prstGeom prst="roundRect">
            <a:avLst/>
          </a:prstGeom>
          <a:blipFill dpi="0" rotWithShape="1">
            <a:blip r:embed="rId12" cstate="print">
              <a:extLst>
                <a:ext uri="{28A0092B-C50C-407E-A947-70E740481C1C}">
                  <a14:useLocalDpi xmlns:a14="http://schemas.microsoft.com/office/drawing/2010/main" val="0"/>
                </a:ext>
              </a:extLst>
            </a:blip>
            <a:srcRect/>
            <a:stretch>
              <a:fillRect/>
            </a:stretch>
          </a:blipFill>
          <a:ln w="1270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7" name="Rounded Rectangle 16"/>
          <p:cNvSpPr/>
          <p:nvPr/>
        </p:nvSpPr>
        <p:spPr>
          <a:xfrm>
            <a:off x="3717179" y="3684233"/>
            <a:ext cx="1400838" cy="1375128"/>
          </a:xfrm>
          <a:prstGeom prst="roundRect">
            <a:avLst/>
          </a:prstGeom>
          <a:blipFill dpi="0" rotWithShape="1">
            <a:blip r:embed="rId13"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1" name="Rounded Rectangle 14">
            <a:extLst>
              <a:ext uri="{FF2B5EF4-FFF2-40B4-BE49-F238E27FC236}">
                <a16:creationId xmlns:a16="http://schemas.microsoft.com/office/drawing/2014/main" id="{207368A3-4A27-AD5F-35FD-A43C1B4CD8FB}"/>
              </a:ext>
            </a:extLst>
          </p:cNvPr>
          <p:cNvSpPr/>
          <p:nvPr/>
        </p:nvSpPr>
        <p:spPr>
          <a:xfrm>
            <a:off x="8716510" y="3684233"/>
            <a:ext cx="1400838" cy="1375128"/>
          </a:xfrm>
          <a:prstGeom prst="roundRect">
            <a:avLst/>
          </a:prstGeom>
          <a:blipFill dpi="0" rotWithShape="1">
            <a:blip r:embed="rId14" cstate="print">
              <a:extLst>
                <a:ext uri="{28A0092B-C50C-407E-A947-70E740481C1C}">
                  <a14:useLocalDpi xmlns:a14="http://schemas.microsoft.com/office/drawing/2010/main" val="0"/>
                </a:ext>
              </a:extLst>
            </a:blip>
            <a:srcRect/>
            <a:stretch>
              <a:fillRect/>
            </a:stretch>
          </a:blipFill>
          <a:ln w="1270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2" name="Rounded Rectangle 14">
            <a:extLst>
              <a:ext uri="{FF2B5EF4-FFF2-40B4-BE49-F238E27FC236}">
                <a16:creationId xmlns:a16="http://schemas.microsoft.com/office/drawing/2014/main" id="{E4F9013F-BB39-473A-BF31-25EBFD63F79B}"/>
              </a:ext>
            </a:extLst>
          </p:cNvPr>
          <p:cNvSpPr/>
          <p:nvPr/>
        </p:nvSpPr>
        <p:spPr>
          <a:xfrm>
            <a:off x="10305535" y="1963385"/>
            <a:ext cx="1400838" cy="1375128"/>
          </a:xfrm>
          <a:prstGeom prst="roundRect">
            <a:avLst/>
          </a:prstGeom>
          <a:blipFill dpi="0" rotWithShape="1">
            <a:blip r:embed="rId15" cstate="print">
              <a:extLst>
                <a:ext uri="{28A0092B-C50C-407E-A947-70E740481C1C}">
                  <a14:useLocalDpi xmlns:a14="http://schemas.microsoft.com/office/drawing/2010/main" val="0"/>
                </a:ext>
              </a:extLst>
            </a:blip>
            <a:srcRect/>
            <a:stretch>
              <a:fillRect/>
            </a:stretch>
          </a:blipFill>
          <a:ln w="1270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4" name="Rounded Rectangle 14">
            <a:extLst>
              <a:ext uri="{FF2B5EF4-FFF2-40B4-BE49-F238E27FC236}">
                <a16:creationId xmlns:a16="http://schemas.microsoft.com/office/drawing/2014/main" id="{4F7D7FE1-A498-256F-2E36-39E125EB7890}"/>
              </a:ext>
            </a:extLst>
          </p:cNvPr>
          <p:cNvSpPr/>
          <p:nvPr/>
        </p:nvSpPr>
        <p:spPr>
          <a:xfrm>
            <a:off x="10305535" y="3679693"/>
            <a:ext cx="1400838" cy="1375128"/>
          </a:xfrm>
          <a:prstGeom prst="roundRect">
            <a:avLst/>
          </a:prstGeom>
          <a:blipFill dpi="0" rotWithShape="1">
            <a:blip r:embed="rId16" cstate="print">
              <a:extLst>
                <a:ext uri="{28A0092B-C50C-407E-A947-70E740481C1C}">
                  <a14:useLocalDpi xmlns:a14="http://schemas.microsoft.com/office/drawing/2010/main" val="0"/>
                </a:ext>
              </a:extLst>
            </a:blip>
            <a:srcRect/>
            <a:stretch>
              <a:fillRect/>
            </a:stretch>
          </a:blipFill>
          <a:ln w="1270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8116031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additive="base">
                                        <p:cTn id="7" dur="500" fill="hold"/>
                                        <p:tgtEl>
                                          <p:spTgt spid="66"/>
                                        </p:tgtEl>
                                        <p:attrNameLst>
                                          <p:attrName>ppt_x</p:attrName>
                                        </p:attrNameLst>
                                      </p:cBhvr>
                                      <p:tavLst>
                                        <p:tav tm="0">
                                          <p:val>
                                            <p:strVal val="#ppt_x"/>
                                          </p:val>
                                        </p:tav>
                                        <p:tav tm="100000">
                                          <p:val>
                                            <p:strVal val="#ppt_x"/>
                                          </p:val>
                                        </p:tav>
                                      </p:tavLst>
                                    </p:anim>
                                    <p:anim calcmode="lin" valueType="num">
                                      <p:cBhvr additive="base">
                                        <p:cTn id="8" dur="500" fill="hold"/>
                                        <p:tgtEl>
                                          <p:spTgt spid="6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7"/>
                                        </p:tgtEl>
                                        <p:attrNameLst>
                                          <p:attrName>style.visibility</p:attrName>
                                        </p:attrNameLst>
                                      </p:cBhvr>
                                      <p:to>
                                        <p:strVal val="visible"/>
                                      </p:to>
                                    </p:set>
                                    <p:anim calcmode="lin" valueType="num">
                                      <p:cBhvr additive="base">
                                        <p:cTn id="11" dur="500" fill="hold"/>
                                        <p:tgtEl>
                                          <p:spTgt spid="67"/>
                                        </p:tgtEl>
                                        <p:attrNameLst>
                                          <p:attrName>ppt_x</p:attrName>
                                        </p:attrNameLst>
                                      </p:cBhvr>
                                      <p:tavLst>
                                        <p:tav tm="0">
                                          <p:val>
                                            <p:strVal val="#ppt_x"/>
                                          </p:val>
                                        </p:tav>
                                        <p:tav tm="100000">
                                          <p:val>
                                            <p:strVal val="#ppt_x"/>
                                          </p:val>
                                        </p:tav>
                                      </p:tavLst>
                                    </p:anim>
                                    <p:anim calcmode="lin" valueType="num">
                                      <p:cBhvr additive="base">
                                        <p:cTn id="12"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arn(inVertical)">
                                      <p:cBhvr>
                                        <p:cTn id="20" dur="500"/>
                                        <p:tgtEl>
                                          <p:spTgt spid="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arn(inVertical)">
                                      <p:cBhvr>
                                        <p:cTn id="23" dur="500"/>
                                        <p:tgtEl>
                                          <p:spTgt spid="7"/>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arn(inVertical)">
                                      <p:cBhvr>
                                        <p:cTn id="26" dur="500"/>
                                        <p:tgtEl>
                                          <p:spTgt spid="8"/>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arn(inVertical)">
                                      <p:cBhvr>
                                        <p:cTn id="29" dur="500"/>
                                        <p:tgtEl>
                                          <p:spTgt spid="9"/>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arn(inVertical)">
                                      <p:cBhvr>
                                        <p:cTn id="32" dur="500"/>
                                        <p:tgtEl>
                                          <p:spTgt spid="10"/>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barn(inVertical)">
                                      <p:cBhvr>
                                        <p:cTn id="35" dur="500"/>
                                        <p:tgtEl>
                                          <p:spTgt spid="2"/>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barn(inVertical)">
                                      <p:cBhvr>
                                        <p:cTn id="38" dur="500"/>
                                        <p:tgtEl>
                                          <p:spTgt spid="12"/>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barn(inVertical)">
                                      <p:cBhvr>
                                        <p:cTn id="41" dur="500"/>
                                        <p:tgtEl>
                                          <p:spTgt spid="13"/>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barn(inVertical)">
                                      <p:cBhvr>
                                        <p:cTn id="44" dur="500"/>
                                        <p:tgtEl>
                                          <p:spTgt spid="17"/>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barn(inVertical)">
                                      <p:cBhvr>
                                        <p:cTn id="47" dur="500"/>
                                        <p:tgtEl>
                                          <p:spTgt spid="14"/>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barn(inVertical)">
                                      <p:cBhvr>
                                        <p:cTn id="50" dur="500"/>
                                        <p:tgtEl>
                                          <p:spTgt spid="15"/>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barn(inVertical)">
                                      <p:cBhvr>
                                        <p:cTn id="53" dur="500"/>
                                        <p:tgtEl>
                                          <p:spTgt spid="11"/>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barn(inVertical)">
                                      <p:cBhvr>
                                        <p:cTn id="56" dur="500"/>
                                        <p:tgtEl>
                                          <p:spTgt spid="4"/>
                                        </p:tgtEl>
                                      </p:cBhvr>
                                    </p:animEffect>
                                  </p:childTnLst>
                                </p:cTn>
                              </p:par>
                              <p:par>
                                <p:cTn id="57" presetID="2" presetClass="entr" presetSubtype="4" fill="hold" grpId="0" nodeType="withEffect">
                                  <p:stCondLst>
                                    <p:cond delay="0"/>
                                  </p:stCondLst>
                                  <p:childTnLst>
                                    <p:set>
                                      <p:cBhvr>
                                        <p:cTn id="58" dur="1" fill="hold">
                                          <p:stCondLst>
                                            <p:cond delay="0"/>
                                          </p:stCondLst>
                                        </p:cTn>
                                        <p:tgtEl>
                                          <p:spTgt spid="65"/>
                                        </p:tgtEl>
                                        <p:attrNameLst>
                                          <p:attrName>style.visibility</p:attrName>
                                        </p:attrNameLst>
                                      </p:cBhvr>
                                      <p:to>
                                        <p:strVal val="visible"/>
                                      </p:to>
                                    </p:set>
                                    <p:anim calcmode="lin" valueType="num">
                                      <p:cBhvr additive="base">
                                        <p:cTn id="59" dur="500" fill="hold"/>
                                        <p:tgtEl>
                                          <p:spTgt spid="65"/>
                                        </p:tgtEl>
                                        <p:attrNameLst>
                                          <p:attrName>ppt_x</p:attrName>
                                        </p:attrNameLst>
                                      </p:cBhvr>
                                      <p:tavLst>
                                        <p:tav tm="0">
                                          <p:val>
                                            <p:strVal val="#ppt_x"/>
                                          </p:val>
                                        </p:tav>
                                        <p:tav tm="100000">
                                          <p:val>
                                            <p:strVal val="#ppt_x"/>
                                          </p:val>
                                        </p:tav>
                                      </p:tavLst>
                                    </p:anim>
                                    <p:anim calcmode="lin" valueType="num">
                                      <p:cBhvr additive="base">
                                        <p:cTn id="60"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5" grpId="0" animBg="1"/>
      <p:bldP spid="6" grpId="0" animBg="1"/>
      <p:bldP spid="7" grpId="0" animBg="1"/>
      <p:bldP spid="8" grpId="0" animBg="1"/>
      <p:bldP spid="9" grpId="0" animBg="1"/>
      <p:bldP spid="10" grpId="0" animBg="1"/>
      <p:bldP spid="12" grpId="0" animBg="1"/>
      <p:bldP spid="13" grpId="0" animBg="1"/>
      <p:bldP spid="14" grpId="0" animBg="1"/>
      <p:bldP spid="15" grpId="0" animBg="1"/>
      <p:bldP spid="17" grpId="0" animBg="1"/>
      <p:bldP spid="11" grpId="0" animBg="1"/>
      <p:bldP spid="2" grpId="0" animBg="1"/>
      <p:bldP spid="4"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 name="TextBox 64">
            <a:extLst>
              <a:ext uri="{FF2B5EF4-FFF2-40B4-BE49-F238E27FC236}">
                <a16:creationId xmlns:a16="http://schemas.microsoft.com/office/drawing/2014/main" id="{BFA40ECD-1DDB-D9EB-20ED-1CAB912969D9}"/>
              </a:ext>
            </a:extLst>
          </p:cNvPr>
          <p:cNvSpPr txBox="1"/>
          <p:nvPr/>
        </p:nvSpPr>
        <p:spPr>
          <a:xfrm>
            <a:off x="4297793" y="5949058"/>
            <a:ext cx="3596414" cy="646331"/>
          </a:xfrm>
          <a:prstGeom prst="rect">
            <a:avLst/>
          </a:prstGeom>
          <a:noFill/>
        </p:spPr>
        <p:txBody>
          <a:bodyPr wrap="square" rtlCol="0">
            <a:spAutoFit/>
          </a:bodyPr>
          <a:lstStyle/>
          <a:p>
            <a:pPr algn="ctr"/>
            <a:r>
              <a:rPr lang="en-US" b="1" dirty="0">
                <a:solidFill>
                  <a:srgbClr val="FFBA00"/>
                </a:solidFill>
              </a:rPr>
              <a:t>⁠FOFO, FOCO or Whitelisting Model</a:t>
            </a:r>
          </a:p>
          <a:p>
            <a:pPr algn="ctr"/>
            <a:endParaRPr lang="en-US" b="1" dirty="0">
              <a:solidFill>
                <a:srgbClr val="FFBA00"/>
              </a:solidFill>
            </a:endParaRPr>
          </a:p>
        </p:txBody>
      </p:sp>
      <p:sp>
        <p:nvSpPr>
          <p:cNvPr id="4" name="TextBox 3">
            <a:extLst>
              <a:ext uri="{FF2B5EF4-FFF2-40B4-BE49-F238E27FC236}">
                <a16:creationId xmlns:a16="http://schemas.microsoft.com/office/drawing/2014/main" id="{4B1C45F8-40C5-657A-8F6A-87E23F35D73B}"/>
              </a:ext>
            </a:extLst>
          </p:cNvPr>
          <p:cNvSpPr txBox="1"/>
          <p:nvPr/>
        </p:nvSpPr>
        <p:spPr>
          <a:xfrm>
            <a:off x="897968" y="444267"/>
            <a:ext cx="10396066" cy="1173398"/>
          </a:xfrm>
          <a:prstGeom prst="rect">
            <a:avLst/>
          </a:prstGeom>
          <a:noFill/>
        </p:spPr>
        <p:txBody>
          <a:bodyPr wrap="square" rtlCol="0">
            <a:spAutoFit/>
          </a:bodyPr>
          <a:lstStyle/>
          <a:p>
            <a:pPr algn="ctr">
              <a:lnSpc>
                <a:spcPts val="4200"/>
              </a:lnSpc>
            </a:pPr>
            <a:r>
              <a:rPr lang="en-US" sz="4000" b="1" dirty="0">
                <a:solidFill>
                  <a:schemeClr val="bg1"/>
                </a:solidFill>
                <a:latin typeface="Bricolage Grotesque 14pt" panose="020B0605040402000204" pitchFamily="34" charset="0"/>
                <a:ea typeface="Roboto" panose="02000000000000000000" pitchFamily="2" charset="0"/>
                <a:cs typeface="Heebo" pitchFamily="2" charset="-79"/>
              </a:rPr>
              <a:t>Multiple Brands:</a:t>
            </a:r>
          </a:p>
          <a:p>
            <a:pPr algn="ctr">
              <a:lnSpc>
                <a:spcPts val="4200"/>
              </a:lnSpc>
            </a:pPr>
            <a:r>
              <a:rPr lang="en-US" sz="4000" b="1" dirty="0">
                <a:solidFill>
                  <a:srgbClr val="16DB65"/>
                </a:solidFill>
                <a:latin typeface="Bricolage Grotesque 14pt" panose="020B0605040402000204" pitchFamily="34" charset="0"/>
                <a:ea typeface="Roboto" panose="02000000000000000000" pitchFamily="2" charset="0"/>
                <a:cs typeface="Heebo" pitchFamily="2" charset="-79"/>
              </a:rPr>
              <a:t>Internet Restaurant </a:t>
            </a:r>
            <a:r>
              <a:rPr lang="en-US" sz="4000" b="1" dirty="0">
                <a:solidFill>
                  <a:srgbClr val="FF0000"/>
                </a:solidFill>
                <a:latin typeface="Bricolage Grotesque 14pt" panose="020B0605040402000204" pitchFamily="34" charset="0"/>
                <a:ea typeface="Roboto" panose="02000000000000000000" pitchFamily="2" charset="0"/>
                <a:cs typeface="Heebo" pitchFamily="2" charset="-79"/>
              </a:rPr>
              <a:t>(NON-VEG)</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94034" y="444267"/>
            <a:ext cx="490374" cy="490374"/>
          </a:xfrm>
          <a:prstGeom prst="rect">
            <a:avLst/>
          </a:prstGeom>
        </p:spPr>
      </p:pic>
      <p:sp>
        <p:nvSpPr>
          <p:cNvPr id="7" name="Rounded Rectangle 6"/>
          <p:cNvSpPr/>
          <p:nvPr/>
        </p:nvSpPr>
        <p:spPr>
          <a:xfrm>
            <a:off x="2896956" y="1964326"/>
            <a:ext cx="1400838" cy="1375128"/>
          </a:xfrm>
          <a:prstGeom prst="roundRect">
            <a:avLst/>
          </a:prstGeom>
          <a:blipFill dpi="0" rotWithShape="1">
            <a:blip r:embed="rId3"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8" name="Rounded Rectangle 7"/>
          <p:cNvSpPr/>
          <p:nvPr/>
        </p:nvSpPr>
        <p:spPr>
          <a:xfrm>
            <a:off x="4562706" y="1964326"/>
            <a:ext cx="1400838" cy="1375128"/>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9" name="Rounded Rectangle 8"/>
          <p:cNvSpPr/>
          <p:nvPr/>
        </p:nvSpPr>
        <p:spPr>
          <a:xfrm>
            <a:off x="6228457" y="1964326"/>
            <a:ext cx="1400838" cy="1375128"/>
          </a:xfrm>
          <a:prstGeom prst="roundRect">
            <a:avLst/>
          </a:prstGeom>
          <a:blipFill dpi="0" rotWithShape="1">
            <a:blip r:embed="rId5"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0" name="Rounded Rectangle 9"/>
          <p:cNvSpPr/>
          <p:nvPr/>
        </p:nvSpPr>
        <p:spPr>
          <a:xfrm>
            <a:off x="7894207" y="1964326"/>
            <a:ext cx="1400838" cy="1375128"/>
          </a:xfrm>
          <a:prstGeom prst="roundRect">
            <a:avLst/>
          </a:prstGeom>
          <a:blipFill dpi="0" rotWithShape="1">
            <a:blip r:embed="rId6"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14" name="Rounded Rectangle 13"/>
          <p:cNvSpPr/>
          <p:nvPr/>
        </p:nvSpPr>
        <p:spPr>
          <a:xfrm>
            <a:off x="3728522" y="3629840"/>
            <a:ext cx="1400838" cy="1375128"/>
          </a:xfrm>
          <a:prstGeom prst="roundRect">
            <a:avLst/>
          </a:prstGeom>
          <a:blipFill dpi="0" rotWithShape="1">
            <a:blip r:embed="rId7" cstate="print">
              <a:extLst>
                <a:ext uri="{28A0092B-C50C-407E-A947-70E740481C1C}">
                  <a14:useLocalDpi xmlns:a14="http://schemas.microsoft.com/office/drawing/2010/main" val="0"/>
                </a:ext>
              </a:extLst>
            </a:blip>
            <a:srcRect/>
            <a:stretch>
              <a:fillRect/>
            </a:stretch>
          </a:blipFill>
          <a:ln w="19050">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5" name="Rounded Rectangle 14"/>
          <p:cNvSpPr/>
          <p:nvPr/>
        </p:nvSpPr>
        <p:spPr>
          <a:xfrm>
            <a:off x="5394927" y="3629840"/>
            <a:ext cx="1400838" cy="1375128"/>
          </a:xfrm>
          <a:prstGeom prst="roundRect">
            <a:avLst/>
          </a:prstGeom>
          <a:blipFill dpi="0" rotWithShape="1">
            <a:blip r:embed="rId8"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8" name="Rounded Rectangle 17"/>
          <p:cNvSpPr/>
          <p:nvPr/>
        </p:nvSpPr>
        <p:spPr>
          <a:xfrm>
            <a:off x="7061332" y="3629840"/>
            <a:ext cx="1400838" cy="1375128"/>
          </a:xfrm>
          <a:prstGeom prst="roundRect">
            <a:avLst/>
          </a:prstGeom>
          <a:blipFill dpi="0" rotWithShape="1">
            <a:blip r:embed="rId9" cstate="print">
              <a:extLst>
                <a:ext uri="{28A0092B-C50C-407E-A947-70E740481C1C}">
                  <a14:useLocalDpi xmlns:a14="http://schemas.microsoft.com/office/drawing/2010/main" val="0"/>
                </a:ext>
              </a:extLst>
            </a:blip>
            <a:srcRect/>
            <a:stretch>
              <a:fillRect/>
            </a:stretch>
          </a:blipFill>
          <a:ln>
            <a:solidFill>
              <a:schemeClr val="bg1"/>
            </a:solid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860014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arn(inVertical)">
                                      <p:cBhvr>
                                        <p:cTn id="20" dur="500"/>
                                        <p:tgtEl>
                                          <p:spTgt spid="8"/>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arn(inVertical)">
                                      <p:cBhvr>
                                        <p:cTn id="23" dur="500"/>
                                        <p:tgtEl>
                                          <p:spTgt spid="9"/>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inVertical)">
                                      <p:cBhvr>
                                        <p:cTn id="26" dur="500"/>
                                        <p:tgtEl>
                                          <p:spTgt spid="10"/>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barn(inVertical)">
                                      <p:cBhvr>
                                        <p:cTn id="29" dur="500"/>
                                        <p:tgtEl>
                                          <p:spTgt spid="14"/>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arn(inVertical)">
                                      <p:cBhvr>
                                        <p:cTn id="32" dur="500"/>
                                        <p:tgtEl>
                                          <p:spTgt spid="15"/>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barn(inVertical)">
                                      <p:cBhvr>
                                        <p:cTn id="35" dur="500"/>
                                        <p:tgtEl>
                                          <p:spTgt spid="18"/>
                                        </p:tgtEl>
                                      </p:cBhvr>
                                    </p:animEffect>
                                  </p:childTnLst>
                                </p:cTn>
                              </p:par>
                              <p:par>
                                <p:cTn id="36" presetID="2" presetClass="entr" presetSubtype="4" fill="hold" grpId="0" nodeType="withEffect">
                                  <p:stCondLst>
                                    <p:cond delay="0"/>
                                  </p:stCondLst>
                                  <p:childTnLst>
                                    <p:set>
                                      <p:cBhvr>
                                        <p:cTn id="37" dur="1" fill="hold">
                                          <p:stCondLst>
                                            <p:cond delay="0"/>
                                          </p:stCondLst>
                                        </p:cTn>
                                        <p:tgtEl>
                                          <p:spTgt spid="65"/>
                                        </p:tgtEl>
                                        <p:attrNameLst>
                                          <p:attrName>style.visibility</p:attrName>
                                        </p:attrNameLst>
                                      </p:cBhvr>
                                      <p:to>
                                        <p:strVal val="visible"/>
                                      </p:to>
                                    </p:set>
                                    <p:anim calcmode="lin" valueType="num">
                                      <p:cBhvr additive="base">
                                        <p:cTn id="38" dur="500" fill="hold"/>
                                        <p:tgtEl>
                                          <p:spTgt spid="65"/>
                                        </p:tgtEl>
                                        <p:attrNameLst>
                                          <p:attrName>ppt_x</p:attrName>
                                        </p:attrNameLst>
                                      </p:cBhvr>
                                      <p:tavLst>
                                        <p:tav tm="0">
                                          <p:val>
                                            <p:strVal val="#ppt_x"/>
                                          </p:val>
                                        </p:tav>
                                        <p:tav tm="100000">
                                          <p:val>
                                            <p:strVal val="#ppt_x"/>
                                          </p:val>
                                        </p:tav>
                                      </p:tavLst>
                                    </p:anim>
                                    <p:anim calcmode="lin" valueType="num">
                                      <p:cBhvr additive="base">
                                        <p:cTn id="39"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4" grpId="0"/>
      <p:bldP spid="7" grpId="0" animBg="1"/>
      <p:bldP spid="8" grpId="0" animBg="1"/>
      <p:bldP spid="9" grpId="0" animBg="1"/>
      <p:bldP spid="10" grpId="0" animBg="1"/>
      <p:bldP spid="14" grpId="0" animBg="1"/>
      <p:bldP spid="15" grpId="0" animBg="1"/>
      <p:bldP spid="18"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F199DE-2689-FA17-06E2-1876B8AC1512}"/>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A7E25057-573F-B0DC-06D6-FA1CFA363275}"/>
              </a:ext>
            </a:extLst>
          </p:cNvPr>
          <p:cNvSpPr/>
          <p:nvPr/>
        </p:nvSpPr>
        <p:spPr>
          <a:xfrm>
            <a:off x="0" y="3566985"/>
            <a:ext cx="12192000" cy="3291016"/>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sz="2000" b="1" dirty="0">
              <a:solidFill>
                <a:schemeClr val="tx1"/>
              </a:solidFill>
            </a:endParaRPr>
          </a:p>
          <a:p>
            <a:pPr algn="ctr"/>
            <a:endParaRPr lang="en-US" dirty="0"/>
          </a:p>
        </p:txBody>
      </p:sp>
      <p:sp>
        <p:nvSpPr>
          <p:cNvPr id="17" name="Rectangle 16">
            <a:extLst>
              <a:ext uri="{FF2B5EF4-FFF2-40B4-BE49-F238E27FC236}">
                <a16:creationId xmlns:a16="http://schemas.microsoft.com/office/drawing/2014/main" id="{30EFD939-4C7F-1E30-0D64-7C90E1E103C4}"/>
              </a:ext>
            </a:extLst>
          </p:cNvPr>
          <p:cNvSpPr/>
          <p:nvPr/>
        </p:nvSpPr>
        <p:spPr>
          <a:xfrm>
            <a:off x="4380437" y="4307354"/>
            <a:ext cx="3017521" cy="45719"/>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5AEF61E2-55AC-D187-5BC6-B4FDD24C1F83}"/>
              </a:ext>
            </a:extLst>
          </p:cNvPr>
          <p:cNvSpPr/>
          <p:nvPr/>
        </p:nvSpPr>
        <p:spPr>
          <a:xfrm>
            <a:off x="7341618" y="4306723"/>
            <a:ext cx="3017521" cy="45719"/>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094223" y="432486"/>
            <a:ext cx="6003567" cy="784830"/>
          </a:xfrm>
          <a:prstGeom prst="rect">
            <a:avLst/>
          </a:prstGeom>
        </p:spPr>
        <p:txBody>
          <a:bodyPr wrap="none">
            <a:spAutoFit/>
          </a:bodyPr>
          <a:lstStyle/>
          <a:p>
            <a:pPr algn="ctr"/>
            <a:r>
              <a:rPr lang="en-US" sz="4500" b="1" dirty="0">
                <a:solidFill>
                  <a:srgbClr val="16DB65"/>
                </a:solidFill>
                <a:latin typeface="Bricolage Grotesque 14pt" panose="020B0605040402000204" pitchFamily="34" charset="0"/>
                <a:ea typeface="Roboto" panose="02000000000000000000" pitchFamily="2" charset="0"/>
                <a:cs typeface="Heebo" pitchFamily="2" charset="-79"/>
              </a:rPr>
              <a:t>Influencer Franchise</a:t>
            </a:r>
          </a:p>
        </p:txBody>
      </p:sp>
      <p:sp>
        <p:nvSpPr>
          <p:cNvPr id="22" name="Rounded Rectangle 21">
            <a:extLst>
              <a:ext uri="{FF2B5EF4-FFF2-40B4-BE49-F238E27FC236}">
                <a16:creationId xmlns:a16="http://schemas.microsoft.com/office/drawing/2014/main" id="{162A33F5-4ACC-A417-FD2D-F6430E1044EC}"/>
              </a:ext>
            </a:extLst>
          </p:cNvPr>
          <p:cNvSpPr/>
          <p:nvPr/>
        </p:nvSpPr>
        <p:spPr>
          <a:xfrm>
            <a:off x="291818" y="1599260"/>
            <a:ext cx="5683770" cy="3170152"/>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38" name="Rectangle 37">
            <a:extLst>
              <a:ext uri="{FF2B5EF4-FFF2-40B4-BE49-F238E27FC236}">
                <a16:creationId xmlns:a16="http://schemas.microsoft.com/office/drawing/2014/main" id="{ED3840BA-91D7-6D80-42F4-DA4122FE3E41}"/>
              </a:ext>
            </a:extLst>
          </p:cNvPr>
          <p:cNvSpPr/>
          <p:nvPr/>
        </p:nvSpPr>
        <p:spPr>
          <a:xfrm>
            <a:off x="291818" y="2711582"/>
            <a:ext cx="2912701" cy="45719"/>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A59B42EE-34CA-4A0D-41E4-BEB8E54363A1}"/>
              </a:ext>
            </a:extLst>
          </p:cNvPr>
          <p:cNvSpPr txBox="1"/>
          <p:nvPr/>
        </p:nvSpPr>
        <p:spPr>
          <a:xfrm>
            <a:off x="623567" y="2852553"/>
            <a:ext cx="5019352" cy="1785104"/>
          </a:xfrm>
          <a:prstGeom prst="rect">
            <a:avLst/>
          </a:prstGeom>
          <a:noFill/>
        </p:spPr>
        <p:txBody>
          <a:bodyPr wrap="square" rtlCol="0">
            <a:spAutoFit/>
          </a:bodyPr>
          <a:lstStyle/>
          <a:p>
            <a:pPr marL="171450" indent="-171450" algn="just">
              <a:spcAft>
                <a:spcPts val="2000"/>
              </a:spcAft>
              <a:buFont typeface="Arial" panose="020B0604020202020204" pitchFamily="34" charset="0"/>
              <a:buChar char="•"/>
            </a:pPr>
            <a:r>
              <a:rPr lang="en-US" sz="1200" b="1" dirty="0">
                <a:solidFill>
                  <a:srgbClr val="002060"/>
                </a:solidFill>
                <a:latin typeface="Bricolage Grotesque 14pt" panose="020B0605040402000204" pitchFamily="34" charset="0"/>
              </a:rPr>
              <a:t>Fee: ₹2,000/month</a:t>
            </a:r>
          </a:p>
          <a:p>
            <a:pPr marL="171450" indent="-171450" algn="just">
              <a:spcAft>
                <a:spcPts val="2000"/>
              </a:spcAft>
              <a:buFont typeface="Arial" panose="020B0604020202020204" pitchFamily="34" charset="0"/>
              <a:buChar char="•"/>
            </a:pPr>
            <a:r>
              <a:rPr lang="en-US" sz="1200" b="1" dirty="0">
                <a:solidFill>
                  <a:srgbClr val="002060"/>
                </a:solidFill>
                <a:latin typeface="Bricolage Grotesque 14pt" panose="020B0605040402000204" pitchFamily="34" charset="0"/>
              </a:rPr>
              <a:t>Earnings: Get 5% on total billing</a:t>
            </a:r>
          </a:p>
          <a:p>
            <a:pPr marL="171450" indent="-171450" algn="just">
              <a:spcAft>
                <a:spcPts val="2000"/>
              </a:spcAft>
              <a:buFont typeface="Arial" panose="020B0604020202020204" pitchFamily="34" charset="0"/>
              <a:buChar char="•"/>
            </a:pPr>
            <a:r>
              <a:rPr lang="en-US" sz="1200" b="1" dirty="0">
                <a:solidFill>
                  <a:srgbClr val="002060"/>
                </a:solidFill>
                <a:latin typeface="Bricolage Grotesque 14pt" panose="020B0605040402000204" pitchFamily="34" charset="0"/>
              </a:rPr>
              <a:t>Bonus: Full refund of ₹2,000 once you achieve ₹20,000/month in food business</a:t>
            </a:r>
          </a:p>
          <a:p>
            <a:pPr marL="171450" indent="-171450" algn="just">
              <a:spcAft>
                <a:spcPts val="2000"/>
              </a:spcAft>
              <a:buFont typeface="Arial" panose="020B0604020202020204" pitchFamily="34" charset="0"/>
              <a:buChar char="•"/>
            </a:pPr>
            <a:r>
              <a:rPr lang="en-US" sz="1200" b="1" dirty="0">
                <a:solidFill>
                  <a:srgbClr val="002060"/>
                </a:solidFill>
                <a:latin typeface="Bricolage Grotesque 14pt" panose="020B0605040402000204" pitchFamily="34" charset="0"/>
              </a:rPr>
              <a:t>Special Offer: Enroll now for just ₹200/month (Limited Time)</a:t>
            </a:r>
          </a:p>
        </p:txBody>
      </p:sp>
      <p:sp>
        <p:nvSpPr>
          <p:cNvPr id="9" name="Rectangle 8">
            <a:extLst>
              <a:ext uri="{FF2B5EF4-FFF2-40B4-BE49-F238E27FC236}">
                <a16:creationId xmlns:a16="http://schemas.microsoft.com/office/drawing/2014/main" id="{EA85D780-262B-D901-5AE2-31F57DD116E0}"/>
              </a:ext>
            </a:extLst>
          </p:cNvPr>
          <p:cNvSpPr/>
          <p:nvPr/>
        </p:nvSpPr>
        <p:spPr>
          <a:xfrm>
            <a:off x="3048062" y="2707422"/>
            <a:ext cx="2914527" cy="47943"/>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21">
            <a:extLst>
              <a:ext uri="{FF2B5EF4-FFF2-40B4-BE49-F238E27FC236}">
                <a16:creationId xmlns:a16="http://schemas.microsoft.com/office/drawing/2014/main" id="{77F9A0E4-0F6F-BD03-5814-F5F1445FC94F}"/>
              </a:ext>
            </a:extLst>
          </p:cNvPr>
          <p:cNvSpPr/>
          <p:nvPr/>
        </p:nvSpPr>
        <p:spPr>
          <a:xfrm>
            <a:off x="6309251" y="1635508"/>
            <a:ext cx="5682221" cy="3170152"/>
          </a:xfrm>
          <a:prstGeom prst="roundRect">
            <a:avLst/>
          </a:prstGeom>
          <a:solidFill>
            <a:schemeClr val="bg1"/>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11" name="Rectangle 10">
            <a:extLst>
              <a:ext uri="{FF2B5EF4-FFF2-40B4-BE49-F238E27FC236}">
                <a16:creationId xmlns:a16="http://schemas.microsoft.com/office/drawing/2014/main" id="{E88DBF7A-4956-81F2-5D1E-B6C055E95D74}"/>
              </a:ext>
            </a:extLst>
          </p:cNvPr>
          <p:cNvSpPr/>
          <p:nvPr/>
        </p:nvSpPr>
        <p:spPr>
          <a:xfrm>
            <a:off x="6296252" y="2716677"/>
            <a:ext cx="2814955" cy="58802"/>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351B922-3020-E315-5AF1-E4AE9BA4D38D}"/>
              </a:ext>
            </a:extLst>
          </p:cNvPr>
          <p:cNvSpPr/>
          <p:nvPr/>
        </p:nvSpPr>
        <p:spPr>
          <a:xfrm>
            <a:off x="9060426" y="2716046"/>
            <a:ext cx="2931046" cy="59433"/>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3B8635D7-6E74-78A4-02E7-3D39471F5DEA}"/>
              </a:ext>
            </a:extLst>
          </p:cNvPr>
          <p:cNvSpPr txBox="1"/>
          <p:nvPr/>
        </p:nvSpPr>
        <p:spPr>
          <a:xfrm>
            <a:off x="291818" y="1766980"/>
            <a:ext cx="5682850" cy="877163"/>
          </a:xfrm>
          <a:prstGeom prst="rect">
            <a:avLst/>
          </a:prstGeom>
          <a:noFill/>
        </p:spPr>
        <p:txBody>
          <a:bodyPr wrap="square" rtlCol="0">
            <a:spAutoFit/>
          </a:bodyPr>
          <a:lstStyle/>
          <a:p>
            <a:pPr algn="ctr"/>
            <a:r>
              <a:rPr lang="en-US" sz="1600" b="1" dirty="0">
                <a:latin typeface="Bricolage Grotesque 14pt" panose="020B0605040402000204" pitchFamily="34" charset="0"/>
              </a:rPr>
              <a:t>Plan 1</a:t>
            </a:r>
          </a:p>
          <a:p>
            <a:pPr algn="ctr"/>
            <a:r>
              <a:rPr lang="en-US" sz="3500" b="1" dirty="0">
                <a:solidFill>
                  <a:srgbClr val="F95050"/>
                </a:solidFill>
                <a:latin typeface="Bricolage Grotesque 14pt" panose="020B0605040402000204" pitchFamily="34" charset="0"/>
              </a:rPr>
              <a:t>Starter Influencer</a:t>
            </a:r>
          </a:p>
        </p:txBody>
      </p:sp>
      <p:sp>
        <p:nvSpPr>
          <p:cNvPr id="34" name="TextBox 33">
            <a:extLst>
              <a:ext uri="{FF2B5EF4-FFF2-40B4-BE49-F238E27FC236}">
                <a16:creationId xmlns:a16="http://schemas.microsoft.com/office/drawing/2014/main" id="{3B8635D7-6E74-78A4-02E7-3D39471F5DEA}"/>
              </a:ext>
            </a:extLst>
          </p:cNvPr>
          <p:cNvSpPr txBox="1"/>
          <p:nvPr/>
        </p:nvSpPr>
        <p:spPr>
          <a:xfrm>
            <a:off x="6308621" y="1763745"/>
            <a:ext cx="5682850" cy="877163"/>
          </a:xfrm>
          <a:prstGeom prst="rect">
            <a:avLst/>
          </a:prstGeom>
          <a:noFill/>
        </p:spPr>
        <p:txBody>
          <a:bodyPr wrap="square" rtlCol="0">
            <a:spAutoFit/>
          </a:bodyPr>
          <a:lstStyle/>
          <a:p>
            <a:pPr algn="ctr"/>
            <a:r>
              <a:rPr lang="en-US" sz="1600" b="1" dirty="0">
                <a:latin typeface="Bricolage Grotesque 14pt" panose="020B0605040402000204" pitchFamily="34" charset="0"/>
              </a:rPr>
              <a:t>Plan 2</a:t>
            </a:r>
          </a:p>
          <a:p>
            <a:pPr algn="ctr"/>
            <a:r>
              <a:rPr lang="en-US" sz="3500" b="1" dirty="0">
                <a:solidFill>
                  <a:srgbClr val="F95050"/>
                </a:solidFill>
                <a:latin typeface="Bricolage Grotesque 14pt" panose="020B0605040402000204" pitchFamily="34" charset="0"/>
              </a:rPr>
              <a:t>Pro Influencer</a:t>
            </a:r>
          </a:p>
        </p:txBody>
      </p:sp>
      <p:sp>
        <p:nvSpPr>
          <p:cNvPr id="36" name="TextBox 35">
            <a:extLst>
              <a:ext uri="{FF2B5EF4-FFF2-40B4-BE49-F238E27FC236}">
                <a16:creationId xmlns:a16="http://schemas.microsoft.com/office/drawing/2014/main" id="{A59B42EE-34CA-4A0D-41E4-BEB8E54363A1}"/>
              </a:ext>
            </a:extLst>
          </p:cNvPr>
          <p:cNvSpPr txBox="1"/>
          <p:nvPr/>
        </p:nvSpPr>
        <p:spPr>
          <a:xfrm>
            <a:off x="6640370" y="2850617"/>
            <a:ext cx="5019352" cy="1343958"/>
          </a:xfrm>
          <a:prstGeom prst="rect">
            <a:avLst/>
          </a:prstGeom>
          <a:noFill/>
        </p:spPr>
        <p:txBody>
          <a:bodyPr wrap="square" rtlCol="0">
            <a:spAutoFit/>
          </a:bodyPr>
          <a:lstStyle/>
          <a:p>
            <a:pPr marL="171450" indent="-171450" algn="just">
              <a:spcAft>
                <a:spcPts val="2000"/>
              </a:spcAft>
              <a:buFont typeface="Arial" panose="020B0604020202020204" pitchFamily="34" charset="0"/>
              <a:buChar char="•"/>
            </a:pPr>
            <a:r>
              <a:rPr lang="en-US" sz="1200" b="1" dirty="0">
                <a:solidFill>
                  <a:srgbClr val="002060"/>
                </a:solidFill>
                <a:latin typeface="Bricolage Grotesque 14pt" panose="020B0605040402000204" pitchFamily="34" charset="0"/>
              </a:rPr>
              <a:t>Fee: ₹5,000/month</a:t>
            </a:r>
          </a:p>
          <a:p>
            <a:pPr marL="171450" indent="-171450" algn="just">
              <a:spcAft>
                <a:spcPts val="2000"/>
              </a:spcAft>
              <a:buFont typeface="Arial" panose="020B0604020202020204" pitchFamily="34" charset="0"/>
              <a:buChar char="•"/>
            </a:pPr>
            <a:r>
              <a:rPr lang="en-US" sz="1200" b="1" dirty="0">
                <a:solidFill>
                  <a:srgbClr val="002060"/>
                </a:solidFill>
                <a:latin typeface="Bricolage Grotesque 14pt" panose="020B0605040402000204" pitchFamily="34" charset="0"/>
              </a:rPr>
              <a:t>Earnings: Get 10% on total billing</a:t>
            </a:r>
          </a:p>
          <a:p>
            <a:pPr marL="171450" indent="-171450" algn="just">
              <a:spcAft>
                <a:spcPts val="2000"/>
              </a:spcAft>
              <a:buFont typeface="Arial" panose="020B0604020202020204" pitchFamily="34" charset="0"/>
              <a:buChar char="•"/>
            </a:pPr>
            <a:r>
              <a:rPr lang="en-US" sz="1200" b="1" dirty="0">
                <a:solidFill>
                  <a:srgbClr val="002060"/>
                </a:solidFill>
                <a:latin typeface="Bricolage Grotesque 14pt" panose="020B0605040402000204" pitchFamily="34" charset="0"/>
              </a:rPr>
              <a:t>Bonus: Full refund of ₹5,000 once you achieve ₹50,000/month in food business</a:t>
            </a:r>
          </a:p>
        </p:txBody>
      </p:sp>
      <p:grpSp>
        <p:nvGrpSpPr>
          <p:cNvPr id="30" name="Group 29"/>
          <p:cNvGrpSpPr/>
          <p:nvPr/>
        </p:nvGrpSpPr>
        <p:grpSpPr>
          <a:xfrm>
            <a:off x="291818" y="5448230"/>
            <a:ext cx="11699652" cy="967252"/>
            <a:chOff x="291818" y="4669402"/>
            <a:chExt cx="11699652" cy="967252"/>
          </a:xfrm>
        </p:grpSpPr>
        <p:sp>
          <p:nvSpPr>
            <p:cNvPr id="8" name="Rectangle: Rounded Corners 7">
              <a:extLst>
                <a:ext uri="{FF2B5EF4-FFF2-40B4-BE49-F238E27FC236}">
                  <a16:creationId xmlns:a16="http://schemas.microsoft.com/office/drawing/2014/main" id="{00CFAC7B-8755-0B2A-2FB3-88EAAAC356ED}"/>
                </a:ext>
              </a:extLst>
            </p:cNvPr>
            <p:cNvSpPr/>
            <p:nvPr/>
          </p:nvSpPr>
          <p:spPr>
            <a:xfrm>
              <a:off x="291818" y="4669402"/>
              <a:ext cx="1726404" cy="96102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schemeClr val="tx1"/>
                  </a:solidFill>
                  <a:latin typeface="Bricolage Grotesque 14pt" panose="020B0605040402000204"/>
                </a:rPr>
                <a:t>Zero Risk</a:t>
              </a:r>
            </a:p>
          </p:txBody>
        </p:sp>
        <p:sp>
          <p:nvSpPr>
            <p:cNvPr id="39" name="Rectangle: Rounded Corners 7">
              <a:extLst>
                <a:ext uri="{FF2B5EF4-FFF2-40B4-BE49-F238E27FC236}">
                  <a16:creationId xmlns:a16="http://schemas.microsoft.com/office/drawing/2014/main" id="{00CFAC7B-8755-0B2A-2FB3-88EAAAC356ED}"/>
                </a:ext>
              </a:extLst>
            </p:cNvPr>
            <p:cNvSpPr/>
            <p:nvPr/>
          </p:nvSpPr>
          <p:spPr>
            <a:xfrm>
              <a:off x="2184860" y="4675630"/>
              <a:ext cx="1726404" cy="96102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schemeClr val="tx1"/>
                  </a:solidFill>
                  <a:latin typeface="Bricolage Grotesque 14pt" panose="020B0605040402000204"/>
                </a:rPr>
                <a:t>Earn from Day One</a:t>
              </a:r>
            </a:p>
          </p:txBody>
        </p:sp>
        <p:sp>
          <p:nvSpPr>
            <p:cNvPr id="40" name="Rectangle: Rounded Corners 7">
              <a:extLst>
                <a:ext uri="{FF2B5EF4-FFF2-40B4-BE49-F238E27FC236}">
                  <a16:creationId xmlns:a16="http://schemas.microsoft.com/office/drawing/2014/main" id="{00CFAC7B-8755-0B2A-2FB3-88EAAAC356ED}"/>
                </a:ext>
              </a:extLst>
            </p:cNvPr>
            <p:cNvSpPr/>
            <p:nvPr/>
          </p:nvSpPr>
          <p:spPr>
            <a:xfrm>
              <a:off x="4077901" y="4669402"/>
              <a:ext cx="7913569" cy="96102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schemeClr val="tx1"/>
                  </a:solidFill>
                  <a:latin typeface="Bricolage Grotesque 14pt" panose="020B0605040402000204"/>
                </a:rPr>
                <a:t>Promote JF’s All Foods Brands along with 20Crore Product and Services, Cashback &amp; More</a:t>
              </a:r>
            </a:p>
          </p:txBody>
        </p:sp>
      </p:grpSp>
    </p:spTree>
    <p:extLst>
      <p:ext uri="{BB962C8B-B14F-4D97-AF65-F5344CB8AC3E}">
        <p14:creationId xmlns:p14="http://schemas.microsoft.com/office/powerpoint/2010/main" val="1342937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41DFED5-E510-8C14-BC3C-141DCF9E0270}"/>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F75F8DF8-1D12-D582-8F9E-7599A7889776}"/>
              </a:ext>
            </a:extLst>
          </p:cNvPr>
          <p:cNvSpPr/>
          <p:nvPr/>
        </p:nvSpPr>
        <p:spPr>
          <a:xfrm>
            <a:off x="3441290" y="3108614"/>
            <a:ext cx="5447071" cy="6284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22">
            <a:extLst>
              <a:ext uri="{FF2B5EF4-FFF2-40B4-BE49-F238E27FC236}">
                <a16:creationId xmlns:a16="http://schemas.microsoft.com/office/drawing/2014/main" id="{B94A0504-24FD-946A-75B5-C448D8E5922D}"/>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Effect>
                      <a14:brightnessContrast bright="-20000"/>
                    </a14:imgEffect>
                  </a14:imgLayer>
                </a14:imgProps>
              </a:ext>
              <a:ext uri="{28A0092B-C50C-407E-A947-70E740481C1C}">
                <a14:useLocalDpi xmlns:a14="http://schemas.microsoft.com/office/drawing/2010/main" val="0"/>
              </a:ext>
            </a:extLst>
          </a:blip>
          <a:srcRect t="16416"/>
          <a:stretch/>
        </p:blipFill>
        <p:spPr>
          <a:xfrm>
            <a:off x="0" y="81652"/>
            <a:ext cx="12192000" cy="5441718"/>
          </a:xfrm>
          <a:prstGeom prst="rect">
            <a:avLst/>
          </a:prstGeom>
          <a:blipFill>
            <a:blip r:embed="rId4"/>
            <a:stretch>
              <a:fillRect/>
            </a:stretch>
          </a:blipFill>
        </p:spPr>
      </p:pic>
      <p:sp>
        <p:nvSpPr>
          <p:cNvPr id="4" name="Rectangle 3">
            <a:extLst>
              <a:ext uri="{FF2B5EF4-FFF2-40B4-BE49-F238E27FC236}">
                <a16:creationId xmlns:a16="http://schemas.microsoft.com/office/drawing/2014/main" id="{A0D60941-2B3D-A63A-CD27-8D0E9D4520FF}"/>
              </a:ext>
            </a:extLst>
          </p:cNvPr>
          <p:cNvSpPr/>
          <p:nvPr/>
        </p:nvSpPr>
        <p:spPr>
          <a:xfrm>
            <a:off x="0" y="2164216"/>
            <a:ext cx="12192000" cy="4566785"/>
          </a:xfrm>
          <a:prstGeom prst="rect">
            <a:avLst/>
          </a:prstGeom>
          <a:solidFill>
            <a:srgbClr val="16DB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59BB3A2-6AC4-08B1-84E9-CCE94880D6F9}"/>
              </a:ext>
            </a:extLst>
          </p:cNvPr>
          <p:cNvSpPr txBox="1"/>
          <p:nvPr/>
        </p:nvSpPr>
        <p:spPr>
          <a:xfrm>
            <a:off x="3218934" y="207521"/>
            <a:ext cx="5889522" cy="830997"/>
          </a:xfrm>
          <a:prstGeom prst="rect">
            <a:avLst/>
          </a:prstGeom>
          <a:noFill/>
        </p:spPr>
        <p:txBody>
          <a:bodyPr wrap="square" rtlCol="0">
            <a:spAutoFit/>
          </a:bodyPr>
          <a:lstStyle/>
          <a:p>
            <a:pPr lvl="0" algn="ctr">
              <a:defRPr/>
            </a:pPr>
            <a:r>
              <a:rPr lang="en-US" sz="4800" b="1" dirty="0">
                <a:solidFill>
                  <a:srgbClr val="16DB65"/>
                </a:solidFill>
                <a:latin typeface="Bricolage Grotesque 14pt" panose="020B0605040402000204" pitchFamily="34" charset="0"/>
                <a:ea typeface="Roboto" panose="02000000000000000000" pitchFamily="2" charset="0"/>
                <a:cs typeface="Heebo" pitchFamily="2" charset="-79"/>
              </a:rPr>
              <a:t>Master Franchise</a:t>
            </a:r>
            <a:endParaRPr lang="en-US" sz="4800" dirty="0"/>
          </a:p>
        </p:txBody>
      </p:sp>
      <p:sp>
        <p:nvSpPr>
          <p:cNvPr id="31" name="TextBox 30">
            <a:extLst>
              <a:ext uri="{FF2B5EF4-FFF2-40B4-BE49-F238E27FC236}">
                <a16:creationId xmlns:a16="http://schemas.microsoft.com/office/drawing/2014/main" id="{6A3FEB9C-9A2C-7A29-0B88-D204BDFF5CB2}"/>
              </a:ext>
            </a:extLst>
          </p:cNvPr>
          <p:cNvSpPr txBox="1"/>
          <p:nvPr/>
        </p:nvSpPr>
        <p:spPr>
          <a:xfrm rot="16200000">
            <a:off x="11157922" y="2771765"/>
            <a:ext cx="1643192" cy="200055"/>
          </a:xfrm>
          <a:prstGeom prst="rect">
            <a:avLst/>
          </a:prstGeom>
          <a:noFill/>
        </p:spPr>
        <p:txBody>
          <a:bodyPr wrap="square" rtlCol="0">
            <a:spAutoFit/>
          </a:bodyPr>
          <a:lstStyle/>
          <a:p>
            <a:pPr algn="ctr"/>
            <a:r>
              <a:rPr lang="en-US" sz="700" dirty="0">
                <a:solidFill>
                  <a:schemeClr val="bg1"/>
                </a:solidFill>
                <a:latin typeface="Bricolage Grotesque 14pt" panose="020B0605040402000204" pitchFamily="34" charset="0"/>
                <a:ea typeface="Roboto" panose="02000000000000000000" pitchFamily="2" charset="0"/>
                <a:cs typeface="Heebo" pitchFamily="2" charset="-79"/>
              </a:rPr>
              <a:t>*T&amp;C Applied, Actuals may vary</a:t>
            </a:r>
          </a:p>
        </p:txBody>
      </p:sp>
      <p:sp>
        <p:nvSpPr>
          <p:cNvPr id="33" name="Rounded Rectangle 32">
            <a:extLst>
              <a:ext uri="{FF2B5EF4-FFF2-40B4-BE49-F238E27FC236}">
                <a16:creationId xmlns:a16="http://schemas.microsoft.com/office/drawing/2014/main" id="{93FCE2C1-0D90-C2A4-8CC2-13B3DFB259A3}"/>
              </a:ext>
            </a:extLst>
          </p:cNvPr>
          <p:cNvSpPr/>
          <p:nvPr/>
        </p:nvSpPr>
        <p:spPr>
          <a:xfrm>
            <a:off x="380206" y="3845584"/>
            <a:ext cx="11431588" cy="68969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29" name="TextBox 28">
            <a:extLst>
              <a:ext uri="{FF2B5EF4-FFF2-40B4-BE49-F238E27FC236}">
                <a16:creationId xmlns:a16="http://schemas.microsoft.com/office/drawing/2014/main" id="{B2A228FB-4AE2-E7C9-838A-7B7C8CF87786}"/>
              </a:ext>
            </a:extLst>
          </p:cNvPr>
          <p:cNvSpPr txBox="1"/>
          <p:nvPr/>
        </p:nvSpPr>
        <p:spPr>
          <a:xfrm>
            <a:off x="2633462" y="3953277"/>
            <a:ext cx="7562590" cy="523220"/>
          </a:xfrm>
          <a:prstGeom prst="rect">
            <a:avLst/>
          </a:prstGeom>
          <a:noFill/>
        </p:spPr>
        <p:txBody>
          <a:bodyPr wrap="square" rtlCol="0">
            <a:spAutoFit/>
          </a:bodyPr>
          <a:lstStyle/>
          <a:p>
            <a:pPr algn="ctr"/>
            <a:r>
              <a:rPr lang="en-US" sz="2800" b="1" dirty="0">
                <a:solidFill>
                  <a:srgbClr val="F95050"/>
                </a:solidFill>
                <a:latin typeface="Bricolage Grotesque 14pt" panose="020B0605040402000204" pitchFamily="34" charset="0"/>
                <a:ea typeface="Roboto" panose="02000000000000000000" pitchFamily="2" charset="0"/>
                <a:cs typeface="Heebo" pitchFamily="2" charset="-79"/>
              </a:rPr>
              <a:t>70% of Franchise Fee if sold by Master Franchise</a:t>
            </a:r>
          </a:p>
        </p:txBody>
      </p:sp>
      <p:grpSp>
        <p:nvGrpSpPr>
          <p:cNvPr id="38" name="Group 37">
            <a:extLst>
              <a:ext uri="{FF2B5EF4-FFF2-40B4-BE49-F238E27FC236}">
                <a16:creationId xmlns:a16="http://schemas.microsoft.com/office/drawing/2014/main" id="{1B0F4228-718E-8D13-4481-E01F589934A7}"/>
              </a:ext>
            </a:extLst>
          </p:cNvPr>
          <p:cNvGrpSpPr/>
          <p:nvPr/>
        </p:nvGrpSpPr>
        <p:grpSpPr>
          <a:xfrm>
            <a:off x="3298143" y="1367033"/>
            <a:ext cx="6204856" cy="1412785"/>
            <a:chOff x="6239671" y="3215363"/>
            <a:chExt cx="2896937" cy="1847103"/>
          </a:xfrm>
        </p:grpSpPr>
        <p:sp>
          <p:nvSpPr>
            <p:cNvPr id="39" name="Rounded Rectangle 13">
              <a:extLst>
                <a:ext uri="{FF2B5EF4-FFF2-40B4-BE49-F238E27FC236}">
                  <a16:creationId xmlns:a16="http://schemas.microsoft.com/office/drawing/2014/main" id="{8B755A50-1D11-AC1C-7CEA-6A9F460D427E}"/>
                </a:ext>
              </a:extLst>
            </p:cNvPr>
            <p:cNvSpPr/>
            <p:nvPr/>
          </p:nvSpPr>
          <p:spPr>
            <a:xfrm>
              <a:off x="6239671" y="3215363"/>
              <a:ext cx="2641392" cy="1847103"/>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p:txBody>
        </p:sp>
        <p:sp>
          <p:nvSpPr>
            <p:cNvPr id="43" name="TextBox 42">
              <a:extLst>
                <a:ext uri="{FF2B5EF4-FFF2-40B4-BE49-F238E27FC236}">
                  <a16:creationId xmlns:a16="http://schemas.microsoft.com/office/drawing/2014/main" id="{D82C4F9F-77F4-E1ED-348C-180871D4FD82}"/>
                </a:ext>
              </a:extLst>
            </p:cNvPr>
            <p:cNvSpPr txBox="1"/>
            <p:nvPr/>
          </p:nvSpPr>
          <p:spPr>
            <a:xfrm>
              <a:off x="7217700" y="3714461"/>
              <a:ext cx="1918908" cy="764546"/>
            </a:xfrm>
            <a:prstGeom prst="rect">
              <a:avLst/>
            </a:prstGeom>
            <a:noFill/>
          </p:spPr>
          <p:txBody>
            <a:bodyPr wrap="square" rtlCol="0">
              <a:spAutoFit/>
            </a:bodyPr>
            <a:lstStyle/>
            <a:p>
              <a:pPr algn="ctr"/>
              <a:r>
                <a:rPr lang="en-US" sz="3200" b="1" dirty="0">
                  <a:latin typeface="Bricolage Grotesque 14pt" panose="020B0605040402000204" pitchFamily="34" charset="0"/>
                </a:rPr>
                <a:t>1 Cr</a:t>
              </a:r>
            </a:p>
          </p:txBody>
        </p:sp>
      </p:grpSp>
      <p:sp>
        <p:nvSpPr>
          <p:cNvPr id="2" name="TextBox 1">
            <a:extLst>
              <a:ext uri="{FF2B5EF4-FFF2-40B4-BE49-F238E27FC236}">
                <a16:creationId xmlns:a16="http://schemas.microsoft.com/office/drawing/2014/main" id="{5B580AD9-3D57-CDDA-8004-3FF6F0ACB2D7}"/>
              </a:ext>
            </a:extLst>
          </p:cNvPr>
          <p:cNvSpPr txBox="1"/>
          <p:nvPr/>
        </p:nvSpPr>
        <p:spPr>
          <a:xfrm>
            <a:off x="3432859" y="1757808"/>
            <a:ext cx="3320119" cy="584775"/>
          </a:xfrm>
          <a:prstGeom prst="rect">
            <a:avLst/>
          </a:prstGeom>
          <a:noFill/>
        </p:spPr>
        <p:txBody>
          <a:bodyPr wrap="square" rtlCol="0">
            <a:spAutoFit/>
          </a:bodyPr>
          <a:lstStyle/>
          <a:p>
            <a:pPr algn="ctr"/>
            <a:r>
              <a:rPr lang="en-US" sz="3200" b="1" dirty="0">
                <a:solidFill>
                  <a:srgbClr val="FF0000"/>
                </a:solidFill>
                <a:latin typeface="Bricolage Grotesque 14pt" panose="020B0605040402000204" pitchFamily="34" charset="0"/>
              </a:rPr>
              <a:t>Franchise Fee :-</a:t>
            </a:r>
          </a:p>
        </p:txBody>
      </p:sp>
      <p:sp>
        <p:nvSpPr>
          <p:cNvPr id="6" name="Rounded Rectangle 32">
            <a:extLst>
              <a:ext uri="{FF2B5EF4-FFF2-40B4-BE49-F238E27FC236}">
                <a16:creationId xmlns:a16="http://schemas.microsoft.com/office/drawing/2014/main" id="{536BEBF3-95C3-11CE-4D8F-0746F9B14B3B}"/>
              </a:ext>
            </a:extLst>
          </p:cNvPr>
          <p:cNvSpPr/>
          <p:nvPr/>
        </p:nvSpPr>
        <p:spPr>
          <a:xfrm>
            <a:off x="380206" y="4739963"/>
            <a:ext cx="11431588" cy="68969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7" name="Rounded Rectangle 32">
            <a:extLst>
              <a:ext uri="{FF2B5EF4-FFF2-40B4-BE49-F238E27FC236}">
                <a16:creationId xmlns:a16="http://schemas.microsoft.com/office/drawing/2014/main" id="{20787432-7D81-633F-9FF3-0B6251A4C3F1}"/>
              </a:ext>
            </a:extLst>
          </p:cNvPr>
          <p:cNvSpPr/>
          <p:nvPr/>
        </p:nvSpPr>
        <p:spPr>
          <a:xfrm>
            <a:off x="380206" y="5604106"/>
            <a:ext cx="11431588" cy="689694"/>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9" name="TextBox 8">
            <a:extLst>
              <a:ext uri="{FF2B5EF4-FFF2-40B4-BE49-F238E27FC236}">
                <a16:creationId xmlns:a16="http://schemas.microsoft.com/office/drawing/2014/main" id="{85F9E49A-CFED-3F87-905C-19D3C8157B07}"/>
              </a:ext>
            </a:extLst>
          </p:cNvPr>
          <p:cNvSpPr txBox="1"/>
          <p:nvPr/>
        </p:nvSpPr>
        <p:spPr>
          <a:xfrm>
            <a:off x="2925801" y="4820832"/>
            <a:ext cx="6776009" cy="523220"/>
          </a:xfrm>
          <a:prstGeom prst="rect">
            <a:avLst/>
          </a:prstGeom>
          <a:noFill/>
        </p:spPr>
        <p:txBody>
          <a:bodyPr wrap="square" rtlCol="0">
            <a:spAutoFit/>
          </a:bodyPr>
          <a:lstStyle/>
          <a:p>
            <a:pPr algn="ctr"/>
            <a:r>
              <a:rPr lang="en-US" sz="2800" b="1" dirty="0">
                <a:solidFill>
                  <a:srgbClr val="F95050"/>
                </a:solidFill>
                <a:latin typeface="Bricolage Grotesque 14pt" panose="020B0605040402000204" pitchFamily="34" charset="0"/>
                <a:ea typeface="Roboto" panose="02000000000000000000" pitchFamily="2" charset="0"/>
                <a:cs typeface="Heebo" pitchFamily="2" charset="-79"/>
              </a:rPr>
              <a:t>30% of Franchise Fee if sold by </a:t>
            </a:r>
            <a:r>
              <a:rPr lang="en-US" sz="2800" b="1" dirty="0" err="1">
                <a:solidFill>
                  <a:srgbClr val="F95050"/>
                </a:solidFill>
                <a:latin typeface="Bricolage Grotesque 14pt" panose="020B0605040402000204" pitchFamily="34" charset="0"/>
                <a:ea typeface="Roboto" panose="02000000000000000000" pitchFamily="2" charset="0"/>
                <a:cs typeface="Heebo" pitchFamily="2" charset="-79"/>
              </a:rPr>
              <a:t>Jagdai</a:t>
            </a:r>
            <a:r>
              <a:rPr lang="en-US" sz="2800" b="1" dirty="0">
                <a:solidFill>
                  <a:srgbClr val="F95050"/>
                </a:solidFill>
                <a:latin typeface="Bricolage Grotesque 14pt" panose="020B0605040402000204" pitchFamily="34" charset="0"/>
                <a:ea typeface="Roboto" panose="02000000000000000000" pitchFamily="2" charset="0"/>
                <a:cs typeface="Heebo" pitchFamily="2" charset="-79"/>
              </a:rPr>
              <a:t> Foods</a:t>
            </a:r>
          </a:p>
        </p:txBody>
      </p:sp>
      <p:sp>
        <p:nvSpPr>
          <p:cNvPr id="10" name="TextBox 9">
            <a:extLst>
              <a:ext uri="{FF2B5EF4-FFF2-40B4-BE49-F238E27FC236}">
                <a16:creationId xmlns:a16="http://schemas.microsoft.com/office/drawing/2014/main" id="{341CCE55-345E-7DED-0FBD-876FF09A5B23}"/>
              </a:ext>
            </a:extLst>
          </p:cNvPr>
          <p:cNvSpPr txBox="1"/>
          <p:nvPr/>
        </p:nvSpPr>
        <p:spPr>
          <a:xfrm>
            <a:off x="2382400" y="5680195"/>
            <a:ext cx="7562590" cy="523220"/>
          </a:xfrm>
          <a:prstGeom prst="rect">
            <a:avLst/>
          </a:prstGeom>
          <a:noFill/>
        </p:spPr>
        <p:txBody>
          <a:bodyPr wrap="square" rtlCol="0">
            <a:spAutoFit/>
          </a:bodyPr>
          <a:lstStyle/>
          <a:p>
            <a:pPr algn="ctr"/>
            <a:r>
              <a:rPr lang="en-US" sz="2800" b="1" dirty="0">
                <a:solidFill>
                  <a:srgbClr val="F95050"/>
                </a:solidFill>
                <a:latin typeface="Bricolage Grotesque 14pt" panose="020B0605040402000204" pitchFamily="34" charset="0"/>
                <a:ea typeface="Roboto" panose="02000000000000000000" pitchFamily="2" charset="0"/>
                <a:cs typeface="Heebo" pitchFamily="2" charset="-79"/>
              </a:rPr>
              <a:t>7% of Billing</a:t>
            </a:r>
          </a:p>
        </p:txBody>
      </p:sp>
      <p:sp>
        <p:nvSpPr>
          <p:cNvPr id="11" name="TextBox 10">
            <a:extLst>
              <a:ext uri="{FF2B5EF4-FFF2-40B4-BE49-F238E27FC236}">
                <a16:creationId xmlns:a16="http://schemas.microsoft.com/office/drawing/2014/main" id="{05FFA10B-C745-B106-7B7B-A2BF9CB79CA8}"/>
              </a:ext>
            </a:extLst>
          </p:cNvPr>
          <p:cNvSpPr txBox="1"/>
          <p:nvPr/>
        </p:nvSpPr>
        <p:spPr>
          <a:xfrm>
            <a:off x="1555346" y="6377864"/>
            <a:ext cx="9516920" cy="461665"/>
          </a:xfrm>
          <a:prstGeom prst="rect">
            <a:avLst/>
          </a:prstGeom>
          <a:noFill/>
        </p:spPr>
        <p:txBody>
          <a:bodyPr wrap="square" rtlCol="0">
            <a:spAutoFit/>
          </a:bodyPr>
          <a:lstStyle/>
          <a:p>
            <a:pPr algn="ctr"/>
            <a:r>
              <a:rPr lang="en-US" sz="2400" b="1" dirty="0">
                <a:latin typeface="Bricolage Grotesque 14pt" panose="020B0605040402000204" pitchFamily="34" charset="0"/>
                <a:ea typeface="Roboto" panose="02000000000000000000" pitchFamily="2" charset="0"/>
                <a:cs typeface="Heebo" pitchFamily="2" charset="-79"/>
              </a:rPr>
              <a:t>For more detailed calculation please refer :- </a:t>
            </a:r>
            <a:r>
              <a:rPr lang="en-US" sz="2400" b="1" dirty="0">
                <a:latin typeface="Bricolage Grotesque 14pt" panose="020B0605040402000204" pitchFamily="34" charset="0"/>
                <a:ea typeface="Roboto" panose="02000000000000000000" pitchFamily="2" charset="0"/>
                <a:cs typeface="Heebo" pitchFamily="2" charset="-79"/>
                <a:hlinkClick r:id="rId5">
                  <a:extLst>
                    <a:ext uri="{A12FA001-AC4F-418D-AE19-62706E023703}">
                      <ahyp:hlinkClr xmlns:ahyp="http://schemas.microsoft.com/office/drawing/2018/hyperlinkcolor" val="tx"/>
                    </a:ext>
                  </a:extLst>
                </a:hlinkClick>
              </a:rPr>
              <a:t>Calculator</a:t>
            </a:r>
            <a:endParaRPr lang="en-US" sz="2400" b="1" dirty="0">
              <a:latin typeface="Bricolage Grotesque 14pt" panose="020B0605040402000204" pitchFamily="34" charset="0"/>
              <a:ea typeface="Roboto" panose="02000000000000000000" pitchFamily="2" charset="0"/>
              <a:cs typeface="Heebo" pitchFamily="2" charset="-79"/>
            </a:endParaRPr>
          </a:p>
        </p:txBody>
      </p:sp>
      <p:sp>
        <p:nvSpPr>
          <p:cNvPr id="12" name="TextBox 11">
            <a:extLst>
              <a:ext uri="{FF2B5EF4-FFF2-40B4-BE49-F238E27FC236}">
                <a16:creationId xmlns:a16="http://schemas.microsoft.com/office/drawing/2014/main" id="{6C939408-3711-DCA7-9940-A725D497FE20}"/>
              </a:ext>
            </a:extLst>
          </p:cNvPr>
          <p:cNvSpPr txBox="1"/>
          <p:nvPr/>
        </p:nvSpPr>
        <p:spPr>
          <a:xfrm>
            <a:off x="3103134" y="3029590"/>
            <a:ext cx="6031450" cy="584775"/>
          </a:xfrm>
          <a:prstGeom prst="rect">
            <a:avLst/>
          </a:prstGeom>
          <a:noFill/>
          <a:ln>
            <a:solidFill>
              <a:schemeClr val="tx1"/>
            </a:solidFill>
          </a:ln>
        </p:spPr>
        <p:txBody>
          <a:bodyPr wrap="square" rtlCol="0">
            <a:spAutoFit/>
          </a:bodyPr>
          <a:lstStyle/>
          <a:p>
            <a:pPr algn="ctr"/>
            <a:r>
              <a:rPr lang="en-US" sz="3200" b="1" dirty="0">
                <a:latin typeface="Bricolage Grotesque 14pt" panose="020B0605040402000204" pitchFamily="34" charset="0"/>
              </a:rPr>
              <a:t>Earning from Master Franchise</a:t>
            </a:r>
          </a:p>
        </p:txBody>
      </p:sp>
    </p:spTree>
    <p:extLst>
      <p:ext uri="{BB962C8B-B14F-4D97-AF65-F5344CB8AC3E}">
        <p14:creationId xmlns:p14="http://schemas.microsoft.com/office/powerpoint/2010/main" val="42531215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
                                        </p:tgtEl>
                                        <p:attrNameLst>
                                          <p:attrName>style.visibility</p:attrName>
                                        </p:attrNameLst>
                                      </p:cBhvr>
                                      <p:to>
                                        <p:strVal val="visible"/>
                                      </p:to>
                                    </p:set>
                                    <p:anim calcmode="lin" valueType="num">
                                      <p:cBhvr additive="base">
                                        <p:cTn id="13" dur="500" fill="hold"/>
                                        <p:tgtEl>
                                          <p:spTgt spid="38"/>
                                        </p:tgtEl>
                                        <p:attrNameLst>
                                          <p:attrName>ppt_x</p:attrName>
                                        </p:attrNameLst>
                                      </p:cBhvr>
                                      <p:tavLst>
                                        <p:tav tm="0">
                                          <p:val>
                                            <p:strVal val="#ppt_x"/>
                                          </p:val>
                                        </p:tav>
                                        <p:tav tm="100000">
                                          <p:val>
                                            <p:strVal val="#ppt_x"/>
                                          </p:val>
                                        </p:tav>
                                      </p:tavLst>
                                    </p:anim>
                                    <p:anim calcmode="lin" valueType="num">
                                      <p:cBhvr additive="base">
                                        <p:cTn id="14" dur="500" fill="hold"/>
                                        <p:tgtEl>
                                          <p:spTgt spid="38"/>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 calcmode="lin" valueType="num">
                                      <p:cBhvr additive="base">
                                        <p:cTn id="1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anim calcmode="lin" valueType="num">
                                      <p:cBhvr additive="base">
                                        <p:cTn id="29" dur="500" fill="hold"/>
                                        <p:tgtEl>
                                          <p:spTgt spid="33"/>
                                        </p:tgtEl>
                                        <p:attrNameLst>
                                          <p:attrName>ppt_x</p:attrName>
                                        </p:attrNameLst>
                                      </p:cBhvr>
                                      <p:tavLst>
                                        <p:tav tm="0">
                                          <p:val>
                                            <p:strVal val="#ppt_x"/>
                                          </p:val>
                                        </p:tav>
                                        <p:tav tm="100000">
                                          <p:val>
                                            <p:strVal val="#ppt_x"/>
                                          </p:val>
                                        </p:tav>
                                      </p:tavLst>
                                    </p:anim>
                                    <p:anim calcmode="lin" valueType="num">
                                      <p:cBhvr additive="base">
                                        <p:cTn id="30" dur="500" fill="hold"/>
                                        <p:tgtEl>
                                          <p:spTgt spid="3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500" fill="hold"/>
                                        <p:tgtEl>
                                          <p:spTgt spid="29"/>
                                        </p:tgtEl>
                                        <p:attrNameLst>
                                          <p:attrName>ppt_x</p:attrName>
                                        </p:attrNameLst>
                                      </p:cBhvr>
                                      <p:tavLst>
                                        <p:tav tm="0">
                                          <p:val>
                                            <p:strVal val="#ppt_x"/>
                                          </p:val>
                                        </p:tav>
                                        <p:tav tm="100000">
                                          <p:val>
                                            <p:strVal val="#ppt_x"/>
                                          </p:val>
                                        </p:tav>
                                      </p:tavLst>
                                    </p:anim>
                                    <p:anim calcmode="lin" valueType="num">
                                      <p:cBhvr additive="base">
                                        <p:cTn id="3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500" fill="hold"/>
                                        <p:tgtEl>
                                          <p:spTgt spid="6"/>
                                        </p:tgtEl>
                                        <p:attrNameLst>
                                          <p:attrName>ppt_x</p:attrName>
                                        </p:attrNameLst>
                                      </p:cBhvr>
                                      <p:tavLst>
                                        <p:tav tm="0">
                                          <p:val>
                                            <p:strVal val="#ppt_x"/>
                                          </p:val>
                                        </p:tav>
                                        <p:tav tm="100000">
                                          <p:val>
                                            <p:strVal val="#ppt_x"/>
                                          </p:val>
                                        </p:tav>
                                      </p:tavLst>
                                    </p:anim>
                                    <p:anim calcmode="lin" valueType="num">
                                      <p:cBhvr additive="base">
                                        <p:cTn id="40" dur="500" fill="hold"/>
                                        <p:tgtEl>
                                          <p:spTgt spid="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ppt_x"/>
                                          </p:val>
                                        </p:tav>
                                        <p:tav tm="100000">
                                          <p:val>
                                            <p:strVal val="#ppt_x"/>
                                          </p:val>
                                        </p:tav>
                                      </p:tavLst>
                                    </p:anim>
                                    <p:anim calcmode="lin" valueType="num">
                                      <p:cBhvr additive="base">
                                        <p:cTn id="50" dur="500" fill="hold"/>
                                        <p:tgtEl>
                                          <p:spTgt spid="7"/>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ppt_x"/>
                                          </p:val>
                                        </p:tav>
                                        <p:tav tm="100000">
                                          <p:val>
                                            <p:strVal val="#ppt_x"/>
                                          </p:val>
                                        </p:tav>
                                      </p:tavLst>
                                    </p:anim>
                                    <p:anim calcmode="lin" valueType="num">
                                      <p:cBhvr additive="base">
                                        <p:cTn id="5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anim calcmode="lin" valueType="num">
                                      <p:cBhvr additive="base">
                                        <p:cTn id="59" dur="500" fill="hold"/>
                                        <p:tgtEl>
                                          <p:spTgt spid="11"/>
                                        </p:tgtEl>
                                        <p:attrNameLst>
                                          <p:attrName>ppt_x</p:attrName>
                                        </p:attrNameLst>
                                      </p:cBhvr>
                                      <p:tavLst>
                                        <p:tav tm="0">
                                          <p:val>
                                            <p:strVal val="#ppt_x"/>
                                          </p:val>
                                        </p:tav>
                                        <p:tav tm="100000">
                                          <p:val>
                                            <p:strVal val="#ppt_x"/>
                                          </p:val>
                                        </p:tav>
                                      </p:tavLst>
                                    </p:anim>
                                    <p:anim calcmode="lin" valueType="num">
                                      <p:cBhvr additive="base">
                                        <p:cTn id="6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3" grpId="0" animBg="1"/>
      <p:bldP spid="29" grpId="0"/>
      <p:bldP spid="6" grpId="0" animBg="1"/>
      <p:bldP spid="7" grpId="0" animBg="1"/>
      <p:bldP spid="9" grpId="0"/>
      <p:bldP spid="10" grpId="0"/>
      <p:bldP spid="11" grpId="0"/>
      <p:bldP spid="12"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0" y="2957383"/>
            <a:ext cx="12192000" cy="1095483"/>
          </a:xfrm>
          <a:prstGeom prst="rect">
            <a:avLst/>
          </a:prstGeom>
          <a:solidFill>
            <a:srgbClr val="F9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B1C45F8-40C5-657A-8F6A-87E23F35D73B}"/>
              </a:ext>
            </a:extLst>
          </p:cNvPr>
          <p:cNvSpPr txBox="1"/>
          <p:nvPr/>
        </p:nvSpPr>
        <p:spPr>
          <a:xfrm>
            <a:off x="1110755" y="1669624"/>
            <a:ext cx="9939864" cy="523220"/>
          </a:xfrm>
          <a:prstGeom prst="rect">
            <a:avLst/>
          </a:prstGeom>
          <a:noFill/>
        </p:spPr>
        <p:txBody>
          <a:bodyPr wrap="square" rtlCol="0">
            <a:spAutoFit/>
          </a:bodyPr>
          <a:lstStyle/>
          <a:p>
            <a:pPr algn="ctr"/>
            <a:r>
              <a:rPr lang="en-US" sz="2800" b="1" dirty="0">
                <a:solidFill>
                  <a:srgbClr val="16DB65"/>
                </a:solidFill>
                <a:latin typeface="Bricolage Grotesque 14pt" panose="020B0605040402000204" pitchFamily="34" charset="0"/>
                <a:ea typeface="Roboto" panose="02000000000000000000" pitchFamily="2" charset="0"/>
                <a:cs typeface="Heebo" pitchFamily="2" charset="-79"/>
              </a:rPr>
              <a:t>World’s Biggest Inter-exchange of Businesses</a:t>
            </a:r>
          </a:p>
        </p:txBody>
      </p:sp>
      <p:grpSp>
        <p:nvGrpSpPr>
          <p:cNvPr id="37" name="Group 36"/>
          <p:cNvGrpSpPr/>
          <p:nvPr/>
        </p:nvGrpSpPr>
        <p:grpSpPr>
          <a:xfrm>
            <a:off x="460440" y="2301138"/>
            <a:ext cx="3501960" cy="1337352"/>
            <a:chOff x="460440" y="2147253"/>
            <a:chExt cx="3501960" cy="1145036"/>
          </a:xfrm>
        </p:grpSpPr>
        <p:sp>
          <p:nvSpPr>
            <p:cNvPr id="7" name="Rounded Rectangle 6"/>
            <p:cNvSpPr/>
            <p:nvPr/>
          </p:nvSpPr>
          <p:spPr>
            <a:xfrm>
              <a:off x="460440" y="2147253"/>
              <a:ext cx="3501960" cy="1145036"/>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8" name="TextBox 7"/>
            <p:cNvSpPr txBox="1"/>
            <p:nvPr/>
          </p:nvSpPr>
          <p:spPr>
            <a:xfrm>
              <a:off x="460440" y="2267236"/>
              <a:ext cx="3501960" cy="869607"/>
            </a:xfrm>
            <a:prstGeom prst="rect">
              <a:avLst/>
            </a:prstGeom>
            <a:noFill/>
          </p:spPr>
          <p:txBody>
            <a:bodyPr wrap="square" rtlCol="0">
              <a:spAutoFit/>
            </a:bodyPr>
            <a:lstStyle/>
            <a:p>
              <a:pPr algn="ctr"/>
              <a:r>
                <a:rPr lang="en-US" sz="2000" b="1" dirty="0">
                  <a:latin typeface="Bricolage Grotesque 14pt" panose="020B0605040402000204" pitchFamily="34" charset="0"/>
                </a:rPr>
                <a:t>Generating Entrepreneurial &amp; Employment Opportunities for all</a:t>
              </a:r>
            </a:p>
          </p:txBody>
        </p:sp>
      </p:grpSp>
      <p:grpSp>
        <p:nvGrpSpPr>
          <p:cNvPr id="38" name="Group 37"/>
          <p:cNvGrpSpPr/>
          <p:nvPr/>
        </p:nvGrpSpPr>
        <p:grpSpPr>
          <a:xfrm>
            <a:off x="4329707" y="2301137"/>
            <a:ext cx="3501960" cy="1343085"/>
            <a:chOff x="4329707" y="2147253"/>
            <a:chExt cx="3501960" cy="1149945"/>
          </a:xfrm>
        </p:grpSpPr>
        <p:sp>
          <p:nvSpPr>
            <p:cNvPr id="9" name="Rounded Rectangle 8"/>
            <p:cNvSpPr/>
            <p:nvPr/>
          </p:nvSpPr>
          <p:spPr>
            <a:xfrm>
              <a:off x="4329707" y="2147253"/>
              <a:ext cx="3501960" cy="1145036"/>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0" name="TextBox 9"/>
            <p:cNvSpPr txBox="1"/>
            <p:nvPr/>
          </p:nvSpPr>
          <p:spPr>
            <a:xfrm>
              <a:off x="4329707" y="2281535"/>
              <a:ext cx="3501960" cy="1015663"/>
            </a:xfrm>
            <a:prstGeom prst="rect">
              <a:avLst/>
            </a:prstGeom>
            <a:noFill/>
          </p:spPr>
          <p:txBody>
            <a:bodyPr wrap="square" rtlCol="0">
              <a:spAutoFit/>
            </a:bodyPr>
            <a:lstStyle/>
            <a:p>
              <a:pPr algn="ctr"/>
              <a:r>
                <a:rPr lang="en-US" sz="2000" b="1" dirty="0">
                  <a:solidFill>
                    <a:srgbClr val="F95050"/>
                  </a:solidFill>
                  <a:latin typeface="Bricolage Grotesque 14pt" panose="020B0605040402000204" pitchFamily="34" charset="0"/>
                </a:rPr>
                <a:t>20 Crore +</a:t>
              </a:r>
            </a:p>
            <a:p>
              <a:pPr algn="ctr"/>
              <a:r>
                <a:rPr lang="en-US" sz="2000" b="1" dirty="0">
                  <a:solidFill>
                    <a:srgbClr val="F95050"/>
                  </a:solidFill>
                  <a:latin typeface="Bricolage Grotesque 14pt" panose="020B0605040402000204" pitchFamily="34" charset="0"/>
                </a:rPr>
                <a:t>Products &amp; Services</a:t>
              </a:r>
            </a:p>
            <a:p>
              <a:pPr algn="ctr"/>
              <a:r>
                <a:rPr lang="en-US" sz="2000" b="1" dirty="0">
                  <a:solidFill>
                    <a:srgbClr val="F95050"/>
                  </a:solidFill>
                  <a:latin typeface="Bricolage Grotesque 14pt" panose="020B0605040402000204" pitchFamily="34" charset="0"/>
                </a:rPr>
                <a:t>to Sell</a:t>
              </a:r>
            </a:p>
          </p:txBody>
        </p:sp>
      </p:grpSp>
      <p:grpSp>
        <p:nvGrpSpPr>
          <p:cNvPr id="39" name="Group 38"/>
          <p:cNvGrpSpPr/>
          <p:nvPr/>
        </p:nvGrpSpPr>
        <p:grpSpPr>
          <a:xfrm>
            <a:off x="8198974" y="2301138"/>
            <a:ext cx="3501960" cy="1337352"/>
            <a:chOff x="8198974" y="2147253"/>
            <a:chExt cx="3501960" cy="1145036"/>
          </a:xfrm>
        </p:grpSpPr>
        <p:sp>
          <p:nvSpPr>
            <p:cNvPr id="11" name="Rounded Rectangle 10"/>
            <p:cNvSpPr/>
            <p:nvPr/>
          </p:nvSpPr>
          <p:spPr>
            <a:xfrm>
              <a:off x="8198974" y="2147253"/>
              <a:ext cx="3501960" cy="1145036"/>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endParaRPr lang="en-US"/>
            </a:p>
          </p:txBody>
        </p:sp>
        <p:sp>
          <p:nvSpPr>
            <p:cNvPr id="12" name="TextBox 11"/>
            <p:cNvSpPr txBox="1"/>
            <p:nvPr/>
          </p:nvSpPr>
          <p:spPr>
            <a:xfrm>
              <a:off x="8198974" y="2400304"/>
              <a:ext cx="3501960" cy="606090"/>
            </a:xfrm>
            <a:prstGeom prst="rect">
              <a:avLst/>
            </a:prstGeom>
            <a:noFill/>
          </p:spPr>
          <p:txBody>
            <a:bodyPr wrap="square" rtlCol="0">
              <a:spAutoFit/>
            </a:bodyPr>
            <a:lstStyle/>
            <a:p>
              <a:pPr algn="ctr"/>
              <a:r>
                <a:rPr lang="en-US" sz="2000" b="1" dirty="0">
                  <a:latin typeface="Bricolage Grotesque 14pt" panose="020B0605040402000204" pitchFamily="34" charset="0"/>
                </a:rPr>
                <a:t>Guaranteed Cashback/Rewards up to 100% to Customers</a:t>
              </a:r>
            </a:p>
          </p:txBody>
        </p: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4998" y="399929"/>
            <a:ext cx="5902004" cy="1251444"/>
          </a:xfrm>
          <a:prstGeom prst="rect">
            <a:avLst/>
          </a:prstGeom>
        </p:spPr>
      </p:pic>
      <p:grpSp>
        <p:nvGrpSpPr>
          <p:cNvPr id="17" name="Group 16"/>
          <p:cNvGrpSpPr/>
          <p:nvPr/>
        </p:nvGrpSpPr>
        <p:grpSpPr>
          <a:xfrm>
            <a:off x="781656" y="4403860"/>
            <a:ext cx="1884826" cy="1850233"/>
            <a:chOff x="781656" y="4403860"/>
            <a:chExt cx="1884826" cy="1850233"/>
          </a:xfrm>
        </p:grpSpPr>
        <p:sp>
          <p:nvSpPr>
            <p:cNvPr id="18" name="Rounded Rectangle 17"/>
            <p:cNvSpPr/>
            <p:nvPr/>
          </p:nvSpPr>
          <p:spPr>
            <a:xfrm>
              <a:off x="781656" y="4403860"/>
              <a:ext cx="1884826" cy="1850233"/>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21" name="TextBox 20"/>
            <p:cNvSpPr txBox="1"/>
            <p:nvPr/>
          </p:nvSpPr>
          <p:spPr>
            <a:xfrm>
              <a:off x="781656" y="5379880"/>
              <a:ext cx="1884826"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Zero Investment</a:t>
              </a:r>
            </a:p>
            <a:p>
              <a:pPr algn="ctr"/>
              <a:r>
                <a:rPr lang="en-US" sz="1400" b="1" dirty="0">
                  <a:solidFill>
                    <a:srgbClr val="F95050"/>
                  </a:solidFill>
                  <a:latin typeface="Bricolage Grotesque 14pt" panose="020B0605040402000204" pitchFamily="34" charset="0"/>
                </a:rPr>
                <a:t>In Inventory</a:t>
              </a:r>
            </a:p>
          </p:txBody>
        </p:sp>
        <p:pic>
          <p:nvPicPr>
            <p:cNvPr id="32" name="Picture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35857" y="4545263"/>
              <a:ext cx="576424" cy="576424"/>
            </a:xfrm>
            <a:prstGeom prst="rect">
              <a:avLst/>
            </a:prstGeom>
          </p:spPr>
        </p:pic>
      </p:grpSp>
      <p:grpSp>
        <p:nvGrpSpPr>
          <p:cNvPr id="22" name="Group 21"/>
          <p:cNvGrpSpPr/>
          <p:nvPr/>
        </p:nvGrpSpPr>
        <p:grpSpPr>
          <a:xfrm>
            <a:off x="7309650" y="4403860"/>
            <a:ext cx="1884826" cy="1850233"/>
            <a:chOff x="7313582" y="4403860"/>
            <a:chExt cx="1884826" cy="1850233"/>
          </a:xfrm>
        </p:grpSpPr>
        <p:sp>
          <p:nvSpPr>
            <p:cNvPr id="28" name="Rounded Rectangle 27"/>
            <p:cNvSpPr/>
            <p:nvPr/>
          </p:nvSpPr>
          <p:spPr>
            <a:xfrm>
              <a:off x="7313582" y="4403860"/>
              <a:ext cx="1884826" cy="1850233"/>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29" name="TextBox 28"/>
            <p:cNvSpPr txBox="1"/>
            <p:nvPr/>
          </p:nvSpPr>
          <p:spPr>
            <a:xfrm>
              <a:off x="7313582" y="5164437"/>
              <a:ext cx="1884826" cy="954107"/>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Best Earning Opportunity with lowest capital investment</a:t>
              </a:r>
            </a:p>
          </p:txBody>
        </p:sp>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67783" y="4545263"/>
              <a:ext cx="576424" cy="576424"/>
            </a:xfrm>
            <a:prstGeom prst="rect">
              <a:avLst/>
            </a:prstGeom>
          </p:spPr>
        </p:pic>
      </p:grpSp>
      <p:grpSp>
        <p:nvGrpSpPr>
          <p:cNvPr id="19" name="Group 18"/>
          <p:cNvGrpSpPr/>
          <p:nvPr/>
        </p:nvGrpSpPr>
        <p:grpSpPr>
          <a:xfrm>
            <a:off x="2957654" y="4403860"/>
            <a:ext cx="1884826" cy="1850233"/>
            <a:chOff x="2959470" y="4403860"/>
            <a:chExt cx="1884826" cy="1850233"/>
          </a:xfrm>
        </p:grpSpPr>
        <p:sp>
          <p:nvSpPr>
            <p:cNvPr id="24" name="Rounded Rectangle 23"/>
            <p:cNvSpPr/>
            <p:nvPr/>
          </p:nvSpPr>
          <p:spPr>
            <a:xfrm>
              <a:off x="2959470" y="4403860"/>
              <a:ext cx="1884826" cy="1850233"/>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25" name="TextBox 24"/>
            <p:cNvSpPr txBox="1"/>
            <p:nvPr/>
          </p:nvSpPr>
          <p:spPr>
            <a:xfrm>
              <a:off x="2959470" y="5164437"/>
              <a:ext cx="1884826" cy="954107"/>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Generate new Revenue from Existing Customer Base</a:t>
              </a:r>
            </a:p>
          </p:txBody>
        </p:sp>
        <p:pic>
          <p:nvPicPr>
            <p:cNvPr id="34" name="Picture 3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13595" y="4545187"/>
              <a:ext cx="576576" cy="576576"/>
            </a:xfrm>
            <a:prstGeom prst="rect">
              <a:avLst/>
            </a:prstGeom>
          </p:spPr>
        </p:pic>
      </p:grpSp>
      <p:grpSp>
        <p:nvGrpSpPr>
          <p:cNvPr id="20" name="Group 19"/>
          <p:cNvGrpSpPr/>
          <p:nvPr/>
        </p:nvGrpSpPr>
        <p:grpSpPr>
          <a:xfrm>
            <a:off x="5133652" y="4403860"/>
            <a:ext cx="1884826" cy="1850233"/>
            <a:chOff x="5137284" y="4403860"/>
            <a:chExt cx="1884826" cy="1850233"/>
          </a:xfrm>
        </p:grpSpPr>
        <p:sp>
          <p:nvSpPr>
            <p:cNvPr id="26" name="Rounded Rectangle 25"/>
            <p:cNvSpPr/>
            <p:nvPr/>
          </p:nvSpPr>
          <p:spPr>
            <a:xfrm>
              <a:off x="5137284" y="4403860"/>
              <a:ext cx="1884826" cy="1850233"/>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27" name="TextBox 26"/>
            <p:cNvSpPr txBox="1"/>
            <p:nvPr/>
          </p:nvSpPr>
          <p:spPr>
            <a:xfrm>
              <a:off x="5137284" y="5379880"/>
              <a:ext cx="1884826"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Large &amp; Diversified Inventory</a:t>
              </a:r>
            </a:p>
          </p:txBody>
        </p:sp>
        <p:pic>
          <p:nvPicPr>
            <p:cNvPr id="35" name="Picture 3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65799" y="4520209"/>
              <a:ext cx="626533" cy="626533"/>
            </a:xfrm>
            <a:prstGeom prst="rect">
              <a:avLst/>
            </a:prstGeom>
          </p:spPr>
        </p:pic>
      </p:grpSp>
      <p:grpSp>
        <p:nvGrpSpPr>
          <p:cNvPr id="23" name="Group 22"/>
          <p:cNvGrpSpPr/>
          <p:nvPr/>
        </p:nvGrpSpPr>
        <p:grpSpPr>
          <a:xfrm>
            <a:off x="9485649" y="4403860"/>
            <a:ext cx="1884826" cy="1850233"/>
            <a:chOff x="9485649" y="4403860"/>
            <a:chExt cx="1884826" cy="1850233"/>
          </a:xfrm>
        </p:grpSpPr>
        <p:sp>
          <p:nvSpPr>
            <p:cNvPr id="30" name="Rounded Rectangle 29"/>
            <p:cNvSpPr/>
            <p:nvPr/>
          </p:nvSpPr>
          <p:spPr>
            <a:xfrm>
              <a:off x="9485649" y="4403860"/>
              <a:ext cx="1884826" cy="1850233"/>
            </a:xfrm>
            <a:prstGeom prst="roundRect">
              <a:avLst/>
            </a:prstGeom>
            <a:solidFill>
              <a:schemeClr val="bg1">
                <a:lumMod val="95000"/>
              </a:schemeClr>
            </a:solidFill>
            <a:ln>
              <a:noFill/>
            </a:ln>
            <a:effectLst>
              <a:outerShdw blurRad="304800" dist="50800" dir="5400000" algn="ctr" rotWithShape="0">
                <a:srgbClr val="000000">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00" rtl="0" eaLnBrk="1" latinLnBrk="0" hangingPunct="1">
                <a:defRPr sz="3600" kern="1200">
                  <a:solidFill>
                    <a:schemeClr val="lt1"/>
                  </a:solidFill>
                  <a:latin typeface="+mn-lt"/>
                  <a:ea typeface="+mn-ea"/>
                  <a:cs typeface="+mn-cs"/>
                </a:defRPr>
              </a:lvl1pPr>
              <a:lvl2pPr marL="914400" algn="l" defTabSz="1828800" rtl="0" eaLnBrk="1" latinLnBrk="0" hangingPunct="1">
                <a:defRPr sz="3600" kern="1200">
                  <a:solidFill>
                    <a:schemeClr val="lt1"/>
                  </a:solidFill>
                  <a:latin typeface="+mn-lt"/>
                  <a:ea typeface="+mn-ea"/>
                  <a:cs typeface="+mn-cs"/>
                </a:defRPr>
              </a:lvl2pPr>
              <a:lvl3pPr marL="1828800" algn="l" defTabSz="1828800" rtl="0" eaLnBrk="1" latinLnBrk="0" hangingPunct="1">
                <a:defRPr sz="3600" kern="1200">
                  <a:solidFill>
                    <a:schemeClr val="lt1"/>
                  </a:solidFill>
                  <a:latin typeface="+mn-lt"/>
                  <a:ea typeface="+mn-ea"/>
                  <a:cs typeface="+mn-cs"/>
                </a:defRPr>
              </a:lvl3pPr>
              <a:lvl4pPr marL="2743200" algn="l" defTabSz="1828800" rtl="0" eaLnBrk="1" latinLnBrk="0" hangingPunct="1">
                <a:defRPr sz="3600" kern="1200">
                  <a:solidFill>
                    <a:schemeClr val="lt1"/>
                  </a:solidFill>
                  <a:latin typeface="+mn-lt"/>
                  <a:ea typeface="+mn-ea"/>
                  <a:cs typeface="+mn-cs"/>
                </a:defRPr>
              </a:lvl4pPr>
              <a:lvl5pPr marL="3657600" algn="l" defTabSz="1828800" rtl="0" eaLnBrk="1" latinLnBrk="0" hangingPunct="1">
                <a:defRPr sz="3600" kern="1200">
                  <a:solidFill>
                    <a:schemeClr val="lt1"/>
                  </a:solidFill>
                  <a:latin typeface="+mn-lt"/>
                  <a:ea typeface="+mn-ea"/>
                  <a:cs typeface="+mn-cs"/>
                </a:defRPr>
              </a:lvl5pPr>
              <a:lvl6pPr marL="4572000" algn="l" defTabSz="1828800" rtl="0" eaLnBrk="1" latinLnBrk="0" hangingPunct="1">
                <a:defRPr sz="3600" kern="1200">
                  <a:solidFill>
                    <a:schemeClr val="lt1"/>
                  </a:solidFill>
                  <a:latin typeface="+mn-lt"/>
                  <a:ea typeface="+mn-ea"/>
                  <a:cs typeface="+mn-cs"/>
                </a:defRPr>
              </a:lvl6pPr>
              <a:lvl7pPr marL="5486400" algn="l" defTabSz="1828800" rtl="0" eaLnBrk="1" latinLnBrk="0" hangingPunct="1">
                <a:defRPr sz="3600" kern="1200">
                  <a:solidFill>
                    <a:schemeClr val="lt1"/>
                  </a:solidFill>
                  <a:latin typeface="+mn-lt"/>
                  <a:ea typeface="+mn-ea"/>
                  <a:cs typeface="+mn-cs"/>
                </a:defRPr>
              </a:lvl7pPr>
              <a:lvl8pPr marL="6400800" algn="l" defTabSz="1828800" rtl="0" eaLnBrk="1" latinLnBrk="0" hangingPunct="1">
                <a:defRPr sz="3600" kern="1200">
                  <a:solidFill>
                    <a:schemeClr val="lt1"/>
                  </a:solidFill>
                  <a:latin typeface="+mn-lt"/>
                  <a:ea typeface="+mn-ea"/>
                  <a:cs typeface="+mn-cs"/>
                </a:defRPr>
              </a:lvl8pPr>
              <a:lvl9pPr marL="7315200" algn="l" defTabSz="1828800" rtl="0" eaLnBrk="1" latinLnBrk="0" hangingPunct="1">
                <a:defRPr sz="3600" kern="1200">
                  <a:solidFill>
                    <a:schemeClr val="lt1"/>
                  </a:solidFill>
                  <a:latin typeface="+mn-lt"/>
                  <a:ea typeface="+mn-ea"/>
                  <a:cs typeface="+mn-cs"/>
                </a:defRPr>
              </a:lvl9pPr>
            </a:lstStyle>
            <a:p>
              <a:pPr algn="ctr"/>
              <a:r>
                <a:rPr lang="en-US" dirty="0"/>
                <a:t> </a:t>
              </a:r>
            </a:p>
          </p:txBody>
        </p:sp>
        <p:sp>
          <p:nvSpPr>
            <p:cNvPr id="31" name="TextBox 30"/>
            <p:cNvSpPr txBox="1"/>
            <p:nvPr/>
          </p:nvSpPr>
          <p:spPr>
            <a:xfrm>
              <a:off x="9485649" y="5379880"/>
              <a:ext cx="1884826" cy="523220"/>
            </a:xfrm>
            <a:prstGeom prst="rect">
              <a:avLst/>
            </a:prstGeom>
            <a:noFill/>
          </p:spPr>
          <p:txBody>
            <a:bodyPr wrap="square" rtlCol="0">
              <a:spAutoFit/>
            </a:bodyPr>
            <a:lstStyle/>
            <a:p>
              <a:pPr algn="ctr"/>
              <a:r>
                <a:rPr lang="en-US" sz="1400" b="1" dirty="0">
                  <a:solidFill>
                    <a:srgbClr val="F95050"/>
                  </a:solidFill>
                  <a:latin typeface="Bricolage Grotesque 14pt" panose="020B0605040402000204" pitchFamily="34" charset="0"/>
                </a:rPr>
                <a:t>Zero Maintenance</a:t>
              </a:r>
            </a:p>
            <a:p>
              <a:pPr algn="ctr"/>
              <a:r>
                <a:rPr lang="en-US" sz="1400" b="1" dirty="0">
                  <a:solidFill>
                    <a:srgbClr val="F95050"/>
                  </a:solidFill>
                  <a:latin typeface="Bricolage Grotesque 14pt" panose="020B0605040402000204" pitchFamily="34" charset="0"/>
                </a:rPr>
                <a:t>Cost</a:t>
              </a:r>
            </a:p>
          </p:txBody>
        </p:sp>
        <p:pic>
          <p:nvPicPr>
            <p:cNvPr id="36" name="Picture 3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139850" y="4545263"/>
              <a:ext cx="576424" cy="576424"/>
            </a:xfrm>
            <a:prstGeom prst="rect">
              <a:avLst/>
            </a:prstGeom>
          </p:spPr>
        </p:pic>
      </p:grpSp>
    </p:spTree>
    <p:extLst>
      <p:ext uri="{BB962C8B-B14F-4D97-AF65-F5344CB8AC3E}">
        <p14:creationId xmlns:p14="http://schemas.microsoft.com/office/powerpoint/2010/main" val="4207459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7"/>
                                        </p:tgtEl>
                                        <p:attrNameLst>
                                          <p:attrName>style.visibility</p:attrName>
                                        </p:attrNameLst>
                                      </p:cBhvr>
                                      <p:to>
                                        <p:strVal val="visible"/>
                                      </p:to>
                                    </p:set>
                                    <p:anim calcmode="lin" valueType="num">
                                      <p:cBhvr additive="base">
                                        <p:cTn id="25" dur="500" fill="hold"/>
                                        <p:tgtEl>
                                          <p:spTgt spid="37"/>
                                        </p:tgtEl>
                                        <p:attrNameLst>
                                          <p:attrName>ppt_x</p:attrName>
                                        </p:attrNameLst>
                                      </p:cBhvr>
                                      <p:tavLst>
                                        <p:tav tm="0">
                                          <p:val>
                                            <p:strVal val="#ppt_x"/>
                                          </p:val>
                                        </p:tav>
                                        <p:tav tm="100000">
                                          <p:val>
                                            <p:strVal val="#ppt_x"/>
                                          </p:val>
                                        </p:tav>
                                      </p:tavLst>
                                    </p:anim>
                                    <p:anim calcmode="lin" valueType="num">
                                      <p:cBhvr additive="base">
                                        <p:cTn id="2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anim calcmode="lin" valueType="num">
                                      <p:cBhvr additive="base">
                                        <p:cTn id="31" dur="500" fill="hold"/>
                                        <p:tgtEl>
                                          <p:spTgt spid="38"/>
                                        </p:tgtEl>
                                        <p:attrNameLst>
                                          <p:attrName>ppt_x</p:attrName>
                                        </p:attrNameLst>
                                      </p:cBhvr>
                                      <p:tavLst>
                                        <p:tav tm="0">
                                          <p:val>
                                            <p:strVal val="#ppt_x"/>
                                          </p:val>
                                        </p:tav>
                                        <p:tav tm="100000">
                                          <p:val>
                                            <p:strVal val="#ppt_x"/>
                                          </p:val>
                                        </p:tav>
                                      </p:tavLst>
                                    </p:anim>
                                    <p:anim calcmode="lin" valueType="num">
                                      <p:cBhvr additive="base">
                                        <p:cTn id="3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ppt_x"/>
                                          </p:val>
                                        </p:tav>
                                        <p:tav tm="100000">
                                          <p:val>
                                            <p:strVal val="#ppt_x"/>
                                          </p:val>
                                        </p:tav>
                                      </p:tavLst>
                                    </p:anim>
                                    <p:anim calcmode="lin" valueType="num">
                                      <p:cBhvr additive="base">
                                        <p:cTn id="3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barn(inVertical)">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barn(inVertical)">
                                      <p:cBhvr>
                                        <p:cTn id="48" dur="5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barn(inVertical)">
                                      <p:cBhvr>
                                        <p:cTn id="53" dur="500"/>
                                        <p:tgtEl>
                                          <p:spTgt spid="20"/>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barn(inVertical)">
                                      <p:cBhvr>
                                        <p:cTn id="58" dur="500"/>
                                        <p:tgtEl>
                                          <p:spTgt spid="22"/>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barn(inVertical)">
                                      <p:cBhvr>
                                        <p:cTn id="6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8FD292F-F831-98B5-CB44-A669B61074CD}"/>
              </a:ext>
            </a:extLst>
          </p:cNvPr>
          <p:cNvSpPr/>
          <p:nvPr/>
        </p:nvSpPr>
        <p:spPr>
          <a:xfrm>
            <a:off x="3962760" y="4432198"/>
            <a:ext cx="490884" cy="490884"/>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642F81C3-8DBC-033C-B0C0-681B33592DF8}"/>
              </a:ext>
            </a:extLst>
          </p:cNvPr>
          <p:cNvSpPr txBox="1"/>
          <p:nvPr/>
        </p:nvSpPr>
        <p:spPr>
          <a:xfrm>
            <a:off x="2587670" y="2091435"/>
            <a:ext cx="7016664" cy="1569660"/>
          </a:xfrm>
          <a:prstGeom prst="rect">
            <a:avLst/>
          </a:prstGeom>
          <a:noFill/>
        </p:spPr>
        <p:txBody>
          <a:bodyPr wrap="none" rtlCol="0">
            <a:spAutoFit/>
          </a:bodyPr>
          <a:lstStyle/>
          <a:p>
            <a:pPr algn="ctr"/>
            <a:r>
              <a:rPr lang="en-US" sz="9600" dirty="0">
                <a:solidFill>
                  <a:schemeClr val="bg1"/>
                </a:solidFill>
                <a:latin typeface="Bricolage Grotesque 14pt" panose="020B0605040402000204" pitchFamily="34" charset="0"/>
              </a:rPr>
              <a:t>THANK YOU</a:t>
            </a:r>
          </a:p>
        </p:txBody>
      </p:sp>
      <p:grpSp>
        <p:nvGrpSpPr>
          <p:cNvPr id="2" name="Group 1"/>
          <p:cNvGrpSpPr/>
          <p:nvPr/>
        </p:nvGrpSpPr>
        <p:grpSpPr>
          <a:xfrm>
            <a:off x="4057625" y="3772627"/>
            <a:ext cx="4656246" cy="1124492"/>
            <a:chOff x="4104768" y="4059884"/>
            <a:chExt cx="4656246" cy="993605"/>
          </a:xfrm>
        </p:grpSpPr>
        <p:sp>
          <p:nvSpPr>
            <p:cNvPr id="22" name="TextBox 21">
              <a:extLst>
                <a:ext uri="{FF2B5EF4-FFF2-40B4-BE49-F238E27FC236}">
                  <a16:creationId xmlns:a16="http://schemas.microsoft.com/office/drawing/2014/main" id="{2D9F20FE-4411-868C-0662-1620540B0C6C}"/>
                </a:ext>
              </a:extLst>
            </p:cNvPr>
            <p:cNvSpPr txBox="1"/>
            <p:nvPr/>
          </p:nvSpPr>
          <p:spPr>
            <a:xfrm>
              <a:off x="4595652" y="4059884"/>
              <a:ext cx="4165362" cy="993605"/>
            </a:xfrm>
            <a:prstGeom prst="rect">
              <a:avLst/>
            </a:prstGeom>
            <a:noFill/>
          </p:spPr>
          <p:txBody>
            <a:bodyPr wrap="square">
              <a:spAutoFit/>
            </a:bodyPr>
            <a:lstStyle/>
            <a:p>
              <a:pPr>
                <a:lnSpc>
                  <a:spcPct val="150000"/>
                </a:lnSpc>
                <a:spcAft>
                  <a:spcPts val="150"/>
                </a:spcAft>
                <a:defRPr/>
              </a:pPr>
              <a:r>
                <a:rPr lang="en-US" sz="2000" dirty="0">
                  <a:solidFill>
                    <a:schemeClr val="bg1"/>
                  </a:solidFill>
                  <a:latin typeface="Bricolage Grotesque 14pt" panose="020B0605040402000204" pitchFamily="34" charset="0"/>
                  <a:ea typeface="Open Sans" panose="020B0606030504020204" pitchFamily="34" charset="0"/>
                  <a:cs typeface="Open Sans" panose="020B0606030504020204" pitchFamily="34" charset="0"/>
                </a:rPr>
                <a:t>8866373077</a:t>
              </a:r>
            </a:p>
            <a:p>
              <a:pPr>
                <a:lnSpc>
                  <a:spcPct val="150000"/>
                </a:lnSpc>
                <a:spcAft>
                  <a:spcPts val="150"/>
                </a:spcAft>
                <a:defRPr/>
              </a:pPr>
              <a:r>
                <a:rPr lang="en-US" sz="2000" dirty="0" err="1">
                  <a:solidFill>
                    <a:schemeClr val="bg1"/>
                  </a:solidFill>
                  <a:latin typeface="Bricolage Grotesque 14pt" panose="020B0605040402000204" pitchFamily="34" charset="0"/>
                  <a:ea typeface="Open Sans" panose="020B0606030504020204" pitchFamily="34" charset="0"/>
                  <a:cs typeface="Open Sans" panose="020B0606030504020204" pitchFamily="34" charset="0"/>
                </a:rPr>
                <a:t>jagdai.ggconsultancy.services</a:t>
              </a:r>
              <a:endParaRPr lang="id-ID" sz="2000" dirty="0">
                <a:solidFill>
                  <a:schemeClr val="bg1"/>
                </a:solidFill>
                <a:latin typeface="Bricolage Grotesque 14pt" panose="020B0605040402000204" pitchFamily="34" charset="0"/>
                <a:ea typeface="Open Sans" panose="020B0606030504020204" pitchFamily="34" charset="0"/>
                <a:cs typeface="Open Sans" panose="020B0606030504020204" pitchFamily="34" charset="0"/>
              </a:endParaRPr>
            </a:p>
          </p:txBody>
        </p:sp>
        <p:sp>
          <p:nvSpPr>
            <p:cNvPr id="23" name="Freeform 711">
              <a:extLst>
                <a:ext uri="{FF2B5EF4-FFF2-40B4-BE49-F238E27FC236}">
                  <a16:creationId xmlns:a16="http://schemas.microsoft.com/office/drawing/2014/main" id="{45B0BE7E-9293-760E-32C2-A465A8A837D4}"/>
                </a:ext>
              </a:extLst>
            </p:cNvPr>
            <p:cNvSpPr>
              <a:spLocks noEditPoints="1"/>
            </p:cNvSpPr>
            <p:nvPr/>
          </p:nvSpPr>
          <p:spPr bwMode="auto">
            <a:xfrm>
              <a:off x="4104768" y="4698700"/>
              <a:ext cx="325071" cy="321713"/>
            </a:xfrm>
            <a:custGeom>
              <a:avLst/>
              <a:gdLst>
                <a:gd name="T0" fmla="*/ 2522 w 3386"/>
                <a:gd name="T1" fmla="*/ 2763 h 3353"/>
                <a:gd name="T2" fmla="*/ 866 w 3386"/>
                <a:gd name="T3" fmla="*/ 2763 h 3353"/>
                <a:gd name="T4" fmla="*/ 1843 w 3386"/>
                <a:gd name="T5" fmla="*/ 2545 h 3353"/>
                <a:gd name="T6" fmla="*/ 2020 w 3386"/>
                <a:gd name="T7" fmla="*/ 2848 h 3353"/>
                <a:gd name="T8" fmla="*/ 2094 w 3386"/>
                <a:gd name="T9" fmla="*/ 2585 h 3353"/>
                <a:gd name="T10" fmla="*/ 1459 w 3386"/>
                <a:gd name="T11" fmla="*/ 2555 h 3353"/>
                <a:gd name="T12" fmla="*/ 1286 w 3386"/>
                <a:gd name="T13" fmla="*/ 2739 h 3353"/>
                <a:gd name="T14" fmla="*/ 1498 w 3386"/>
                <a:gd name="T15" fmla="*/ 2965 h 3353"/>
                <a:gd name="T16" fmla="*/ 2638 w 3386"/>
                <a:gd name="T17" fmla="*/ 2080 h 3353"/>
                <a:gd name="T18" fmla="*/ 2702 w 3386"/>
                <a:gd name="T19" fmla="*/ 2497 h 3353"/>
                <a:gd name="T20" fmla="*/ 2956 w 3386"/>
                <a:gd name="T21" fmla="*/ 2251 h 3353"/>
                <a:gd name="T22" fmla="*/ 3078 w 3386"/>
                <a:gd name="T23" fmla="*/ 1839 h 3353"/>
                <a:gd name="T24" fmla="*/ 2026 w 3386"/>
                <a:gd name="T25" fmla="*/ 2242 h 3353"/>
                <a:gd name="T26" fmla="*/ 2328 w 3386"/>
                <a:gd name="T27" fmla="*/ 2123 h 3353"/>
                <a:gd name="T28" fmla="*/ 1024 w 3386"/>
                <a:gd name="T29" fmla="*/ 1839 h 3353"/>
                <a:gd name="T30" fmla="*/ 1100 w 3386"/>
                <a:gd name="T31" fmla="*/ 2302 h 3353"/>
                <a:gd name="T32" fmla="*/ 1544 w 3386"/>
                <a:gd name="T33" fmla="*/ 2221 h 3353"/>
                <a:gd name="T34" fmla="*/ 341 w 3386"/>
                <a:gd name="T35" fmla="*/ 2009 h 3353"/>
                <a:gd name="T36" fmla="*/ 518 w 3386"/>
                <a:gd name="T37" fmla="*/ 2401 h 3353"/>
                <a:gd name="T38" fmla="*/ 817 w 3386"/>
                <a:gd name="T39" fmla="*/ 2419 h 3353"/>
                <a:gd name="T40" fmla="*/ 726 w 3386"/>
                <a:gd name="T41" fmla="*/ 1839 h 3353"/>
                <a:gd name="T42" fmla="*/ 2026 w 3386"/>
                <a:gd name="T43" fmla="*/ 1111 h 3353"/>
                <a:gd name="T44" fmla="*/ 2354 w 3386"/>
                <a:gd name="T45" fmla="*/ 1418 h 3353"/>
                <a:gd name="T46" fmla="*/ 1099 w 3386"/>
                <a:gd name="T47" fmla="*/ 1050 h 3353"/>
                <a:gd name="T48" fmla="*/ 1024 w 3386"/>
                <a:gd name="T49" fmla="*/ 1515 h 3353"/>
                <a:gd name="T50" fmla="*/ 1272 w 3386"/>
                <a:gd name="T51" fmla="*/ 1095 h 3353"/>
                <a:gd name="T52" fmla="*/ 518 w 3386"/>
                <a:gd name="T53" fmla="*/ 952 h 3353"/>
                <a:gd name="T54" fmla="*/ 341 w 3386"/>
                <a:gd name="T55" fmla="*/ 1345 h 3353"/>
                <a:gd name="T56" fmla="*/ 748 w 3386"/>
                <a:gd name="T57" fmla="*/ 1274 h 3353"/>
                <a:gd name="T58" fmla="*/ 685 w 3386"/>
                <a:gd name="T59" fmla="*/ 856 h 3353"/>
                <a:gd name="T60" fmla="*/ 2568 w 3386"/>
                <a:gd name="T61" fmla="*/ 935 h 3353"/>
                <a:gd name="T62" fmla="*/ 2660 w 3386"/>
                <a:gd name="T63" fmla="*/ 1515 h 3353"/>
                <a:gd name="T64" fmla="*/ 2991 w 3386"/>
                <a:gd name="T65" fmla="*/ 1181 h 3353"/>
                <a:gd name="T66" fmla="*/ 2763 w 3386"/>
                <a:gd name="T67" fmla="*/ 811 h 3353"/>
                <a:gd name="T68" fmla="*/ 2461 w 3386"/>
                <a:gd name="T69" fmla="*/ 549 h 3353"/>
                <a:gd name="T70" fmla="*/ 897 w 3386"/>
                <a:gd name="T71" fmla="*/ 609 h 3353"/>
                <a:gd name="T72" fmla="*/ 1843 w 3386"/>
                <a:gd name="T73" fmla="*/ 808 h 3353"/>
                <a:gd name="T74" fmla="*/ 2138 w 3386"/>
                <a:gd name="T75" fmla="*/ 677 h 3353"/>
                <a:gd name="T76" fmla="*/ 1933 w 3386"/>
                <a:gd name="T77" fmla="*/ 421 h 3353"/>
                <a:gd name="T78" fmla="*/ 1453 w 3386"/>
                <a:gd name="T79" fmla="*/ 421 h 3353"/>
                <a:gd name="T80" fmla="*/ 1248 w 3386"/>
                <a:gd name="T81" fmla="*/ 677 h 3353"/>
                <a:gd name="T82" fmla="*/ 1544 w 3386"/>
                <a:gd name="T83" fmla="*/ 808 h 3353"/>
                <a:gd name="T84" fmla="*/ 1906 w 3386"/>
                <a:gd name="T85" fmla="*/ 13 h 3353"/>
                <a:gd name="T86" fmla="*/ 2398 w 3386"/>
                <a:gd name="T87" fmla="*/ 153 h 3353"/>
                <a:gd name="T88" fmla="*/ 2818 w 3386"/>
                <a:gd name="T89" fmla="*/ 424 h 3353"/>
                <a:gd name="T90" fmla="*/ 3137 w 3386"/>
                <a:gd name="T91" fmla="*/ 803 h 3353"/>
                <a:gd name="T92" fmla="*/ 3335 w 3386"/>
                <a:gd name="T93" fmla="*/ 1264 h 3353"/>
                <a:gd name="T94" fmla="*/ 3383 w 3386"/>
                <a:gd name="T95" fmla="*/ 1783 h 3353"/>
                <a:gd name="T96" fmla="*/ 3273 w 3386"/>
                <a:gd name="T97" fmla="*/ 2282 h 3353"/>
                <a:gd name="T98" fmla="*/ 3023 w 3386"/>
                <a:gd name="T99" fmla="*/ 2713 h 3353"/>
                <a:gd name="T100" fmla="*/ 2660 w 3386"/>
                <a:gd name="T101" fmla="*/ 3052 h 3353"/>
                <a:gd name="T102" fmla="*/ 2209 w 3386"/>
                <a:gd name="T103" fmla="*/ 3273 h 3353"/>
                <a:gd name="T104" fmla="*/ 1693 w 3386"/>
                <a:gd name="T105" fmla="*/ 3353 h 3353"/>
                <a:gd name="T106" fmla="*/ 1179 w 3386"/>
                <a:gd name="T107" fmla="*/ 3273 h 3353"/>
                <a:gd name="T108" fmla="*/ 727 w 3386"/>
                <a:gd name="T109" fmla="*/ 3052 h 3353"/>
                <a:gd name="T110" fmla="*/ 363 w 3386"/>
                <a:gd name="T111" fmla="*/ 2713 h 3353"/>
                <a:gd name="T112" fmla="*/ 114 w 3386"/>
                <a:gd name="T113" fmla="*/ 2282 h 3353"/>
                <a:gd name="T114" fmla="*/ 3 w 3386"/>
                <a:gd name="T115" fmla="*/ 1783 h 3353"/>
                <a:gd name="T116" fmla="*/ 52 w 3386"/>
                <a:gd name="T117" fmla="*/ 1264 h 3353"/>
                <a:gd name="T118" fmla="*/ 249 w 3386"/>
                <a:gd name="T119" fmla="*/ 803 h 3353"/>
                <a:gd name="T120" fmla="*/ 569 w 3386"/>
                <a:gd name="T121" fmla="*/ 424 h 3353"/>
                <a:gd name="T122" fmla="*/ 988 w 3386"/>
                <a:gd name="T123" fmla="*/ 153 h 3353"/>
                <a:gd name="T124" fmla="*/ 1482 w 3386"/>
                <a:gd name="T125" fmla="*/ 13 h 3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386" h="3353">
                  <a:moveTo>
                    <a:pt x="2458" y="2726"/>
                  </a:moveTo>
                  <a:lnTo>
                    <a:pt x="2429" y="2786"/>
                  </a:lnTo>
                  <a:lnTo>
                    <a:pt x="2399" y="2842"/>
                  </a:lnTo>
                  <a:lnTo>
                    <a:pt x="2461" y="2805"/>
                  </a:lnTo>
                  <a:lnTo>
                    <a:pt x="2522" y="2763"/>
                  </a:lnTo>
                  <a:lnTo>
                    <a:pt x="2491" y="2745"/>
                  </a:lnTo>
                  <a:lnTo>
                    <a:pt x="2458" y="2726"/>
                  </a:lnTo>
                  <a:close/>
                  <a:moveTo>
                    <a:pt x="930" y="2725"/>
                  </a:moveTo>
                  <a:lnTo>
                    <a:pt x="898" y="2744"/>
                  </a:lnTo>
                  <a:lnTo>
                    <a:pt x="866" y="2763"/>
                  </a:lnTo>
                  <a:lnTo>
                    <a:pt x="925" y="2805"/>
                  </a:lnTo>
                  <a:lnTo>
                    <a:pt x="988" y="2843"/>
                  </a:lnTo>
                  <a:lnTo>
                    <a:pt x="958" y="2785"/>
                  </a:lnTo>
                  <a:lnTo>
                    <a:pt x="930" y="2725"/>
                  </a:lnTo>
                  <a:close/>
                  <a:moveTo>
                    <a:pt x="1843" y="2545"/>
                  </a:moveTo>
                  <a:lnTo>
                    <a:pt x="1843" y="2991"/>
                  </a:lnTo>
                  <a:lnTo>
                    <a:pt x="1888" y="2965"/>
                  </a:lnTo>
                  <a:lnTo>
                    <a:pt x="1933" y="2932"/>
                  </a:lnTo>
                  <a:lnTo>
                    <a:pt x="1977" y="2893"/>
                  </a:lnTo>
                  <a:lnTo>
                    <a:pt x="2020" y="2848"/>
                  </a:lnTo>
                  <a:lnTo>
                    <a:pt x="2061" y="2796"/>
                  </a:lnTo>
                  <a:lnTo>
                    <a:pt x="2101" y="2739"/>
                  </a:lnTo>
                  <a:lnTo>
                    <a:pt x="2138" y="2676"/>
                  </a:lnTo>
                  <a:lnTo>
                    <a:pt x="2175" y="2607"/>
                  </a:lnTo>
                  <a:lnTo>
                    <a:pt x="2094" y="2585"/>
                  </a:lnTo>
                  <a:lnTo>
                    <a:pt x="2013" y="2568"/>
                  </a:lnTo>
                  <a:lnTo>
                    <a:pt x="1928" y="2555"/>
                  </a:lnTo>
                  <a:lnTo>
                    <a:pt x="1843" y="2545"/>
                  </a:lnTo>
                  <a:close/>
                  <a:moveTo>
                    <a:pt x="1544" y="2545"/>
                  </a:moveTo>
                  <a:lnTo>
                    <a:pt x="1459" y="2555"/>
                  </a:lnTo>
                  <a:lnTo>
                    <a:pt x="1375" y="2568"/>
                  </a:lnTo>
                  <a:lnTo>
                    <a:pt x="1293" y="2585"/>
                  </a:lnTo>
                  <a:lnTo>
                    <a:pt x="1213" y="2607"/>
                  </a:lnTo>
                  <a:lnTo>
                    <a:pt x="1248" y="2676"/>
                  </a:lnTo>
                  <a:lnTo>
                    <a:pt x="1286" y="2739"/>
                  </a:lnTo>
                  <a:lnTo>
                    <a:pt x="1325" y="2796"/>
                  </a:lnTo>
                  <a:lnTo>
                    <a:pt x="1366" y="2848"/>
                  </a:lnTo>
                  <a:lnTo>
                    <a:pt x="1409" y="2893"/>
                  </a:lnTo>
                  <a:lnTo>
                    <a:pt x="1453" y="2932"/>
                  </a:lnTo>
                  <a:lnTo>
                    <a:pt x="1498" y="2965"/>
                  </a:lnTo>
                  <a:lnTo>
                    <a:pt x="1544" y="2991"/>
                  </a:lnTo>
                  <a:lnTo>
                    <a:pt x="1544" y="2545"/>
                  </a:lnTo>
                  <a:close/>
                  <a:moveTo>
                    <a:pt x="2660" y="1839"/>
                  </a:moveTo>
                  <a:lnTo>
                    <a:pt x="2652" y="1961"/>
                  </a:lnTo>
                  <a:lnTo>
                    <a:pt x="2638" y="2080"/>
                  </a:lnTo>
                  <a:lnTo>
                    <a:pt x="2620" y="2196"/>
                  </a:lnTo>
                  <a:lnTo>
                    <a:pt x="2597" y="2308"/>
                  </a:lnTo>
                  <a:lnTo>
                    <a:pt x="2569" y="2418"/>
                  </a:lnTo>
                  <a:lnTo>
                    <a:pt x="2637" y="2457"/>
                  </a:lnTo>
                  <a:lnTo>
                    <a:pt x="2702" y="2497"/>
                  </a:lnTo>
                  <a:lnTo>
                    <a:pt x="2763" y="2542"/>
                  </a:lnTo>
                  <a:lnTo>
                    <a:pt x="2819" y="2473"/>
                  </a:lnTo>
                  <a:lnTo>
                    <a:pt x="2870" y="2401"/>
                  </a:lnTo>
                  <a:lnTo>
                    <a:pt x="2915" y="2327"/>
                  </a:lnTo>
                  <a:lnTo>
                    <a:pt x="2956" y="2251"/>
                  </a:lnTo>
                  <a:lnTo>
                    <a:pt x="2991" y="2172"/>
                  </a:lnTo>
                  <a:lnTo>
                    <a:pt x="3021" y="2092"/>
                  </a:lnTo>
                  <a:lnTo>
                    <a:pt x="3045" y="2009"/>
                  </a:lnTo>
                  <a:lnTo>
                    <a:pt x="3064" y="1925"/>
                  </a:lnTo>
                  <a:lnTo>
                    <a:pt x="3078" y="1839"/>
                  </a:lnTo>
                  <a:lnTo>
                    <a:pt x="2660" y="1839"/>
                  </a:lnTo>
                  <a:close/>
                  <a:moveTo>
                    <a:pt x="1843" y="1839"/>
                  </a:moveTo>
                  <a:lnTo>
                    <a:pt x="1843" y="2221"/>
                  </a:lnTo>
                  <a:lnTo>
                    <a:pt x="1934" y="2229"/>
                  </a:lnTo>
                  <a:lnTo>
                    <a:pt x="2026" y="2242"/>
                  </a:lnTo>
                  <a:lnTo>
                    <a:pt x="2115" y="2258"/>
                  </a:lnTo>
                  <a:lnTo>
                    <a:pt x="2201" y="2279"/>
                  </a:lnTo>
                  <a:lnTo>
                    <a:pt x="2286" y="2303"/>
                  </a:lnTo>
                  <a:lnTo>
                    <a:pt x="2309" y="2215"/>
                  </a:lnTo>
                  <a:lnTo>
                    <a:pt x="2328" y="2123"/>
                  </a:lnTo>
                  <a:lnTo>
                    <a:pt x="2343" y="2030"/>
                  </a:lnTo>
                  <a:lnTo>
                    <a:pt x="2354" y="1936"/>
                  </a:lnTo>
                  <a:lnTo>
                    <a:pt x="2363" y="1839"/>
                  </a:lnTo>
                  <a:lnTo>
                    <a:pt x="1843" y="1839"/>
                  </a:lnTo>
                  <a:close/>
                  <a:moveTo>
                    <a:pt x="1024" y="1839"/>
                  </a:moveTo>
                  <a:lnTo>
                    <a:pt x="1032" y="1936"/>
                  </a:lnTo>
                  <a:lnTo>
                    <a:pt x="1044" y="2030"/>
                  </a:lnTo>
                  <a:lnTo>
                    <a:pt x="1059" y="2123"/>
                  </a:lnTo>
                  <a:lnTo>
                    <a:pt x="1078" y="2214"/>
                  </a:lnTo>
                  <a:lnTo>
                    <a:pt x="1100" y="2302"/>
                  </a:lnTo>
                  <a:lnTo>
                    <a:pt x="1185" y="2278"/>
                  </a:lnTo>
                  <a:lnTo>
                    <a:pt x="1272" y="2257"/>
                  </a:lnTo>
                  <a:lnTo>
                    <a:pt x="1362" y="2241"/>
                  </a:lnTo>
                  <a:lnTo>
                    <a:pt x="1452" y="2229"/>
                  </a:lnTo>
                  <a:lnTo>
                    <a:pt x="1544" y="2221"/>
                  </a:lnTo>
                  <a:lnTo>
                    <a:pt x="1544" y="1839"/>
                  </a:lnTo>
                  <a:lnTo>
                    <a:pt x="1024" y="1839"/>
                  </a:lnTo>
                  <a:close/>
                  <a:moveTo>
                    <a:pt x="308" y="1839"/>
                  </a:moveTo>
                  <a:lnTo>
                    <a:pt x="323" y="1925"/>
                  </a:lnTo>
                  <a:lnTo>
                    <a:pt x="341" y="2009"/>
                  </a:lnTo>
                  <a:lnTo>
                    <a:pt x="366" y="2092"/>
                  </a:lnTo>
                  <a:lnTo>
                    <a:pt x="395" y="2172"/>
                  </a:lnTo>
                  <a:lnTo>
                    <a:pt x="431" y="2251"/>
                  </a:lnTo>
                  <a:lnTo>
                    <a:pt x="471" y="2327"/>
                  </a:lnTo>
                  <a:lnTo>
                    <a:pt x="518" y="2401"/>
                  </a:lnTo>
                  <a:lnTo>
                    <a:pt x="568" y="2473"/>
                  </a:lnTo>
                  <a:lnTo>
                    <a:pt x="623" y="2542"/>
                  </a:lnTo>
                  <a:lnTo>
                    <a:pt x="686" y="2498"/>
                  </a:lnTo>
                  <a:lnTo>
                    <a:pt x="750" y="2457"/>
                  </a:lnTo>
                  <a:lnTo>
                    <a:pt x="817" y="2419"/>
                  </a:lnTo>
                  <a:lnTo>
                    <a:pt x="790" y="2308"/>
                  </a:lnTo>
                  <a:lnTo>
                    <a:pt x="767" y="2196"/>
                  </a:lnTo>
                  <a:lnTo>
                    <a:pt x="749" y="2080"/>
                  </a:lnTo>
                  <a:lnTo>
                    <a:pt x="735" y="1961"/>
                  </a:lnTo>
                  <a:lnTo>
                    <a:pt x="726" y="1839"/>
                  </a:lnTo>
                  <a:lnTo>
                    <a:pt x="308" y="1839"/>
                  </a:lnTo>
                  <a:close/>
                  <a:moveTo>
                    <a:pt x="2286" y="1050"/>
                  </a:moveTo>
                  <a:lnTo>
                    <a:pt x="2202" y="1075"/>
                  </a:lnTo>
                  <a:lnTo>
                    <a:pt x="2115" y="1095"/>
                  </a:lnTo>
                  <a:lnTo>
                    <a:pt x="2026" y="1111"/>
                  </a:lnTo>
                  <a:lnTo>
                    <a:pt x="1936" y="1124"/>
                  </a:lnTo>
                  <a:lnTo>
                    <a:pt x="1843" y="1133"/>
                  </a:lnTo>
                  <a:lnTo>
                    <a:pt x="1843" y="1515"/>
                  </a:lnTo>
                  <a:lnTo>
                    <a:pt x="2363" y="1515"/>
                  </a:lnTo>
                  <a:lnTo>
                    <a:pt x="2354" y="1418"/>
                  </a:lnTo>
                  <a:lnTo>
                    <a:pt x="2343" y="1323"/>
                  </a:lnTo>
                  <a:lnTo>
                    <a:pt x="2328" y="1230"/>
                  </a:lnTo>
                  <a:lnTo>
                    <a:pt x="2309" y="1140"/>
                  </a:lnTo>
                  <a:lnTo>
                    <a:pt x="2286" y="1050"/>
                  </a:lnTo>
                  <a:close/>
                  <a:moveTo>
                    <a:pt x="1099" y="1050"/>
                  </a:moveTo>
                  <a:lnTo>
                    <a:pt x="1077" y="1140"/>
                  </a:lnTo>
                  <a:lnTo>
                    <a:pt x="1059" y="1230"/>
                  </a:lnTo>
                  <a:lnTo>
                    <a:pt x="1044" y="1323"/>
                  </a:lnTo>
                  <a:lnTo>
                    <a:pt x="1032" y="1418"/>
                  </a:lnTo>
                  <a:lnTo>
                    <a:pt x="1024" y="1515"/>
                  </a:lnTo>
                  <a:lnTo>
                    <a:pt x="1544" y="1515"/>
                  </a:lnTo>
                  <a:lnTo>
                    <a:pt x="1544" y="1133"/>
                  </a:lnTo>
                  <a:lnTo>
                    <a:pt x="1452" y="1124"/>
                  </a:lnTo>
                  <a:lnTo>
                    <a:pt x="1362" y="1111"/>
                  </a:lnTo>
                  <a:lnTo>
                    <a:pt x="1272" y="1095"/>
                  </a:lnTo>
                  <a:lnTo>
                    <a:pt x="1185" y="1075"/>
                  </a:lnTo>
                  <a:lnTo>
                    <a:pt x="1099" y="1050"/>
                  </a:lnTo>
                  <a:close/>
                  <a:moveTo>
                    <a:pt x="623" y="813"/>
                  </a:moveTo>
                  <a:lnTo>
                    <a:pt x="568" y="881"/>
                  </a:lnTo>
                  <a:lnTo>
                    <a:pt x="518" y="952"/>
                  </a:lnTo>
                  <a:lnTo>
                    <a:pt x="471" y="1026"/>
                  </a:lnTo>
                  <a:lnTo>
                    <a:pt x="431" y="1103"/>
                  </a:lnTo>
                  <a:lnTo>
                    <a:pt x="396" y="1181"/>
                  </a:lnTo>
                  <a:lnTo>
                    <a:pt x="366" y="1262"/>
                  </a:lnTo>
                  <a:lnTo>
                    <a:pt x="341" y="1345"/>
                  </a:lnTo>
                  <a:lnTo>
                    <a:pt x="323" y="1429"/>
                  </a:lnTo>
                  <a:lnTo>
                    <a:pt x="309" y="1515"/>
                  </a:lnTo>
                  <a:lnTo>
                    <a:pt x="726" y="1515"/>
                  </a:lnTo>
                  <a:lnTo>
                    <a:pt x="735" y="1393"/>
                  </a:lnTo>
                  <a:lnTo>
                    <a:pt x="748" y="1274"/>
                  </a:lnTo>
                  <a:lnTo>
                    <a:pt x="767" y="1157"/>
                  </a:lnTo>
                  <a:lnTo>
                    <a:pt x="790" y="1045"/>
                  </a:lnTo>
                  <a:lnTo>
                    <a:pt x="817" y="935"/>
                  </a:lnTo>
                  <a:lnTo>
                    <a:pt x="750" y="897"/>
                  </a:lnTo>
                  <a:lnTo>
                    <a:pt x="685" y="856"/>
                  </a:lnTo>
                  <a:lnTo>
                    <a:pt x="623" y="813"/>
                  </a:lnTo>
                  <a:close/>
                  <a:moveTo>
                    <a:pt x="2763" y="811"/>
                  </a:moveTo>
                  <a:lnTo>
                    <a:pt x="2700" y="855"/>
                  </a:lnTo>
                  <a:lnTo>
                    <a:pt x="2636" y="897"/>
                  </a:lnTo>
                  <a:lnTo>
                    <a:pt x="2568" y="935"/>
                  </a:lnTo>
                  <a:lnTo>
                    <a:pt x="2597" y="1045"/>
                  </a:lnTo>
                  <a:lnTo>
                    <a:pt x="2620" y="1157"/>
                  </a:lnTo>
                  <a:lnTo>
                    <a:pt x="2638" y="1274"/>
                  </a:lnTo>
                  <a:lnTo>
                    <a:pt x="2652" y="1393"/>
                  </a:lnTo>
                  <a:lnTo>
                    <a:pt x="2660" y="1515"/>
                  </a:lnTo>
                  <a:lnTo>
                    <a:pt x="3078" y="1515"/>
                  </a:lnTo>
                  <a:lnTo>
                    <a:pt x="3064" y="1429"/>
                  </a:lnTo>
                  <a:lnTo>
                    <a:pt x="3045" y="1345"/>
                  </a:lnTo>
                  <a:lnTo>
                    <a:pt x="3021" y="1262"/>
                  </a:lnTo>
                  <a:lnTo>
                    <a:pt x="2991" y="1181"/>
                  </a:lnTo>
                  <a:lnTo>
                    <a:pt x="2956" y="1103"/>
                  </a:lnTo>
                  <a:lnTo>
                    <a:pt x="2915" y="1025"/>
                  </a:lnTo>
                  <a:lnTo>
                    <a:pt x="2869" y="951"/>
                  </a:lnTo>
                  <a:lnTo>
                    <a:pt x="2818" y="880"/>
                  </a:lnTo>
                  <a:lnTo>
                    <a:pt x="2763" y="811"/>
                  </a:lnTo>
                  <a:close/>
                  <a:moveTo>
                    <a:pt x="2399" y="512"/>
                  </a:moveTo>
                  <a:lnTo>
                    <a:pt x="2429" y="568"/>
                  </a:lnTo>
                  <a:lnTo>
                    <a:pt x="2458" y="628"/>
                  </a:lnTo>
                  <a:lnTo>
                    <a:pt x="2522" y="590"/>
                  </a:lnTo>
                  <a:lnTo>
                    <a:pt x="2461" y="549"/>
                  </a:lnTo>
                  <a:lnTo>
                    <a:pt x="2399" y="512"/>
                  </a:lnTo>
                  <a:close/>
                  <a:moveTo>
                    <a:pt x="988" y="512"/>
                  </a:moveTo>
                  <a:lnTo>
                    <a:pt x="925" y="549"/>
                  </a:lnTo>
                  <a:lnTo>
                    <a:pt x="866" y="590"/>
                  </a:lnTo>
                  <a:lnTo>
                    <a:pt x="897" y="609"/>
                  </a:lnTo>
                  <a:lnTo>
                    <a:pt x="930" y="627"/>
                  </a:lnTo>
                  <a:lnTo>
                    <a:pt x="958" y="568"/>
                  </a:lnTo>
                  <a:lnTo>
                    <a:pt x="988" y="512"/>
                  </a:lnTo>
                  <a:close/>
                  <a:moveTo>
                    <a:pt x="1843" y="363"/>
                  </a:moveTo>
                  <a:lnTo>
                    <a:pt x="1843" y="808"/>
                  </a:lnTo>
                  <a:lnTo>
                    <a:pt x="1928" y="798"/>
                  </a:lnTo>
                  <a:lnTo>
                    <a:pt x="2012" y="785"/>
                  </a:lnTo>
                  <a:lnTo>
                    <a:pt x="2094" y="768"/>
                  </a:lnTo>
                  <a:lnTo>
                    <a:pt x="2175" y="746"/>
                  </a:lnTo>
                  <a:lnTo>
                    <a:pt x="2138" y="677"/>
                  </a:lnTo>
                  <a:lnTo>
                    <a:pt x="2101" y="614"/>
                  </a:lnTo>
                  <a:lnTo>
                    <a:pt x="2061" y="556"/>
                  </a:lnTo>
                  <a:lnTo>
                    <a:pt x="2020" y="505"/>
                  </a:lnTo>
                  <a:lnTo>
                    <a:pt x="1977" y="460"/>
                  </a:lnTo>
                  <a:lnTo>
                    <a:pt x="1933" y="421"/>
                  </a:lnTo>
                  <a:lnTo>
                    <a:pt x="1888" y="388"/>
                  </a:lnTo>
                  <a:lnTo>
                    <a:pt x="1843" y="363"/>
                  </a:lnTo>
                  <a:close/>
                  <a:moveTo>
                    <a:pt x="1544" y="362"/>
                  </a:moveTo>
                  <a:lnTo>
                    <a:pt x="1498" y="388"/>
                  </a:lnTo>
                  <a:lnTo>
                    <a:pt x="1453" y="421"/>
                  </a:lnTo>
                  <a:lnTo>
                    <a:pt x="1409" y="460"/>
                  </a:lnTo>
                  <a:lnTo>
                    <a:pt x="1366" y="505"/>
                  </a:lnTo>
                  <a:lnTo>
                    <a:pt x="1325" y="556"/>
                  </a:lnTo>
                  <a:lnTo>
                    <a:pt x="1286" y="614"/>
                  </a:lnTo>
                  <a:lnTo>
                    <a:pt x="1248" y="677"/>
                  </a:lnTo>
                  <a:lnTo>
                    <a:pt x="1213" y="746"/>
                  </a:lnTo>
                  <a:lnTo>
                    <a:pt x="1292" y="768"/>
                  </a:lnTo>
                  <a:lnTo>
                    <a:pt x="1375" y="785"/>
                  </a:lnTo>
                  <a:lnTo>
                    <a:pt x="1459" y="798"/>
                  </a:lnTo>
                  <a:lnTo>
                    <a:pt x="1544" y="808"/>
                  </a:lnTo>
                  <a:lnTo>
                    <a:pt x="1544" y="362"/>
                  </a:lnTo>
                  <a:close/>
                  <a:moveTo>
                    <a:pt x="1693" y="0"/>
                  </a:moveTo>
                  <a:lnTo>
                    <a:pt x="1693" y="0"/>
                  </a:lnTo>
                  <a:lnTo>
                    <a:pt x="1800" y="4"/>
                  </a:lnTo>
                  <a:lnTo>
                    <a:pt x="1906" y="13"/>
                  </a:lnTo>
                  <a:lnTo>
                    <a:pt x="2009" y="30"/>
                  </a:lnTo>
                  <a:lnTo>
                    <a:pt x="2110" y="52"/>
                  </a:lnTo>
                  <a:lnTo>
                    <a:pt x="2209" y="80"/>
                  </a:lnTo>
                  <a:lnTo>
                    <a:pt x="2305" y="114"/>
                  </a:lnTo>
                  <a:lnTo>
                    <a:pt x="2398" y="153"/>
                  </a:lnTo>
                  <a:lnTo>
                    <a:pt x="2489" y="198"/>
                  </a:lnTo>
                  <a:lnTo>
                    <a:pt x="2577" y="247"/>
                  </a:lnTo>
                  <a:lnTo>
                    <a:pt x="2660" y="301"/>
                  </a:lnTo>
                  <a:lnTo>
                    <a:pt x="2741" y="360"/>
                  </a:lnTo>
                  <a:lnTo>
                    <a:pt x="2818" y="424"/>
                  </a:lnTo>
                  <a:lnTo>
                    <a:pt x="2891" y="492"/>
                  </a:lnTo>
                  <a:lnTo>
                    <a:pt x="2959" y="564"/>
                  </a:lnTo>
                  <a:lnTo>
                    <a:pt x="3023" y="640"/>
                  </a:lnTo>
                  <a:lnTo>
                    <a:pt x="3083" y="720"/>
                  </a:lnTo>
                  <a:lnTo>
                    <a:pt x="3137" y="803"/>
                  </a:lnTo>
                  <a:lnTo>
                    <a:pt x="3188" y="889"/>
                  </a:lnTo>
                  <a:lnTo>
                    <a:pt x="3233" y="979"/>
                  </a:lnTo>
                  <a:lnTo>
                    <a:pt x="3273" y="1071"/>
                  </a:lnTo>
                  <a:lnTo>
                    <a:pt x="3307" y="1167"/>
                  </a:lnTo>
                  <a:lnTo>
                    <a:pt x="3335" y="1264"/>
                  </a:lnTo>
                  <a:lnTo>
                    <a:pt x="3358" y="1364"/>
                  </a:lnTo>
                  <a:lnTo>
                    <a:pt x="3373" y="1467"/>
                  </a:lnTo>
                  <a:lnTo>
                    <a:pt x="3383" y="1570"/>
                  </a:lnTo>
                  <a:lnTo>
                    <a:pt x="3386" y="1677"/>
                  </a:lnTo>
                  <a:lnTo>
                    <a:pt x="3383" y="1783"/>
                  </a:lnTo>
                  <a:lnTo>
                    <a:pt x="3373" y="1887"/>
                  </a:lnTo>
                  <a:lnTo>
                    <a:pt x="3358" y="1989"/>
                  </a:lnTo>
                  <a:lnTo>
                    <a:pt x="3335" y="2089"/>
                  </a:lnTo>
                  <a:lnTo>
                    <a:pt x="3307" y="2186"/>
                  </a:lnTo>
                  <a:lnTo>
                    <a:pt x="3273" y="2282"/>
                  </a:lnTo>
                  <a:lnTo>
                    <a:pt x="3233" y="2374"/>
                  </a:lnTo>
                  <a:lnTo>
                    <a:pt x="3188" y="2464"/>
                  </a:lnTo>
                  <a:lnTo>
                    <a:pt x="3137" y="2551"/>
                  </a:lnTo>
                  <a:lnTo>
                    <a:pt x="3083" y="2633"/>
                  </a:lnTo>
                  <a:lnTo>
                    <a:pt x="3023" y="2713"/>
                  </a:lnTo>
                  <a:lnTo>
                    <a:pt x="2959" y="2789"/>
                  </a:lnTo>
                  <a:lnTo>
                    <a:pt x="2891" y="2861"/>
                  </a:lnTo>
                  <a:lnTo>
                    <a:pt x="2818" y="2929"/>
                  </a:lnTo>
                  <a:lnTo>
                    <a:pt x="2741" y="2993"/>
                  </a:lnTo>
                  <a:lnTo>
                    <a:pt x="2660" y="3052"/>
                  </a:lnTo>
                  <a:lnTo>
                    <a:pt x="2577" y="3107"/>
                  </a:lnTo>
                  <a:lnTo>
                    <a:pt x="2489" y="3156"/>
                  </a:lnTo>
                  <a:lnTo>
                    <a:pt x="2398" y="3200"/>
                  </a:lnTo>
                  <a:lnTo>
                    <a:pt x="2305" y="3240"/>
                  </a:lnTo>
                  <a:lnTo>
                    <a:pt x="2209" y="3273"/>
                  </a:lnTo>
                  <a:lnTo>
                    <a:pt x="2110" y="3302"/>
                  </a:lnTo>
                  <a:lnTo>
                    <a:pt x="2009" y="3324"/>
                  </a:lnTo>
                  <a:lnTo>
                    <a:pt x="1906" y="3340"/>
                  </a:lnTo>
                  <a:lnTo>
                    <a:pt x="1800" y="3350"/>
                  </a:lnTo>
                  <a:lnTo>
                    <a:pt x="1693" y="3353"/>
                  </a:lnTo>
                  <a:lnTo>
                    <a:pt x="1586" y="3350"/>
                  </a:lnTo>
                  <a:lnTo>
                    <a:pt x="1482" y="3340"/>
                  </a:lnTo>
                  <a:lnTo>
                    <a:pt x="1378" y="3324"/>
                  </a:lnTo>
                  <a:lnTo>
                    <a:pt x="1277" y="3302"/>
                  </a:lnTo>
                  <a:lnTo>
                    <a:pt x="1179" y="3273"/>
                  </a:lnTo>
                  <a:lnTo>
                    <a:pt x="1082" y="3240"/>
                  </a:lnTo>
                  <a:lnTo>
                    <a:pt x="988" y="3200"/>
                  </a:lnTo>
                  <a:lnTo>
                    <a:pt x="898" y="3156"/>
                  </a:lnTo>
                  <a:lnTo>
                    <a:pt x="811" y="3107"/>
                  </a:lnTo>
                  <a:lnTo>
                    <a:pt x="727" y="3052"/>
                  </a:lnTo>
                  <a:lnTo>
                    <a:pt x="647" y="2993"/>
                  </a:lnTo>
                  <a:lnTo>
                    <a:pt x="569" y="2929"/>
                  </a:lnTo>
                  <a:lnTo>
                    <a:pt x="497" y="2861"/>
                  </a:lnTo>
                  <a:lnTo>
                    <a:pt x="427" y="2789"/>
                  </a:lnTo>
                  <a:lnTo>
                    <a:pt x="363" y="2713"/>
                  </a:lnTo>
                  <a:lnTo>
                    <a:pt x="304" y="2633"/>
                  </a:lnTo>
                  <a:lnTo>
                    <a:pt x="249" y="2551"/>
                  </a:lnTo>
                  <a:lnTo>
                    <a:pt x="198" y="2464"/>
                  </a:lnTo>
                  <a:lnTo>
                    <a:pt x="154" y="2374"/>
                  </a:lnTo>
                  <a:lnTo>
                    <a:pt x="114" y="2282"/>
                  </a:lnTo>
                  <a:lnTo>
                    <a:pt x="80" y="2186"/>
                  </a:lnTo>
                  <a:lnTo>
                    <a:pt x="52" y="2089"/>
                  </a:lnTo>
                  <a:lnTo>
                    <a:pt x="30" y="1989"/>
                  </a:lnTo>
                  <a:lnTo>
                    <a:pt x="13" y="1887"/>
                  </a:lnTo>
                  <a:lnTo>
                    <a:pt x="3" y="1783"/>
                  </a:lnTo>
                  <a:lnTo>
                    <a:pt x="0" y="1677"/>
                  </a:lnTo>
                  <a:lnTo>
                    <a:pt x="3" y="1570"/>
                  </a:lnTo>
                  <a:lnTo>
                    <a:pt x="13" y="1467"/>
                  </a:lnTo>
                  <a:lnTo>
                    <a:pt x="30" y="1364"/>
                  </a:lnTo>
                  <a:lnTo>
                    <a:pt x="52" y="1264"/>
                  </a:lnTo>
                  <a:lnTo>
                    <a:pt x="80" y="1167"/>
                  </a:lnTo>
                  <a:lnTo>
                    <a:pt x="114" y="1071"/>
                  </a:lnTo>
                  <a:lnTo>
                    <a:pt x="154" y="979"/>
                  </a:lnTo>
                  <a:lnTo>
                    <a:pt x="198" y="889"/>
                  </a:lnTo>
                  <a:lnTo>
                    <a:pt x="249" y="803"/>
                  </a:lnTo>
                  <a:lnTo>
                    <a:pt x="304" y="720"/>
                  </a:lnTo>
                  <a:lnTo>
                    <a:pt x="363" y="640"/>
                  </a:lnTo>
                  <a:lnTo>
                    <a:pt x="427" y="564"/>
                  </a:lnTo>
                  <a:lnTo>
                    <a:pt x="497" y="492"/>
                  </a:lnTo>
                  <a:lnTo>
                    <a:pt x="569" y="424"/>
                  </a:lnTo>
                  <a:lnTo>
                    <a:pt x="647" y="360"/>
                  </a:lnTo>
                  <a:lnTo>
                    <a:pt x="727" y="301"/>
                  </a:lnTo>
                  <a:lnTo>
                    <a:pt x="811" y="247"/>
                  </a:lnTo>
                  <a:lnTo>
                    <a:pt x="898" y="198"/>
                  </a:lnTo>
                  <a:lnTo>
                    <a:pt x="988" y="153"/>
                  </a:lnTo>
                  <a:lnTo>
                    <a:pt x="1082" y="114"/>
                  </a:lnTo>
                  <a:lnTo>
                    <a:pt x="1179" y="80"/>
                  </a:lnTo>
                  <a:lnTo>
                    <a:pt x="1277" y="52"/>
                  </a:lnTo>
                  <a:lnTo>
                    <a:pt x="1378" y="30"/>
                  </a:lnTo>
                  <a:lnTo>
                    <a:pt x="1482" y="13"/>
                  </a:lnTo>
                  <a:lnTo>
                    <a:pt x="1586" y="4"/>
                  </a:lnTo>
                  <a:lnTo>
                    <a:pt x="169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Rectangle 2">
            <a:extLst>
              <a:ext uri="{FF2B5EF4-FFF2-40B4-BE49-F238E27FC236}">
                <a16:creationId xmlns:a16="http://schemas.microsoft.com/office/drawing/2014/main" id="{1931B747-578E-5DAB-45CE-4753B2A46949}"/>
              </a:ext>
            </a:extLst>
          </p:cNvPr>
          <p:cNvSpPr/>
          <p:nvPr/>
        </p:nvSpPr>
        <p:spPr>
          <a:xfrm>
            <a:off x="3974719" y="3772625"/>
            <a:ext cx="490884" cy="490884"/>
          </a:xfrm>
          <a:prstGeom prst="rect">
            <a:avLst/>
          </a:prstGeom>
          <a:solidFill>
            <a:srgbClr val="16DB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Receiver with solid fill">
            <a:extLst>
              <a:ext uri="{FF2B5EF4-FFF2-40B4-BE49-F238E27FC236}">
                <a16:creationId xmlns:a16="http://schemas.microsoft.com/office/drawing/2014/main" id="{D3DA941C-62DF-CF1E-9B98-748EC14A5F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62760" y="3772625"/>
            <a:ext cx="490884" cy="490884"/>
          </a:xfrm>
          <a:prstGeom prst="rect">
            <a:avLst/>
          </a:prstGeom>
        </p:spPr>
      </p:pic>
    </p:spTree>
    <p:extLst>
      <p:ext uri="{BB962C8B-B14F-4D97-AF65-F5344CB8AC3E}">
        <p14:creationId xmlns:p14="http://schemas.microsoft.com/office/powerpoint/2010/main" val="874763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p:bldP spid="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19007</TotalTime>
  <Words>5235</Words>
  <Application>Microsoft Macintosh PowerPoint</Application>
  <PresentationFormat>Widescreen</PresentationFormat>
  <Paragraphs>731</Paragraphs>
  <Slides>60</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60</vt:i4>
      </vt:variant>
    </vt:vector>
  </HeadingPairs>
  <TitlesOfParts>
    <vt:vector size="71" baseType="lpstr">
      <vt:lpstr>Arial</vt:lpstr>
      <vt:lpstr>Bricolage Grotesque 14pt</vt:lpstr>
      <vt:lpstr>Calibri</vt:lpstr>
      <vt:lpstr>Calibri (Body)</vt:lpstr>
      <vt:lpstr>Calibri Light</vt:lpstr>
      <vt:lpstr>Open Sans</vt:lpstr>
      <vt:lpstr>Poppins SemiBold</vt:lpstr>
      <vt:lpstr>Söhne</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Kavan</dc:creator>
  <cp:lastModifiedBy>Microsoft Office User</cp:lastModifiedBy>
  <cp:revision>301</cp:revision>
  <dcterms:created xsi:type="dcterms:W3CDTF">2024-05-08T07:03:47Z</dcterms:created>
  <dcterms:modified xsi:type="dcterms:W3CDTF">2026-03-23T12:22:57Z</dcterms:modified>
</cp:coreProperties>
</file>